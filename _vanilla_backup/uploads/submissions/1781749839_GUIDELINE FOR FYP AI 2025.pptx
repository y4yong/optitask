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 id="264" r:id="rId9"/>
    <p:sldId id="265" r:id="rId10"/>
    <p:sldId id="266" r:id="rId11"/>
    <p:sldId id="267" r:id="rId12"/>
    <p:sldId id="273" r:id="rId13"/>
    <p:sldId id="268" r:id="rId14"/>
    <p:sldId id="281" r:id="rId15"/>
    <p:sldId id="285" r:id="rId16"/>
    <p:sldId id="269" r:id="rId17"/>
    <p:sldId id="270" r:id="rId18"/>
    <p:sldId id="271" r:id="rId19"/>
    <p:sldId id="277" r:id="rId20"/>
    <p:sldId id="274" r:id="rId21"/>
    <p:sldId id="276" r:id="rId22"/>
    <p:sldId id="275" r:id="rId23"/>
    <p:sldId id="280" r:id="rId24"/>
    <p:sldId id="279" r:id="rId25"/>
    <p:sldId id="278" r:id="rId26"/>
    <p:sldId id="284" r:id="rId27"/>
    <p:sldId id="282" r:id="rId28"/>
    <p:sldId id="283" r:id="rId29"/>
  </p:sldIdLst>
  <p:sldSz cx="12192000" cy="6858000"/>
  <p:notesSz cx="6858000" cy="9144000"/>
  <p:defaultTextStyle>
    <a:defPPr>
      <a:defRPr lang="ms-M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23" d="100"/>
          <a:sy n="123" d="100"/>
        </p:scale>
        <p:origin x="11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249291-A0B5-4105-83DE-6CEEF167B649}" type="doc">
      <dgm:prSet loTypeId="urn:microsoft.com/office/officeart/2009/3/layout/IncreasingArrowsProcess" loCatId="process" qsTypeId="urn:microsoft.com/office/officeart/2005/8/quickstyle/simple1" qsCatId="simple" csTypeId="urn:microsoft.com/office/officeart/2005/8/colors/colorful1" csCatId="colorful" phldr="1"/>
      <dgm:spPr/>
      <dgm:t>
        <a:bodyPr/>
        <a:lstStyle/>
        <a:p>
          <a:endParaRPr lang="en-US"/>
        </a:p>
      </dgm:t>
    </dgm:pt>
    <dgm:pt modelId="{817ADCAB-ECBA-443D-AA5B-83239F54F587}">
      <dgm:prSet phldrT="[Text]"/>
      <dgm:spPr/>
      <dgm:t>
        <a:bodyPr/>
        <a:lstStyle/>
        <a:p>
          <a:r>
            <a:rPr lang="en-US" dirty="0"/>
            <a:t>STAGE I</a:t>
          </a:r>
        </a:p>
      </dgm:t>
    </dgm:pt>
    <dgm:pt modelId="{8B3ED7C2-54A5-4F72-BBEE-2FC50B3D0928}" type="parTrans" cxnId="{1AAC185C-9708-4A19-AA2C-C194B0FCC841}">
      <dgm:prSet/>
      <dgm:spPr/>
      <dgm:t>
        <a:bodyPr/>
        <a:lstStyle/>
        <a:p>
          <a:endParaRPr lang="en-US"/>
        </a:p>
      </dgm:t>
    </dgm:pt>
    <dgm:pt modelId="{CE4A5342-41E2-42CC-B43B-C15DBE003998}" type="sibTrans" cxnId="{1AAC185C-9708-4A19-AA2C-C194B0FCC841}">
      <dgm:prSet/>
      <dgm:spPr/>
      <dgm:t>
        <a:bodyPr/>
        <a:lstStyle/>
        <a:p>
          <a:endParaRPr lang="en-US"/>
        </a:p>
      </dgm:t>
    </dgm:pt>
    <dgm:pt modelId="{B78C383C-E723-4810-A2CC-46BFEF2C942E}">
      <dgm:prSet phldrT="[Text]"/>
      <dgm:spPr/>
      <dgm:t>
        <a:bodyPr/>
        <a:lstStyle/>
        <a:p>
          <a:r>
            <a:rPr lang="en-US" dirty="0"/>
            <a:t>Planning &amp; collecting data</a:t>
          </a:r>
        </a:p>
      </dgm:t>
    </dgm:pt>
    <dgm:pt modelId="{C8458D1E-5B36-4837-9275-2D76566815BC}" type="parTrans" cxnId="{A9ADBD55-16ED-4684-A0DA-2F794277268F}">
      <dgm:prSet/>
      <dgm:spPr/>
      <dgm:t>
        <a:bodyPr/>
        <a:lstStyle/>
        <a:p>
          <a:endParaRPr lang="en-US"/>
        </a:p>
      </dgm:t>
    </dgm:pt>
    <dgm:pt modelId="{160FE5CA-820C-49EF-ADE1-25A56F81CCF0}" type="sibTrans" cxnId="{A9ADBD55-16ED-4684-A0DA-2F794277268F}">
      <dgm:prSet/>
      <dgm:spPr/>
      <dgm:t>
        <a:bodyPr/>
        <a:lstStyle/>
        <a:p>
          <a:endParaRPr lang="en-US"/>
        </a:p>
      </dgm:t>
    </dgm:pt>
    <dgm:pt modelId="{09D48EEE-750B-4274-8956-2FEB1E2A51DE}">
      <dgm:prSet phldrT="[Text]"/>
      <dgm:spPr/>
      <dgm:t>
        <a:bodyPr/>
        <a:lstStyle/>
        <a:p>
          <a:r>
            <a:rPr lang="en-US" dirty="0"/>
            <a:t>STAGE II</a:t>
          </a:r>
        </a:p>
      </dgm:t>
    </dgm:pt>
    <dgm:pt modelId="{3B1D7E03-AA15-4CDA-B655-21182EB7F651}" type="parTrans" cxnId="{19EB946B-4888-4252-BD8D-DD1B9F628195}">
      <dgm:prSet/>
      <dgm:spPr/>
      <dgm:t>
        <a:bodyPr/>
        <a:lstStyle/>
        <a:p>
          <a:endParaRPr lang="en-US"/>
        </a:p>
      </dgm:t>
    </dgm:pt>
    <dgm:pt modelId="{949D1A20-1A25-4EB6-9622-437A0A266381}" type="sibTrans" cxnId="{19EB946B-4888-4252-BD8D-DD1B9F628195}">
      <dgm:prSet/>
      <dgm:spPr/>
      <dgm:t>
        <a:bodyPr/>
        <a:lstStyle/>
        <a:p>
          <a:endParaRPr lang="en-US"/>
        </a:p>
      </dgm:t>
    </dgm:pt>
    <dgm:pt modelId="{4EDBD0F0-661E-4019-8FDE-1616C7489AE9}">
      <dgm:prSet phldrT="[Text]"/>
      <dgm:spPr/>
      <dgm:t>
        <a:bodyPr/>
        <a:lstStyle/>
        <a:p>
          <a:r>
            <a:rPr lang="en-US" dirty="0"/>
            <a:t>Training your machine learning (ML) model</a:t>
          </a:r>
        </a:p>
      </dgm:t>
    </dgm:pt>
    <dgm:pt modelId="{4964BF0B-AF90-4C36-8239-F0B1CA505EA5}" type="parTrans" cxnId="{D02E13F0-213D-470B-A965-580DD551E5B7}">
      <dgm:prSet/>
      <dgm:spPr/>
      <dgm:t>
        <a:bodyPr/>
        <a:lstStyle/>
        <a:p>
          <a:endParaRPr lang="en-US"/>
        </a:p>
      </dgm:t>
    </dgm:pt>
    <dgm:pt modelId="{58899051-650C-4A78-8613-E1AFC09DFF3F}" type="sibTrans" cxnId="{D02E13F0-213D-470B-A965-580DD551E5B7}">
      <dgm:prSet/>
      <dgm:spPr/>
      <dgm:t>
        <a:bodyPr/>
        <a:lstStyle/>
        <a:p>
          <a:endParaRPr lang="en-US"/>
        </a:p>
      </dgm:t>
    </dgm:pt>
    <dgm:pt modelId="{FDC458AC-DE9F-45B7-8190-49194F8339C7}">
      <dgm:prSet phldrT="[Text]"/>
      <dgm:spPr/>
      <dgm:t>
        <a:bodyPr/>
        <a:lstStyle/>
        <a:p>
          <a:r>
            <a:rPr lang="en-US" dirty="0"/>
            <a:t>STAGE III</a:t>
          </a:r>
        </a:p>
      </dgm:t>
    </dgm:pt>
    <dgm:pt modelId="{2B30F755-5246-4E0C-BF82-06BD4CD57B48}" type="parTrans" cxnId="{C5FB1698-2462-45E5-9516-67F75487090F}">
      <dgm:prSet/>
      <dgm:spPr/>
      <dgm:t>
        <a:bodyPr/>
        <a:lstStyle/>
        <a:p>
          <a:endParaRPr lang="en-US"/>
        </a:p>
      </dgm:t>
    </dgm:pt>
    <dgm:pt modelId="{35CA5B99-DE6F-48EA-B4A0-133D4F9E0BBA}" type="sibTrans" cxnId="{C5FB1698-2462-45E5-9516-67F75487090F}">
      <dgm:prSet/>
      <dgm:spPr/>
      <dgm:t>
        <a:bodyPr/>
        <a:lstStyle/>
        <a:p>
          <a:endParaRPr lang="en-US"/>
        </a:p>
      </dgm:t>
    </dgm:pt>
    <dgm:pt modelId="{BB885072-0CAB-41F7-89B7-1F83489D1C33}">
      <dgm:prSet phldrT="[Text]"/>
      <dgm:spPr/>
      <dgm:t>
        <a:bodyPr/>
        <a:lstStyle/>
        <a:p>
          <a:r>
            <a:rPr lang="en-US" dirty="0"/>
            <a:t>The deployment of the model</a:t>
          </a:r>
        </a:p>
      </dgm:t>
    </dgm:pt>
    <dgm:pt modelId="{82D17AAE-6F10-4402-9FF1-FF1AE69664D3}" type="parTrans" cxnId="{1E3BAEF0-AE89-4F41-8CF4-869A7729C1A0}">
      <dgm:prSet/>
      <dgm:spPr/>
      <dgm:t>
        <a:bodyPr/>
        <a:lstStyle/>
        <a:p>
          <a:endParaRPr lang="en-US"/>
        </a:p>
      </dgm:t>
    </dgm:pt>
    <dgm:pt modelId="{C498B059-EF06-4AA3-B667-443062CE43AD}" type="sibTrans" cxnId="{1E3BAEF0-AE89-4F41-8CF4-869A7729C1A0}">
      <dgm:prSet/>
      <dgm:spPr/>
      <dgm:t>
        <a:bodyPr/>
        <a:lstStyle/>
        <a:p>
          <a:endParaRPr lang="en-US"/>
        </a:p>
      </dgm:t>
    </dgm:pt>
    <dgm:pt modelId="{553ADF0C-E9B1-459F-BE8D-083DC68C90E2}" type="pres">
      <dgm:prSet presAssocID="{18249291-A0B5-4105-83DE-6CEEF167B649}" presName="Name0" presStyleCnt="0">
        <dgm:presLayoutVars>
          <dgm:chMax val="5"/>
          <dgm:chPref val="5"/>
          <dgm:dir/>
          <dgm:animLvl val="lvl"/>
        </dgm:presLayoutVars>
      </dgm:prSet>
      <dgm:spPr/>
    </dgm:pt>
    <dgm:pt modelId="{AA7BC633-1BCE-4D87-A0EA-C7CCA2F55826}" type="pres">
      <dgm:prSet presAssocID="{817ADCAB-ECBA-443D-AA5B-83239F54F587}" presName="parentText1" presStyleLbl="node1" presStyleIdx="0" presStyleCnt="3">
        <dgm:presLayoutVars>
          <dgm:chMax/>
          <dgm:chPref val="3"/>
          <dgm:bulletEnabled val="1"/>
        </dgm:presLayoutVars>
      </dgm:prSet>
      <dgm:spPr/>
    </dgm:pt>
    <dgm:pt modelId="{1ADD616F-5AB1-441C-91AB-C760ADE97808}" type="pres">
      <dgm:prSet presAssocID="{817ADCAB-ECBA-443D-AA5B-83239F54F587}" presName="childText1" presStyleLbl="solidAlignAcc1" presStyleIdx="0" presStyleCnt="3">
        <dgm:presLayoutVars>
          <dgm:chMax val="0"/>
          <dgm:chPref val="0"/>
          <dgm:bulletEnabled val="1"/>
        </dgm:presLayoutVars>
      </dgm:prSet>
      <dgm:spPr/>
    </dgm:pt>
    <dgm:pt modelId="{F058CE8C-AFF8-4A08-9431-A66AF8926B73}" type="pres">
      <dgm:prSet presAssocID="{09D48EEE-750B-4274-8956-2FEB1E2A51DE}" presName="parentText2" presStyleLbl="node1" presStyleIdx="1" presStyleCnt="3">
        <dgm:presLayoutVars>
          <dgm:chMax/>
          <dgm:chPref val="3"/>
          <dgm:bulletEnabled val="1"/>
        </dgm:presLayoutVars>
      </dgm:prSet>
      <dgm:spPr/>
    </dgm:pt>
    <dgm:pt modelId="{59724698-59F2-46AE-9447-1CCC12A1841D}" type="pres">
      <dgm:prSet presAssocID="{09D48EEE-750B-4274-8956-2FEB1E2A51DE}" presName="childText2" presStyleLbl="solidAlignAcc1" presStyleIdx="1" presStyleCnt="3">
        <dgm:presLayoutVars>
          <dgm:chMax val="0"/>
          <dgm:chPref val="0"/>
          <dgm:bulletEnabled val="1"/>
        </dgm:presLayoutVars>
      </dgm:prSet>
      <dgm:spPr/>
    </dgm:pt>
    <dgm:pt modelId="{5EC0AF74-AE52-4606-9C97-012C89F47DC9}" type="pres">
      <dgm:prSet presAssocID="{FDC458AC-DE9F-45B7-8190-49194F8339C7}" presName="parentText3" presStyleLbl="node1" presStyleIdx="2" presStyleCnt="3">
        <dgm:presLayoutVars>
          <dgm:chMax/>
          <dgm:chPref val="3"/>
          <dgm:bulletEnabled val="1"/>
        </dgm:presLayoutVars>
      </dgm:prSet>
      <dgm:spPr/>
    </dgm:pt>
    <dgm:pt modelId="{3A0A20D0-7032-4567-844E-64705DDF9072}" type="pres">
      <dgm:prSet presAssocID="{FDC458AC-DE9F-45B7-8190-49194F8339C7}" presName="childText3" presStyleLbl="solidAlignAcc1" presStyleIdx="2" presStyleCnt="3">
        <dgm:presLayoutVars>
          <dgm:chMax val="0"/>
          <dgm:chPref val="0"/>
          <dgm:bulletEnabled val="1"/>
        </dgm:presLayoutVars>
      </dgm:prSet>
      <dgm:spPr/>
    </dgm:pt>
  </dgm:ptLst>
  <dgm:cxnLst>
    <dgm:cxn modelId="{7456623A-91F3-467D-BF36-0795324ADA37}" type="presOf" srcId="{18249291-A0B5-4105-83DE-6CEEF167B649}" destId="{553ADF0C-E9B1-459F-BE8D-083DC68C90E2}" srcOrd="0" destOrd="0" presId="urn:microsoft.com/office/officeart/2009/3/layout/IncreasingArrowsProcess"/>
    <dgm:cxn modelId="{1AAC185C-9708-4A19-AA2C-C194B0FCC841}" srcId="{18249291-A0B5-4105-83DE-6CEEF167B649}" destId="{817ADCAB-ECBA-443D-AA5B-83239F54F587}" srcOrd="0" destOrd="0" parTransId="{8B3ED7C2-54A5-4F72-BBEE-2FC50B3D0928}" sibTransId="{CE4A5342-41E2-42CC-B43B-C15DBE003998}"/>
    <dgm:cxn modelId="{19EB946B-4888-4252-BD8D-DD1B9F628195}" srcId="{18249291-A0B5-4105-83DE-6CEEF167B649}" destId="{09D48EEE-750B-4274-8956-2FEB1E2A51DE}" srcOrd="1" destOrd="0" parTransId="{3B1D7E03-AA15-4CDA-B655-21182EB7F651}" sibTransId="{949D1A20-1A25-4EB6-9622-437A0A266381}"/>
    <dgm:cxn modelId="{98E95B51-C3B9-4C46-8C50-9F3A0ADC160F}" type="presOf" srcId="{4EDBD0F0-661E-4019-8FDE-1616C7489AE9}" destId="{59724698-59F2-46AE-9447-1CCC12A1841D}" srcOrd="0" destOrd="0" presId="urn:microsoft.com/office/officeart/2009/3/layout/IncreasingArrowsProcess"/>
    <dgm:cxn modelId="{A9ADBD55-16ED-4684-A0DA-2F794277268F}" srcId="{817ADCAB-ECBA-443D-AA5B-83239F54F587}" destId="{B78C383C-E723-4810-A2CC-46BFEF2C942E}" srcOrd="0" destOrd="0" parTransId="{C8458D1E-5B36-4837-9275-2D76566815BC}" sibTransId="{160FE5CA-820C-49EF-ADE1-25A56F81CCF0}"/>
    <dgm:cxn modelId="{8FB76776-767D-434F-9951-8D044CB538E4}" type="presOf" srcId="{B78C383C-E723-4810-A2CC-46BFEF2C942E}" destId="{1ADD616F-5AB1-441C-91AB-C760ADE97808}" srcOrd="0" destOrd="0" presId="urn:microsoft.com/office/officeart/2009/3/layout/IncreasingArrowsProcess"/>
    <dgm:cxn modelId="{84A3A55A-49D9-4431-87A3-C875E91CD7FB}" type="presOf" srcId="{09D48EEE-750B-4274-8956-2FEB1E2A51DE}" destId="{F058CE8C-AFF8-4A08-9431-A66AF8926B73}" srcOrd="0" destOrd="0" presId="urn:microsoft.com/office/officeart/2009/3/layout/IncreasingArrowsProcess"/>
    <dgm:cxn modelId="{57373888-F677-465E-A950-D75274CFD269}" type="presOf" srcId="{BB885072-0CAB-41F7-89B7-1F83489D1C33}" destId="{3A0A20D0-7032-4567-844E-64705DDF9072}" srcOrd="0" destOrd="0" presId="urn:microsoft.com/office/officeart/2009/3/layout/IncreasingArrowsProcess"/>
    <dgm:cxn modelId="{A5462989-FFA6-4C10-A01F-9C3C55084CA9}" type="presOf" srcId="{FDC458AC-DE9F-45B7-8190-49194F8339C7}" destId="{5EC0AF74-AE52-4606-9C97-012C89F47DC9}" srcOrd="0" destOrd="0" presId="urn:microsoft.com/office/officeart/2009/3/layout/IncreasingArrowsProcess"/>
    <dgm:cxn modelId="{F6DEF78A-544B-47D5-B7F5-577E67E5A2ED}" type="presOf" srcId="{817ADCAB-ECBA-443D-AA5B-83239F54F587}" destId="{AA7BC633-1BCE-4D87-A0EA-C7CCA2F55826}" srcOrd="0" destOrd="0" presId="urn:microsoft.com/office/officeart/2009/3/layout/IncreasingArrowsProcess"/>
    <dgm:cxn modelId="{C5FB1698-2462-45E5-9516-67F75487090F}" srcId="{18249291-A0B5-4105-83DE-6CEEF167B649}" destId="{FDC458AC-DE9F-45B7-8190-49194F8339C7}" srcOrd="2" destOrd="0" parTransId="{2B30F755-5246-4E0C-BF82-06BD4CD57B48}" sibTransId="{35CA5B99-DE6F-48EA-B4A0-133D4F9E0BBA}"/>
    <dgm:cxn modelId="{D02E13F0-213D-470B-A965-580DD551E5B7}" srcId="{09D48EEE-750B-4274-8956-2FEB1E2A51DE}" destId="{4EDBD0F0-661E-4019-8FDE-1616C7489AE9}" srcOrd="0" destOrd="0" parTransId="{4964BF0B-AF90-4C36-8239-F0B1CA505EA5}" sibTransId="{58899051-650C-4A78-8613-E1AFC09DFF3F}"/>
    <dgm:cxn modelId="{1E3BAEF0-AE89-4F41-8CF4-869A7729C1A0}" srcId="{FDC458AC-DE9F-45B7-8190-49194F8339C7}" destId="{BB885072-0CAB-41F7-89B7-1F83489D1C33}" srcOrd="0" destOrd="0" parTransId="{82D17AAE-6F10-4402-9FF1-FF1AE69664D3}" sibTransId="{C498B059-EF06-4AA3-B667-443062CE43AD}"/>
    <dgm:cxn modelId="{FF39F28F-7DC0-4EFB-9519-8104ACFA2BF0}" type="presParOf" srcId="{553ADF0C-E9B1-459F-BE8D-083DC68C90E2}" destId="{AA7BC633-1BCE-4D87-A0EA-C7CCA2F55826}" srcOrd="0" destOrd="0" presId="urn:microsoft.com/office/officeart/2009/3/layout/IncreasingArrowsProcess"/>
    <dgm:cxn modelId="{3F1E4F2E-879B-402E-814D-53D2563F934D}" type="presParOf" srcId="{553ADF0C-E9B1-459F-BE8D-083DC68C90E2}" destId="{1ADD616F-5AB1-441C-91AB-C760ADE97808}" srcOrd="1" destOrd="0" presId="urn:microsoft.com/office/officeart/2009/3/layout/IncreasingArrowsProcess"/>
    <dgm:cxn modelId="{D8AB0320-735C-4032-B3E6-52A2983451B1}" type="presParOf" srcId="{553ADF0C-E9B1-459F-BE8D-083DC68C90E2}" destId="{F058CE8C-AFF8-4A08-9431-A66AF8926B73}" srcOrd="2" destOrd="0" presId="urn:microsoft.com/office/officeart/2009/3/layout/IncreasingArrowsProcess"/>
    <dgm:cxn modelId="{8B060966-911F-4279-BB1E-B5B5E7566A1F}" type="presParOf" srcId="{553ADF0C-E9B1-459F-BE8D-083DC68C90E2}" destId="{59724698-59F2-46AE-9447-1CCC12A1841D}" srcOrd="3" destOrd="0" presId="urn:microsoft.com/office/officeart/2009/3/layout/IncreasingArrowsProcess"/>
    <dgm:cxn modelId="{EAD83E76-F1CC-40F5-8EF8-6B1A235BA225}" type="presParOf" srcId="{553ADF0C-E9B1-459F-BE8D-083DC68C90E2}" destId="{5EC0AF74-AE52-4606-9C97-012C89F47DC9}" srcOrd="4" destOrd="0" presId="urn:microsoft.com/office/officeart/2009/3/layout/IncreasingArrowsProcess"/>
    <dgm:cxn modelId="{E9A25E7E-0DEA-4A32-B855-C147F634235B}" type="presParOf" srcId="{553ADF0C-E9B1-459F-BE8D-083DC68C90E2}" destId="{3A0A20D0-7032-4567-844E-64705DDF9072}" srcOrd="5" destOrd="0" presId="urn:microsoft.com/office/officeart/2009/3/layout/IncreasingArrows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E78B174-225A-4A35-B297-C940260854F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2F914F9C-7B4D-4EA2-A353-F89D01DAD05B}">
      <dgm:prSet phldrT="[Text]" custT="1"/>
      <dgm:spPr>
        <a:solidFill>
          <a:schemeClr val="accent4">
            <a:lumMod val="50000"/>
          </a:schemeClr>
        </a:solidFill>
      </dgm:spPr>
      <dgm:t>
        <a:bodyPr/>
        <a:lstStyle/>
        <a:p>
          <a:r>
            <a:rPr lang="en-US" sz="2400" dirty="0"/>
            <a:t>1. This stage involves the planning and motivational aspects of your project. Meaning that you will need to calculate the potential profitability of the future ML model and work out the process of its adoption.</a:t>
          </a:r>
        </a:p>
      </dgm:t>
    </dgm:pt>
    <dgm:pt modelId="{6EFA1BD9-40F6-4B43-B69C-FC2DD2855AD8}" type="parTrans" cxnId="{3B9BF986-5CF6-46CF-92DE-0711120CA7CC}">
      <dgm:prSet/>
      <dgm:spPr/>
      <dgm:t>
        <a:bodyPr/>
        <a:lstStyle/>
        <a:p>
          <a:endParaRPr lang="en-US"/>
        </a:p>
      </dgm:t>
    </dgm:pt>
    <dgm:pt modelId="{699C7AB1-2AA4-4A59-876B-1A30A25D3AD4}" type="sibTrans" cxnId="{3B9BF986-5CF6-46CF-92DE-0711120CA7CC}">
      <dgm:prSet/>
      <dgm:spPr/>
      <dgm:t>
        <a:bodyPr/>
        <a:lstStyle/>
        <a:p>
          <a:endParaRPr lang="en-US"/>
        </a:p>
      </dgm:t>
    </dgm:pt>
    <dgm:pt modelId="{9FD5F365-EF9C-4910-80A7-3BEBDCA342CD}">
      <dgm:prSet phldrT="[Text]" custT="1"/>
      <dgm:spPr>
        <a:solidFill>
          <a:schemeClr val="accent2">
            <a:lumMod val="75000"/>
          </a:schemeClr>
        </a:solidFill>
      </dgm:spPr>
      <dgm:t>
        <a:bodyPr/>
        <a:lstStyle/>
        <a:p>
          <a:r>
            <a:rPr lang="en-US" sz="2400" dirty="0"/>
            <a:t>2.It’s important to start strong if you want your AI project to be successful. “Garbage in, garbage out”. This means if the collected data is not good, you won’t be able to build an effective AI algorithm.</a:t>
          </a:r>
        </a:p>
      </dgm:t>
    </dgm:pt>
    <dgm:pt modelId="{BA69837A-2891-437E-BBE4-BD3955DFCCFB}" type="parTrans" cxnId="{D1472910-019A-490B-85CA-1EF559F561BD}">
      <dgm:prSet/>
      <dgm:spPr/>
      <dgm:t>
        <a:bodyPr/>
        <a:lstStyle/>
        <a:p>
          <a:endParaRPr lang="en-US"/>
        </a:p>
      </dgm:t>
    </dgm:pt>
    <dgm:pt modelId="{EE97F244-39CF-4150-8C80-E459813FF431}" type="sibTrans" cxnId="{D1472910-019A-490B-85CA-1EF559F561BD}">
      <dgm:prSet/>
      <dgm:spPr/>
      <dgm:t>
        <a:bodyPr/>
        <a:lstStyle/>
        <a:p>
          <a:endParaRPr lang="en-US"/>
        </a:p>
      </dgm:t>
    </dgm:pt>
    <dgm:pt modelId="{34C03148-EF99-43DC-8E0E-35B2B37A05D1}" type="pres">
      <dgm:prSet presAssocID="{0E78B174-225A-4A35-B297-C940260854FE}" presName="linear" presStyleCnt="0">
        <dgm:presLayoutVars>
          <dgm:dir/>
          <dgm:animLvl val="lvl"/>
          <dgm:resizeHandles val="exact"/>
        </dgm:presLayoutVars>
      </dgm:prSet>
      <dgm:spPr/>
    </dgm:pt>
    <dgm:pt modelId="{0C5669D3-1EA7-4C0F-97B1-E4B3B5C1B122}" type="pres">
      <dgm:prSet presAssocID="{2F914F9C-7B4D-4EA2-A353-F89D01DAD05B}" presName="parentLin" presStyleCnt="0"/>
      <dgm:spPr/>
    </dgm:pt>
    <dgm:pt modelId="{2A86E718-D58C-4BBD-B144-988378E0BB8F}" type="pres">
      <dgm:prSet presAssocID="{2F914F9C-7B4D-4EA2-A353-F89D01DAD05B}" presName="parentLeftMargin" presStyleLbl="node1" presStyleIdx="0" presStyleCnt="2"/>
      <dgm:spPr/>
    </dgm:pt>
    <dgm:pt modelId="{C56AFBC3-C9C9-4767-BF91-565CAB87A72F}" type="pres">
      <dgm:prSet presAssocID="{2F914F9C-7B4D-4EA2-A353-F89D01DAD05B}" presName="parentText" presStyleLbl="node1" presStyleIdx="0" presStyleCnt="2" custScaleX="124176" custLinFactNeighborX="-11538" custLinFactNeighborY="630">
        <dgm:presLayoutVars>
          <dgm:chMax val="0"/>
          <dgm:bulletEnabled val="1"/>
        </dgm:presLayoutVars>
      </dgm:prSet>
      <dgm:spPr/>
    </dgm:pt>
    <dgm:pt modelId="{AC1B0DAA-0972-4B37-8554-AE78EA3B2817}" type="pres">
      <dgm:prSet presAssocID="{2F914F9C-7B4D-4EA2-A353-F89D01DAD05B}" presName="negativeSpace" presStyleCnt="0"/>
      <dgm:spPr/>
    </dgm:pt>
    <dgm:pt modelId="{7281AFDF-E092-45CD-B4B0-34E1456A25D2}" type="pres">
      <dgm:prSet presAssocID="{2F914F9C-7B4D-4EA2-A353-F89D01DAD05B}" presName="childText" presStyleLbl="conFgAcc1" presStyleIdx="0" presStyleCnt="2">
        <dgm:presLayoutVars>
          <dgm:bulletEnabled val="1"/>
        </dgm:presLayoutVars>
      </dgm:prSet>
      <dgm:spPr/>
    </dgm:pt>
    <dgm:pt modelId="{326F9F32-FD43-4A21-876E-816273DC979D}" type="pres">
      <dgm:prSet presAssocID="{699C7AB1-2AA4-4A59-876B-1A30A25D3AD4}" presName="spaceBetweenRectangles" presStyleCnt="0"/>
      <dgm:spPr/>
    </dgm:pt>
    <dgm:pt modelId="{704ECD64-CD8F-4192-B5C6-2A99BCA5CCED}" type="pres">
      <dgm:prSet presAssocID="{9FD5F365-EF9C-4910-80A7-3BEBDCA342CD}" presName="parentLin" presStyleCnt="0"/>
      <dgm:spPr/>
    </dgm:pt>
    <dgm:pt modelId="{7CE34307-DCDB-49B2-AE80-4D75ADFBF15C}" type="pres">
      <dgm:prSet presAssocID="{9FD5F365-EF9C-4910-80A7-3BEBDCA342CD}" presName="parentLeftMargin" presStyleLbl="node1" presStyleIdx="0" presStyleCnt="2"/>
      <dgm:spPr/>
    </dgm:pt>
    <dgm:pt modelId="{435D0B0C-D154-47EC-BC2D-4C5CD515FD12}" type="pres">
      <dgm:prSet presAssocID="{9FD5F365-EF9C-4910-80A7-3BEBDCA342CD}" presName="parentText" presStyleLbl="node1" presStyleIdx="1" presStyleCnt="2" custScaleX="157296">
        <dgm:presLayoutVars>
          <dgm:chMax val="0"/>
          <dgm:bulletEnabled val="1"/>
        </dgm:presLayoutVars>
      </dgm:prSet>
      <dgm:spPr/>
    </dgm:pt>
    <dgm:pt modelId="{6013EA12-8D06-4288-A0B7-1C2256009F2E}" type="pres">
      <dgm:prSet presAssocID="{9FD5F365-EF9C-4910-80A7-3BEBDCA342CD}" presName="negativeSpace" presStyleCnt="0"/>
      <dgm:spPr/>
    </dgm:pt>
    <dgm:pt modelId="{879E4EB1-8F72-4DF7-A3B2-FC4540D9E3F4}" type="pres">
      <dgm:prSet presAssocID="{9FD5F365-EF9C-4910-80A7-3BEBDCA342CD}" presName="childText" presStyleLbl="conFgAcc1" presStyleIdx="1" presStyleCnt="2">
        <dgm:presLayoutVars>
          <dgm:bulletEnabled val="1"/>
        </dgm:presLayoutVars>
      </dgm:prSet>
      <dgm:spPr/>
    </dgm:pt>
  </dgm:ptLst>
  <dgm:cxnLst>
    <dgm:cxn modelId="{15871C08-6B7C-44CD-8EFE-A58FE79E5202}" type="presOf" srcId="{9FD5F365-EF9C-4910-80A7-3BEBDCA342CD}" destId="{7CE34307-DCDB-49B2-AE80-4D75ADFBF15C}" srcOrd="0" destOrd="0" presId="urn:microsoft.com/office/officeart/2005/8/layout/list1"/>
    <dgm:cxn modelId="{D1472910-019A-490B-85CA-1EF559F561BD}" srcId="{0E78B174-225A-4A35-B297-C940260854FE}" destId="{9FD5F365-EF9C-4910-80A7-3BEBDCA342CD}" srcOrd="1" destOrd="0" parTransId="{BA69837A-2891-437E-BBE4-BD3955DFCCFB}" sibTransId="{EE97F244-39CF-4150-8C80-E459813FF431}"/>
    <dgm:cxn modelId="{9527205F-2578-460E-9408-E3AE77D1FCC6}" type="presOf" srcId="{0E78B174-225A-4A35-B297-C940260854FE}" destId="{34C03148-EF99-43DC-8E0E-35B2B37A05D1}" srcOrd="0" destOrd="0" presId="urn:microsoft.com/office/officeart/2005/8/layout/list1"/>
    <dgm:cxn modelId="{40169641-463F-4C42-A1C1-A955E34E7847}" type="presOf" srcId="{2F914F9C-7B4D-4EA2-A353-F89D01DAD05B}" destId="{2A86E718-D58C-4BBD-B144-988378E0BB8F}" srcOrd="0" destOrd="0" presId="urn:microsoft.com/office/officeart/2005/8/layout/list1"/>
    <dgm:cxn modelId="{88BC666F-846D-45FB-9786-6E4F5C781DDC}" type="presOf" srcId="{9FD5F365-EF9C-4910-80A7-3BEBDCA342CD}" destId="{435D0B0C-D154-47EC-BC2D-4C5CD515FD12}" srcOrd="1" destOrd="0" presId="urn:microsoft.com/office/officeart/2005/8/layout/list1"/>
    <dgm:cxn modelId="{3B9BF986-5CF6-46CF-92DE-0711120CA7CC}" srcId="{0E78B174-225A-4A35-B297-C940260854FE}" destId="{2F914F9C-7B4D-4EA2-A353-F89D01DAD05B}" srcOrd="0" destOrd="0" parTransId="{6EFA1BD9-40F6-4B43-B69C-FC2DD2855AD8}" sibTransId="{699C7AB1-2AA4-4A59-876B-1A30A25D3AD4}"/>
    <dgm:cxn modelId="{4EC86AB0-1742-476B-9098-5D23056AD031}" type="presOf" srcId="{2F914F9C-7B4D-4EA2-A353-F89D01DAD05B}" destId="{C56AFBC3-C9C9-4767-BF91-565CAB87A72F}" srcOrd="1" destOrd="0" presId="urn:microsoft.com/office/officeart/2005/8/layout/list1"/>
    <dgm:cxn modelId="{E7594161-CC4C-477E-9904-44D4E0F4D5B2}" type="presParOf" srcId="{34C03148-EF99-43DC-8E0E-35B2B37A05D1}" destId="{0C5669D3-1EA7-4C0F-97B1-E4B3B5C1B122}" srcOrd="0" destOrd="0" presId="urn:microsoft.com/office/officeart/2005/8/layout/list1"/>
    <dgm:cxn modelId="{BCE605E1-4EB3-457E-BA2B-08B8CE310487}" type="presParOf" srcId="{0C5669D3-1EA7-4C0F-97B1-E4B3B5C1B122}" destId="{2A86E718-D58C-4BBD-B144-988378E0BB8F}" srcOrd="0" destOrd="0" presId="urn:microsoft.com/office/officeart/2005/8/layout/list1"/>
    <dgm:cxn modelId="{5020E429-F182-41EB-B38F-99313FEDA03C}" type="presParOf" srcId="{0C5669D3-1EA7-4C0F-97B1-E4B3B5C1B122}" destId="{C56AFBC3-C9C9-4767-BF91-565CAB87A72F}" srcOrd="1" destOrd="0" presId="urn:microsoft.com/office/officeart/2005/8/layout/list1"/>
    <dgm:cxn modelId="{773B69AE-90B7-4D5F-80F3-12753E70256B}" type="presParOf" srcId="{34C03148-EF99-43DC-8E0E-35B2B37A05D1}" destId="{AC1B0DAA-0972-4B37-8554-AE78EA3B2817}" srcOrd="1" destOrd="0" presId="urn:microsoft.com/office/officeart/2005/8/layout/list1"/>
    <dgm:cxn modelId="{CBADD30B-2562-456D-8756-3FA913A7E341}" type="presParOf" srcId="{34C03148-EF99-43DC-8E0E-35B2B37A05D1}" destId="{7281AFDF-E092-45CD-B4B0-34E1456A25D2}" srcOrd="2" destOrd="0" presId="urn:microsoft.com/office/officeart/2005/8/layout/list1"/>
    <dgm:cxn modelId="{73C42CF6-BC8C-4D63-B498-0828746499C4}" type="presParOf" srcId="{34C03148-EF99-43DC-8E0E-35B2B37A05D1}" destId="{326F9F32-FD43-4A21-876E-816273DC979D}" srcOrd="3" destOrd="0" presId="urn:microsoft.com/office/officeart/2005/8/layout/list1"/>
    <dgm:cxn modelId="{E861EBC9-13E0-49B4-BB82-8D3D1B1288DF}" type="presParOf" srcId="{34C03148-EF99-43DC-8E0E-35B2B37A05D1}" destId="{704ECD64-CD8F-4192-B5C6-2A99BCA5CCED}" srcOrd="4" destOrd="0" presId="urn:microsoft.com/office/officeart/2005/8/layout/list1"/>
    <dgm:cxn modelId="{5E540E9B-412C-42CC-BF23-3100D6FA532D}" type="presParOf" srcId="{704ECD64-CD8F-4192-B5C6-2A99BCA5CCED}" destId="{7CE34307-DCDB-49B2-AE80-4D75ADFBF15C}" srcOrd="0" destOrd="0" presId="urn:microsoft.com/office/officeart/2005/8/layout/list1"/>
    <dgm:cxn modelId="{98F72771-08B4-4C1C-A6B6-C28E16309C86}" type="presParOf" srcId="{704ECD64-CD8F-4192-B5C6-2A99BCA5CCED}" destId="{435D0B0C-D154-47EC-BC2D-4C5CD515FD12}" srcOrd="1" destOrd="0" presId="urn:microsoft.com/office/officeart/2005/8/layout/list1"/>
    <dgm:cxn modelId="{B5520896-4F9D-4FFE-8B34-D5D5CF335FE5}" type="presParOf" srcId="{34C03148-EF99-43DC-8E0E-35B2B37A05D1}" destId="{6013EA12-8D06-4288-A0B7-1C2256009F2E}" srcOrd="5" destOrd="0" presId="urn:microsoft.com/office/officeart/2005/8/layout/list1"/>
    <dgm:cxn modelId="{4731AB03-4013-4D51-9C17-30E8E51C2740}" type="presParOf" srcId="{34C03148-EF99-43DC-8E0E-35B2B37A05D1}" destId="{879E4EB1-8F72-4DF7-A3B2-FC4540D9E3F4}"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7BC633-1BCE-4D87-A0EA-C7CCA2F55826}">
      <dsp:nvSpPr>
        <dsp:cNvPr id="0" name=""/>
        <dsp:cNvSpPr/>
      </dsp:nvSpPr>
      <dsp:spPr>
        <a:xfrm>
          <a:off x="0" y="734852"/>
          <a:ext cx="8128000" cy="1183746"/>
        </a:xfrm>
        <a:prstGeom prst="rightArrow">
          <a:avLst>
            <a:gd name="adj1" fmla="val 50000"/>
            <a:gd name="adj2" fmla="val 5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254000" bIns="187920" numCol="1" spcCol="1270" anchor="ctr" anchorCtr="0">
          <a:noAutofit/>
        </a:bodyPr>
        <a:lstStyle/>
        <a:p>
          <a:pPr marL="0" lvl="0" indent="0" algn="l" defTabSz="977900">
            <a:lnSpc>
              <a:spcPct val="90000"/>
            </a:lnSpc>
            <a:spcBef>
              <a:spcPct val="0"/>
            </a:spcBef>
            <a:spcAft>
              <a:spcPct val="35000"/>
            </a:spcAft>
            <a:buNone/>
          </a:pPr>
          <a:r>
            <a:rPr lang="en-US" sz="2200" kern="1200" dirty="0"/>
            <a:t>STAGE I</a:t>
          </a:r>
        </a:p>
      </dsp:txBody>
      <dsp:txXfrm>
        <a:off x="0" y="1030789"/>
        <a:ext cx="7832064" cy="591873"/>
      </dsp:txXfrm>
    </dsp:sp>
    <dsp:sp modelId="{1ADD616F-5AB1-441C-91AB-C760ADE97808}">
      <dsp:nvSpPr>
        <dsp:cNvPr id="0" name=""/>
        <dsp:cNvSpPr/>
      </dsp:nvSpPr>
      <dsp:spPr>
        <a:xfrm>
          <a:off x="0" y="1647691"/>
          <a:ext cx="2503424" cy="2280331"/>
        </a:xfrm>
        <a:prstGeom prst="rect">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Planning &amp; collecting data</a:t>
          </a:r>
        </a:p>
      </dsp:txBody>
      <dsp:txXfrm>
        <a:off x="0" y="1647691"/>
        <a:ext cx="2503424" cy="2280331"/>
      </dsp:txXfrm>
    </dsp:sp>
    <dsp:sp modelId="{F058CE8C-AFF8-4A08-9431-A66AF8926B73}">
      <dsp:nvSpPr>
        <dsp:cNvPr id="0" name=""/>
        <dsp:cNvSpPr/>
      </dsp:nvSpPr>
      <dsp:spPr>
        <a:xfrm>
          <a:off x="2503423" y="1129434"/>
          <a:ext cx="5624576" cy="1183746"/>
        </a:xfrm>
        <a:prstGeom prst="rightArrow">
          <a:avLst>
            <a:gd name="adj1" fmla="val 50000"/>
            <a:gd name="adj2" fmla="val 5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254000" bIns="187920" numCol="1" spcCol="1270" anchor="ctr" anchorCtr="0">
          <a:noAutofit/>
        </a:bodyPr>
        <a:lstStyle/>
        <a:p>
          <a:pPr marL="0" lvl="0" indent="0" algn="l" defTabSz="977900">
            <a:lnSpc>
              <a:spcPct val="90000"/>
            </a:lnSpc>
            <a:spcBef>
              <a:spcPct val="0"/>
            </a:spcBef>
            <a:spcAft>
              <a:spcPct val="35000"/>
            </a:spcAft>
            <a:buNone/>
          </a:pPr>
          <a:r>
            <a:rPr lang="en-US" sz="2200" kern="1200" dirty="0"/>
            <a:t>STAGE II</a:t>
          </a:r>
        </a:p>
      </dsp:txBody>
      <dsp:txXfrm>
        <a:off x="2503423" y="1425371"/>
        <a:ext cx="5328640" cy="591873"/>
      </dsp:txXfrm>
    </dsp:sp>
    <dsp:sp modelId="{59724698-59F2-46AE-9447-1CCC12A1841D}">
      <dsp:nvSpPr>
        <dsp:cNvPr id="0" name=""/>
        <dsp:cNvSpPr/>
      </dsp:nvSpPr>
      <dsp:spPr>
        <a:xfrm>
          <a:off x="2503423" y="2042273"/>
          <a:ext cx="2503424" cy="2280331"/>
        </a:xfrm>
        <a:prstGeom prst="rect">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Training your machine learning (ML) model</a:t>
          </a:r>
        </a:p>
      </dsp:txBody>
      <dsp:txXfrm>
        <a:off x="2503423" y="2042273"/>
        <a:ext cx="2503424" cy="2280331"/>
      </dsp:txXfrm>
    </dsp:sp>
    <dsp:sp modelId="{5EC0AF74-AE52-4606-9C97-012C89F47DC9}">
      <dsp:nvSpPr>
        <dsp:cNvPr id="0" name=""/>
        <dsp:cNvSpPr/>
      </dsp:nvSpPr>
      <dsp:spPr>
        <a:xfrm>
          <a:off x="5006848" y="1524016"/>
          <a:ext cx="3121152" cy="1183746"/>
        </a:xfrm>
        <a:prstGeom prst="rightArrow">
          <a:avLst>
            <a:gd name="adj1" fmla="val 50000"/>
            <a:gd name="adj2" fmla="val 5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254000" bIns="187920" numCol="1" spcCol="1270" anchor="ctr" anchorCtr="0">
          <a:noAutofit/>
        </a:bodyPr>
        <a:lstStyle/>
        <a:p>
          <a:pPr marL="0" lvl="0" indent="0" algn="l" defTabSz="977900">
            <a:lnSpc>
              <a:spcPct val="90000"/>
            </a:lnSpc>
            <a:spcBef>
              <a:spcPct val="0"/>
            </a:spcBef>
            <a:spcAft>
              <a:spcPct val="35000"/>
            </a:spcAft>
            <a:buNone/>
          </a:pPr>
          <a:r>
            <a:rPr lang="en-US" sz="2200" kern="1200" dirty="0"/>
            <a:t>STAGE III</a:t>
          </a:r>
        </a:p>
      </dsp:txBody>
      <dsp:txXfrm>
        <a:off x="5006848" y="1819953"/>
        <a:ext cx="2825216" cy="591873"/>
      </dsp:txXfrm>
    </dsp:sp>
    <dsp:sp modelId="{3A0A20D0-7032-4567-844E-64705DDF9072}">
      <dsp:nvSpPr>
        <dsp:cNvPr id="0" name=""/>
        <dsp:cNvSpPr/>
      </dsp:nvSpPr>
      <dsp:spPr>
        <a:xfrm>
          <a:off x="5006848" y="2436855"/>
          <a:ext cx="2503424" cy="2246958"/>
        </a:xfrm>
        <a:prstGeom prst="rect">
          <a:avLst/>
        </a:prstGeom>
        <a:solidFill>
          <a:schemeClr val="lt1">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The deployment of the model</a:t>
          </a:r>
        </a:p>
      </dsp:txBody>
      <dsp:txXfrm>
        <a:off x="5006848" y="2436855"/>
        <a:ext cx="2503424" cy="22469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81AFDF-E092-45CD-B4B0-34E1456A25D2}">
      <dsp:nvSpPr>
        <dsp:cNvPr id="0" name=""/>
        <dsp:cNvSpPr/>
      </dsp:nvSpPr>
      <dsp:spPr>
        <a:xfrm>
          <a:off x="0" y="951633"/>
          <a:ext cx="8128000" cy="158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56AFBC3-C9C9-4767-BF91-565CAB87A72F}">
      <dsp:nvSpPr>
        <dsp:cNvPr id="0" name=""/>
        <dsp:cNvSpPr/>
      </dsp:nvSpPr>
      <dsp:spPr>
        <a:xfrm>
          <a:off x="359509" y="33469"/>
          <a:ext cx="7065117" cy="1859760"/>
        </a:xfrm>
        <a:prstGeom prst="roundRect">
          <a:avLst/>
        </a:prstGeom>
        <a:solidFill>
          <a:schemeClr val="accent4">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1066800">
            <a:lnSpc>
              <a:spcPct val="90000"/>
            </a:lnSpc>
            <a:spcBef>
              <a:spcPct val="0"/>
            </a:spcBef>
            <a:spcAft>
              <a:spcPct val="35000"/>
            </a:spcAft>
            <a:buNone/>
          </a:pPr>
          <a:r>
            <a:rPr lang="en-US" sz="2400" kern="1200" dirty="0"/>
            <a:t>1. This stage involves the planning and motivational aspects of your project. Meaning that you will need to calculate the potential profitability of the future ML model and work out the process of its adoption.</a:t>
          </a:r>
        </a:p>
      </dsp:txBody>
      <dsp:txXfrm>
        <a:off x="450295" y="124255"/>
        <a:ext cx="6883545" cy="1678188"/>
      </dsp:txXfrm>
    </dsp:sp>
    <dsp:sp modelId="{879E4EB1-8F72-4DF7-A3B2-FC4540D9E3F4}">
      <dsp:nvSpPr>
        <dsp:cNvPr id="0" name=""/>
        <dsp:cNvSpPr/>
      </dsp:nvSpPr>
      <dsp:spPr>
        <a:xfrm>
          <a:off x="0" y="3809313"/>
          <a:ext cx="8128000" cy="158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35D0B0C-D154-47EC-BC2D-4C5CD515FD12}">
      <dsp:nvSpPr>
        <dsp:cNvPr id="0" name=""/>
        <dsp:cNvSpPr/>
      </dsp:nvSpPr>
      <dsp:spPr>
        <a:xfrm>
          <a:off x="352821" y="2879433"/>
          <a:ext cx="7769645" cy="1859760"/>
        </a:xfrm>
        <a:prstGeom prst="roundRect">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1066800">
            <a:lnSpc>
              <a:spcPct val="90000"/>
            </a:lnSpc>
            <a:spcBef>
              <a:spcPct val="0"/>
            </a:spcBef>
            <a:spcAft>
              <a:spcPct val="35000"/>
            </a:spcAft>
            <a:buNone/>
          </a:pPr>
          <a:r>
            <a:rPr lang="en-US" sz="2400" kern="1200" dirty="0"/>
            <a:t>2.It’s important to start strong if you want your AI project to be successful. “Garbage in, garbage out”. This means if the collected data is not good, you won’t be able to build an effective AI algorithm.</a:t>
          </a:r>
        </a:p>
      </dsp:txBody>
      <dsp:txXfrm>
        <a:off x="443607" y="2970219"/>
        <a:ext cx="7588073" cy="1678188"/>
      </dsp:txXfrm>
    </dsp:sp>
  </dsp:spTree>
</dsp:drawing>
</file>

<file path=ppt/diagrams/layout1.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ms-MY"/>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ms-MY"/>
          </a:p>
        </p:txBody>
      </p:sp>
      <p:sp>
        <p:nvSpPr>
          <p:cNvPr id="4" name="Date Placeholder 3"/>
          <p:cNvSpPr>
            <a:spLocks noGrp="1"/>
          </p:cNvSpPr>
          <p:nvPr>
            <p:ph type="dt" sz="half" idx="10"/>
          </p:nvPr>
        </p:nvSpPr>
        <p:spPr/>
        <p:txBody>
          <a:bodyPr/>
          <a:lstStyle/>
          <a:p>
            <a:fld id="{81525A2F-30E8-41BA-832C-D860CB44696C}" type="datetimeFigureOut">
              <a:rPr lang="ms-MY" smtClean="0"/>
              <a:t>21/05/2025</a:t>
            </a:fld>
            <a:endParaRPr lang="ms-MY"/>
          </a:p>
        </p:txBody>
      </p:sp>
      <p:sp>
        <p:nvSpPr>
          <p:cNvPr id="5" name="Footer Placeholder 4"/>
          <p:cNvSpPr>
            <a:spLocks noGrp="1"/>
          </p:cNvSpPr>
          <p:nvPr>
            <p:ph type="ftr" sz="quarter" idx="11"/>
          </p:nvPr>
        </p:nvSpPr>
        <p:spPr/>
        <p:txBody>
          <a:bodyPr/>
          <a:lstStyle/>
          <a:p>
            <a:endParaRPr lang="ms-MY"/>
          </a:p>
        </p:txBody>
      </p:sp>
      <p:sp>
        <p:nvSpPr>
          <p:cNvPr id="6" name="Slide Number Placeholder 5"/>
          <p:cNvSpPr>
            <a:spLocks noGrp="1"/>
          </p:cNvSpPr>
          <p:nvPr>
            <p:ph type="sldNum" sz="quarter" idx="12"/>
          </p:nvPr>
        </p:nvSpPr>
        <p:spPr/>
        <p:txBody>
          <a:bodyPr/>
          <a:lstStyle/>
          <a:p>
            <a:fld id="{90A8522D-44A2-4901-AB60-E41F9EDF6876}" type="slidenum">
              <a:rPr lang="ms-MY" smtClean="0"/>
              <a:t>‹#›</a:t>
            </a:fld>
            <a:endParaRPr lang="ms-MY"/>
          </a:p>
        </p:txBody>
      </p:sp>
    </p:spTree>
    <p:extLst>
      <p:ext uri="{BB962C8B-B14F-4D97-AF65-F5344CB8AC3E}">
        <p14:creationId xmlns:p14="http://schemas.microsoft.com/office/powerpoint/2010/main" val="3762973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ms-MY"/>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ms-MY"/>
          </a:p>
        </p:txBody>
      </p:sp>
      <p:sp>
        <p:nvSpPr>
          <p:cNvPr id="4" name="Date Placeholder 3"/>
          <p:cNvSpPr>
            <a:spLocks noGrp="1"/>
          </p:cNvSpPr>
          <p:nvPr>
            <p:ph type="dt" sz="half" idx="10"/>
          </p:nvPr>
        </p:nvSpPr>
        <p:spPr/>
        <p:txBody>
          <a:bodyPr/>
          <a:lstStyle/>
          <a:p>
            <a:fld id="{81525A2F-30E8-41BA-832C-D860CB44696C}" type="datetimeFigureOut">
              <a:rPr lang="ms-MY" smtClean="0"/>
              <a:t>21/05/2025</a:t>
            </a:fld>
            <a:endParaRPr lang="ms-MY"/>
          </a:p>
        </p:txBody>
      </p:sp>
      <p:sp>
        <p:nvSpPr>
          <p:cNvPr id="5" name="Footer Placeholder 4"/>
          <p:cNvSpPr>
            <a:spLocks noGrp="1"/>
          </p:cNvSpPr>
          <p:nvPr>
            <p:ph type="ftr" sz="quarter" idx="11"/>
          </p:nvPr>
        </p:nvSpPr>
        <p:spPr/>
        <p:txBody>
          <a:bodyPr/>
          <a:lstStyle/>
          <a:p>
            <a:endParaRPr lang="ms-MY"/>
          </a:p>
        </p:txBody>
      </p:sp>
      <p:sp>
        <p:nvSpPr>
          <p:cNvPr id="6" name="Slide Number Placeholder 5"/>
          <p:cNvSpPr>
            <a:spLocks noGrp="1"/>
          </p:cNvSpPr>
          <p:nvPr>
            <p:ph type="sldNum" sz="quarter" idx="12"/>
          </p:nvPr>
        </p:nvSpPr>
        <p:spPr/>
        <p:txBody>
          <a:bodyPr/>
          <a:lstStyle/>
          <a:p>
            <a:fld id="{90A8522D-44A2-4901-AB60-E41F9EDF6876}" type="slidenum">
              <a:rPr lang="ms-MY" smtClean="0"/>
              <a:t>‹#›</a:t>
            </a:fld>
            <a:endParaRPr lang="ms-MY"/>
          </a:p>
        </p:txBody>
      </p:sp>
    </p:spTree>
    <p:extLst>
      <p:ext uri="{BB962C8B-B14F-4D97-AF65-F5344CB8AC3E}">
        <p14:creationId xmlns:p14="http://schemas.microsoft.com/office/powerpoint/2010/main" val="299796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ms-MY"/>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1525A2F-30E8-41BA-832C-D860CB44696C}" type="datetimeFigureOut">
              <a:rPr lang="ms-MY" smtClean="0"/>
              <a:t>21/05/2025</a:t>
            </a:fld>
            <a:endParaRPr lang="ms-MY"/>
          </a:p>
        </p:txBody>
      </p:sp>
      <p:sp>
        <p:nvSpPr>
          <p:cNvPr id="5" name="Footer Placeholder 4"/>
          <p:cNvSpPr>
            <a:spLocks noGrp="1"/>
          </p:cNvSpPr>
          <p:nvPr>
            <p:ph type="ftr" sz="quarter" idx="11"/>
          </p:nvPr>
        </p:nvSpPr>
        <p:spPr/>
        <p:txBody>
          <a:bodyPr/>
          <a:lstStyle/>
          <a:p>
            <a:endParaRPr lang="ms-MY"/>
          </a:p>
        </p:txBody>
      </p:sp>
      <p:sp>
        <p:nvSpPr>
          <p:cNvPr id="6" name="Slide Number Placeholder 5"/>
          <p:cNvSpPr>
            <a:spLocks noGrp="1"/>
          </p:cNvSpPr>
          <p:nvPr>
            <p:ph type="sldNum" sz="quarter" idx="12"/>
          </p:nvPr>
        </p:nvSpPr>
        <p:spPr/>
        <p:txBody>
          <a:bodyPr/>
          <a:lstStyle/>
          <a:p>
            <a:fld id="{90A8522D-44A2-4901-AB60-E41F9EDF6876}" type="slidenum">
              <a:rPr lang="ms-MY" smtClean="0"/>
              <a:t>‹#›</a:t>
            </a:fld>
            <a:endParaRPr lang="ms-MY"/>
          </a:p>
        </p:txBody>
      </p:sp>
    </p:spTree>
    <p:extLst>
      <p:ext uri="{BB962C8B-B14F-4D97-AF65-F5344CB8AC3E}">
        <p14:creationId xmlns:p14="http://schemas.microsoft.com/office/powerpoint/2010/main" val="957393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ms-MY"/>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ms-MY"/>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ms-MY"/>
          </a:p>
        </p:txBody>
      </p:sp>
      <p:sp>
        <p:nvSpPr>
          <p:cNvPr id="5" name="Date Placeholder 4"/>
          <p:cNvSpPr>
            <a:spLocks noGrp="1"/>
          </p:cNvSpPr>
          <p:nvPr>
            <p:ph type="dt" sz="half" idx="10"/>
          </p:nvPr>
        </p:nvSpPr>
        <p:spPr/>
        <p:txBody>
          <a:bodyPr/>
          <a:lstStyle/>
          <a:p>
            <a:fld id="{81525A2F-30E8-41BA-832C-D860CB44696C}" type="datetimeFigureOut">
              <a:rPr lang="ms-MY" smtClean="0"/>
              <a:t>21/05/2025</a:t>
            </a:fld>
            <a:endParaRPr lang="ms-MY"/>
          </a:p>
        </p:txBody>
      </p:sp>
      <p:sp>
        <p:nvSpPr>
          <p:cNvPr id="6" name="Footer Placeholder 5"/>
          <p:cNvSpPr>
            <a:spLocks noGrp="1"/>
          </p:cNvSpPr>
          <p:nvPr>
            <p:ph type="ftr" sz="quarter" idx="11"/>
          </p:nvPr>
        </p:nvSpPr>
        <p:spPr/>
        <p:txBody>
          <a:bodyPr/>
          <a:lstStyle/>
          <a:p>
            <a:endParaRPr lang="ms-MY"/>
          </a:p>
        </p:txBody>
      </p:sp>
      <p:sp>
        <p:nvSpPr>
          <p:cNvPr id="7" name="Slide Number Placeholder 6"/>
          <p:cNvSpPr>
            <a:spLocks noGrp="1"/>
          </p:cNvSpPr>
          <p:nvPr>
            <p:ph type="sldNum" sz="quarter" idx="12"/>
          </p:nvPr>
        </p:nvSpPr>
        <p:spPr/>
        <p:txBody>
          <a:bodyPr/>
          <a:lstStyle/>
          <a:p>
            <a:fld id="{90A8522D-44A2-4901-AB60-E41F9EDF6876}" type="slidenum">
              <a:rPr lang="ms-MY" smtClean="0"/>
              <a:t>‹#›</a:t>
            </a:fld>
            <a:endParaRPr lang="ms-MY"/>
          </a:p>
        </p:txBody>
      </p:sp>
    </p:spTree>
    <p:extLst>
      <p:ext uri="{BB962C8B-B14F-4D97-AF65-F5344CB8AC3E}">
        <p14:creationId xmlns:p14="http://schemas.microsoft.com/office/powerpoint/2010/main" val="1378065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ms-MY"/>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ms-MY"/>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ms-MY"/>
          </a:p>
        </p:txBody>
      </p:sp>
      <p:sp>
        <p:nvSpPr>
          <p:cNvPr id="7" name="Date Placeholder 6"/>
          <p:cNvSpPr>
            <a:spLocks noGrp="1"/>
          </p:cNvSpPr>
          <p:nvPr>
            <p:ph type="dt" sz="half" idx="10"/>
          </p:nvPr>
        </p:nvSpPr>
        <p:spPr/>
        <p:txBody>
          <a:bodyPr/>
          <a:lstStyle/>
          <a:p>
            <a:fld id="{81525A2F-30E8-41BA-832C-D860CB44696C}" type="datetimeFigureOut">
              <a:rPr lang="ms-MY" smtClean="0"/>
              <a:t>21/05/2025</a:t>
            </a:fld>
            <a:endParaRPr lang="ms-MY"/>
          </a:p>
        </p:txBody>
      </p:sp>
      <p:sp>
        <p:nvSpPr>
          <p:cNvPr id="8" name="Footer Placeholder 7"/>
          <p:cNvSpPr>
            <a:spLocks noGrp="1"/>
          </p:cNvSpPr>
          <p:nvPr>
            <p:ph type="ftr" sz="quarter" idx="11"/>
          </p:nvPr>
        </p:nvSpPr>
        <p:spPr/>
        <p:txBody>
          <a:bodyPr/>
          <a:lstStyle/>
          <a:p>
            <a:endParaRPr lang="ms-MY"/>
          </a:p>
        </p:txBody>
      </p:sp>
      <p:sp>
        <p:nvSpPr>
          <p:cNvPr id="9" name="Slide Number Placeholder 8"/>
          <p:cNvSpPr>
            <a:spLocks noGrp="1"/>
          </p:cNvSpPr>
          <p:nvPr>
            <p:ph type="sldNum" sz="quarter" idx="12"/>
          </p:nvPr>
        </p:nvSpPr>
        <p:spPr/>
        <p:txBody>
          <a:bodyPr/>
          <a:lstStyle/>
          <a:p>
            <a:fld id="{90A8522D-44A2-4901-AB60-E41F9EDF6876}" type="slidenum">
              <a:rPr lang="ms-MY" smtClean="0"/>
              <a:t>‹#›</a:t>
            </a:fld>
            <a:endParaRPr lang="ms-MY"/>
          </a:p>
        </p:txBody>
      </p:sp>
    </p:spTree>
    <p:extLst>
      <p:ext uri="{BB962C8B-B14F-4D97-AF65-F5344CB8AC3E}">
        <p14:creationId xmlns:p14="http://schemas.microsoft.com/office/powerpoint/2010/main" val="3088092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ms-MY"/>
          </a:p>
        </p:txBody>
      </p:sp>
      <p:sp>
        <p:nvSpPr>
          <p:cNvPr id="3" name="Date Placeholder 2"/>
          <p:cNvSpPr>
            <a:spLocks noGrp="1"/>
          </p:cNvSpPr>
          <p:nvPr>
            <p:ph type="dt" sz="half" idx="10"/>
          </p:nvPr>
        </p:nvSpPr>
        <p:spPr/>
        <p:txBody>
          <a:bodyPr/>
          <a:lstStyle/>
          <a:p>
            <a:fld id="{81525A2F-30E8-41BA-832C-D860CB44696C}" type="datetimeFigureOut">
              <a:rPr lang="ms-MY" smtClean="0"/>
              <a:t>21/05/2025</a:t>
            </a:fld>
            <a:endParaRPr lang="ms-MY"/>
          </a:p>
        </p:txBody>
      </p:sp>
      <p:sp>
        <p:nvSpPr>
          <p:cNvPr id="4" name="Footer Placeholder 3"/>
          <p:cNvSpPr>
            <a:spLocks noGrp="1"/>
          </p:cNvSpPr>
          <p:nvPr>
            <p:ph type="ftr" sz="quarter" idx="11"/>
          </p:nvPr>
        </p:nvSpPr>
        <p:spPr/>
        <p:txBody>
          <a:bodyPr/>
          <a:lstStyle/>
          <a:p>
            <a:endParaRPr lang="ms-MY"/>
          </a:p>
        </p:txBody>
      </p:sp>
      <p:sp>
        <p:nvSpPr>
          <p:cNvPr id="5" name="Slide Number Placeholder 4"/>
          <p:cNvSpPr>
            <a:spLocks noGrp="1"/>
          </p:cNvSpPr>
          <p:nvPr>
            <p:ph type="sldNum" sz="quarter" idx="12"/>
          </p:nvPr>
        </p:nvSpPr>
        <p:spPr/>
        <p:txBody>
          <a:bodyPr/>
          <a:lstStyle/>
          <a:p>
            <a:fld id="{90A8522D-44A2-4901-AB60-E41F9EDF6876}" type="slidenum">
              <a:rPr lang="ms-MY" smtClean="0"/>
              <a:t>‹#›</a:t>
            </a:fld>
            <a:endParaRPr lang="ms-MY"/>
          </a:p>
        </p:txBody>
      </p:sp>
    </p:spTree>
    <p:extLst>
      <p:ext uri="{BB962C8B-B14F-4D97-AF65-F5344CB8AC3E}">
        <p14:creationId xmlns:p14="http://schemas.microsoft.com/office/powerpoint/2010/main" val="3081149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525A2F-30E8-41BA-832C-D860CB44696C}" type="datetimeFigureOut">
              <a:rPr lang="ms-MY" smtClean="0"/>
              <a:t>21/05/2025</a:t>
            </a:fld>
            <a:endParaRPr lang="ms-MY"/>
          </a:p>
        </p:txBody>
      </p:sp>
      <p:sp>
        <p:nvSpPr>
          <p:cNvPr id="3" name="Footer Placeholder 2"/>
          <p:cNvSpPr>
            <a:spLocks noGrp="1"/>
          </p:cNvSpPr>
          <p:nvPr>
            <p:ph type="ftr" sz="quarter" idx="11"/>
          </p:nvPr>
        </p:nvSpPr>
        <p:spPr/>
        <p:txBody>
          <a:bodyPr/>
          <a:lstStyle/>
          <a:p>
            <a:endParaRPr lang="ms-MY"/>
          </a:p>
        </p:txBody>
      </p:sp>
      <p:sp>
        <p:nvSpPr>
          <p:cNvPr id="4" name="Slide Number Placeholder 3"/>
          <p:cNvSpPr>
            <a:spLocks noGrp="1"/>
          </p:cNvSpPr>
          <p:nvPr>
            <p:ph type="sldNum" sz="quarter" idx="12"/>
          </p:nvPr>
        </p:nvSpPr>
        <p:spPr/>
        <p:txBody>
          <a:bodyPr/>
          <a:lstStyle/>
          <a:p>
            <a:fld id="{90A8522D-44A2-4901-AB60-E41F9EDF6876}" type="slidenum">
              <a:rPr lang="ms-MY" smtClean="0"/>
              <a:t>‹#›</a:t>
            </a:fld>
            <a:endParaRPr lang="ms-MY"/>
          </a:p>
        </p:txBody>
      </p:sp>
    </p:spTree>
    <p:extLst>
      <p:ext uri="{BB962C8B-B14F-4D97-AF65-F5344CB8AC3E}">
        <p14:creationId xmlns:p14="http://schemas.microsoft.com/office/powerpoint/2010/main" val="1114300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ms-MY"/>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ms-MY"/>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1525A2F-30E8-41BA-832C-D860CB44696C}" type="datetimeFigureOut">
              <a:rPr lang="ms-MY" smtClean="0"/>
              <a:t>21/05/2025</a:t>
            </a:fld>
            <a:endParaRPr lang="ms-MY"/>
          </a:p>
        </p:txBody>
      </p:sp>
      <p:sp>
        <p:nvSpPr>
          <p:cNvPr id="6" name="Footer Placeholder 5"/>
          <p:cNvSpPr>
            <a:spLocks noGrp="1"/>
          </p:cNvSpPr>
          <p:nvPr>
            <p:ph type="ftr" sz="quarter" idx="11"/>
          </p:nvPr>
        </p:nvSpPr>
        <p:spPr/>
        <p:txBody>
          <a:bodyPr/>
          <a:lstStyle/>
          <a:p>
            <a:endParaRPr lang="ms-MY"/>
          </a:p>
        </p:txBody>
      </p:sp>
      <p:sp>
        <p:nvSpPr>
          <p:cNvPr id="7" name="Slide Number Placeholder 6"/>
          <p:cNvSpPr>
            <a:spLocks noGrp="1"/>
          </p:cNvSpPr>
          <p:nvPr>
            <p:ph type="sldNum" sz="quarter" idx="12"/>
          </p:nvPr>
        </p:nvSpPr>
        <p:spPr/>
        <p:txBody>
          <a:bodyPr/>
          <a:lstStyle/>
          <a:p>
            <a:fld id="{90A8522D-44A2-4901-AB60-E41F9EDF6876}" type="slidenum">
              <a:rPr lang="ms-MY" smtClean="0"/>
              <a:t>‹#›</a:t>
            </a:fld>
            <a:endParaRPr lang="ms-MY"/>
          </a:p>
        </p:txBody>
      </p:sp>
    </p:spTree>
    <p:extLst>
      <p:ext uri="{BB962C8B-B14F-4D97-AF65-F5344CB8AC3E}">
        <p14:creationId xmlns:p14="http://schemas.microsoft.com/office/powerpoint/2010/main" val="258472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ms-MY"/>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ms-MY"/>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1525A2F-30E8-41BA-832C-D860CB44696C}" type="datetimeFigureOut">
              <a:rPr lang="ms-MY" smtClean="0"/>
              <a:t>21/05/2025</a:t>
            </a:fld>
            <a:endParaRPr lang="ms-MY"/>
          </a:p>
        </p:txBody>
      </p:sp>
      <p:sp>
        <p:nvSpPr>
          <p:cNvPr id="6" name="Footer Placeholder 5"/>
          <p:cNvSpPr>
            <a:spLocks noGrp="1"/>
          </p:cNvSpPr>
          <p:nvPr>
            <p:ph type="ftr" sz="quarter" idx="11"/>
          </p:nvPr>
        </p:nvSpPr>
        <p:spPr/>
        <p:txBody>
          <a:bodyPr/>
          <a:lstStyle/>
          <a:p>
            <a:endParaRPr lang="ms-MY"/>
          </a:p>
        </p:txBody>
      </p:sp>
      <p:sp>
        <p:nvSpPr>
          <p:cNvPr id="7" name="Slide Number Placeholder 6"/>
          <p:cNvSpPr>
            <a:spLocks noGrp="1"/>
          </p:cNvSpPr>
          <p:nvPr>
            <p:ph type="sldNum" sz="quarter" idx="12"/>
          </p:nvPr>
        </p:nvSpPr>
        <p:spPr/>
        <p:txBody>
          <a:bodyPr/>
          <a:lstStyle/>
          <a:p>
            <a:fld id="{90A8522D-44A2-4901-AB60-E41F9EDF6876}" type="slidenum">
              <a:rPr lang="ms-MY" smtClean="0"/>
              <a:t>‹#›</a:t>
            </a:fld>
            <a:endParaRPr lang="ms-MY"/>
          </a:p>
        </p:txBody>
      </p:sp>
    </p:spTree>
    <p:extLst>
      <p:ext uri="{BB962C8B-B14F-4D97-AF65-F5344CB8AC3E}">
        <p14:creationId xmlns:p14="http://schemas.microsoft.com/office/powerpoint/2010/main" val="36665128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ms-MY"/>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ms-MY"/>
          </a:p>
        </p:txBody>
      </p:sp>
      <p:sp>
        <p:nvSpPr>
          <p:cNvPr id="4" name="Date Placeholder 3"/>
          <p:cNvSpPr>
            <a:spLocks noGrp="1"/>
          </p:cNvSpPr>
          <p:nvPr>
            <p:ph type="dt" sz="half" idx="10"/>
          </p:nvPr>
        </p:nvSpPr>
        <p:spPr/>
        <p:txBody>
          <a:bodyPr/>
          <a:lstStyle/>
          <a:p>
            <a:fld id="{81525A2F-30E8-41BA-832C-D860CB44696C}" type="datetimeFigureOut">
              <a:rPr lang="ms-MY" smtClean="0"/>
              <a:t>21/05/2025</a:t>
            </a:fld>
            <a:endParaRPr lang="ms-MY"/>
          </a:p>
        </p:txBody>
      </p:sp>
      <p:sp>
        <p:nvSpPr>
          <p:cNvPr id="5" name="Footer Placeholder 4"/>
          <p:cNvSpPr>
            <a:spLocks noGrp="1"/>
          </p:cNvSpPr>
          <p:nvPr>
            <p:ph type="ftr" sz="quarter" idx="11"/>
          </p:nvPr>
        </p:nvSpPr>
        <p:spPr/>
        <p:txBody>
          <a:bodyPr/>
          <a:lstStyle/>
          <a:p>
            <a:endParaRPr lang="ms-MY"/>
          </a:p>
        </p:txBody>
      </p:sp>
      <p:sp>
        <p:nvSpPr>
          <p:cNvPr id="6" name="Slide Number Placeholder 5"/>
          <p:cNvSpPr>
            <a:spLocks noGrp="1"/>
          </p:cNvSpPr>
          <p:nvPr>
            <p:ph type="sldNum" sz="quarter" idx="12"/>
          </p:nvPr>
        </p:nvSpPr>
        <p:spPr/>
        <p:txBody>
          <a:bodyPr/>
          <a:lstStyle/>
          <a:p>
            <a:fld id="{90A8522D-44A2-4901-AB60-E41F9EDF6876}" type="slidenum">
              <a:rPr lang="ms-MY" smtClean="0"/>
              <a:t>‹#›</a:t>
            </a:fld>
            <a:endParaRPr lang="ms-MY"/>
          </a:p>
        </p:txBody>
      </p:sp>
    </p:spTree>
    <p:extLst>
      <p:ext uri="{BB962C8B-B14F-4D97-AF65-F5344CB8AC3E}">
        <p14:creationId xmlns:p14="http://schemas.microsoft.com/office/powerpoint/2010/main" val="4202553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ms-MY"/>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ms-MY"/>
          </a:p>
        </p:txBody>
      </p:sp>
      <p:sp>
        <p:nvSpPr>
          <p:cNvPr id="4" name="Date Placeholder 3"/>
          <p:cNvSpPr>
            <a:spLocks noGrp="1"/>
          </p:cNvSpPr>
          <p:nvPr>
            <p:ph type="dt" sz="half" idx="10"/>
          </p:nvPr>
        </p:nvSpPr>
        <p:spPr/>
        <p:txBody>
          <a:bodyPr/>
          <a:lstStyle/>
          <a:p>
            <a:fld id="{81525A2F-30E8-41BA-832C-D860CB44696C}" type="datetimeFigureOut">
              <a:rPr lang="ms-MY" smtClean="0"/>
              <a:t>21/05/2025</a:t>
            </a:fld>
            <a:endParaRPr lang="ms-MY"/>
          </a:p>
        </p:txBody>
      </p:sp>
      <p:sp>
        <p:nvSpPr>
          <p:cNvPr id="5" name="Footer Placeholder 4"/>
          <p:cNvSpPr>
            <a:spLocks noGrp="1"/>
          </p:cNvSpPr>
          <p:nvPr>
            <p:ph type="ftr" sz="quarter" idx="11"/>
          </p:nvPr>
        </p:nvSpPr>
        <p:spPr/>
        <p:txBody>
          <a:bodyPr/>
          <a:lstStyle/>
          <a:p>
            <a:endParaRPr lang="ms-MY"/>
          </a:p>
        </p:txBody>
      </p:sp>
      <p:sp>
        <p:nvSpPr>
          <p:cNvPr id="6" name="Slide Number Placeholder 5"/>
          <p:cNvSpPr>
            <a:spLocks noGrp="1"/>
          </p:cNvSpPr>
          <p:nvPr>
            <p:ph type="sldNum" sz="quarter" idx="12"/>
          </p:nvPr>
        </p:nvSpPr>
        <p:spPr/>
        <p:txBody>
          <a:bodyPr/>
          <a:lstStyle/>
          <a:p>
            <a:fld id="{90A8522D-44A2-4901-AB60-E41F9EDF6876}" type="slidenum">
              <a:rPr lang="ms-MY" smtClean="0"/>
              <a:t>‹#›</a:t>
            </a:fld>
            <a:endParaRPr lang="ms-MY"/>
          </a:p>
        </p:txBody>
      </p:sp>
    </p:spTree>
    <p:extLst>
      <p:ext uri="{BB962C8B-B14F-4D97-AF65-F5344CB8AC3E}">
        <p14:creationId xmlns:p14="http://schemas.microsoft.com/office/powerpoint/2010/main" val="3223262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ms-MY"/>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ms-MY"/>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525A2F-30E8-41BA-832C-D860CB44696C}" type="datetimeFigureOut">
              <a:rPr lang="ms-MY" smtClean="0"/>
              <a:t>21/05/2025</a:t>
            </a:fld>
            <a:endParaRPr lang="ms-MY"/>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ms-MY"/>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A8522D-44A2-4901-AB60-E41F9EDF6876}" type="slidenum">
              <a:rPr lang="ms-MY" smtClean="0"/>
              <a:t>‹#›</a:t>
            </a:fld>
            <a:endParaRPr lang="ms-MY"/>
          </a:p>
        </p:txBody>
      </p:sp>
    </p:spTree>
    <p:extLst>
      <p:ext uri="{BB962C8B-B14F-4D97-AF65-F5344CB8AC3E}">
        <p14:creationId xmlns:p14="http://schemas.microsoft.com/office/powerpoint/2010/main" val="34425333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ms-M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6423130"/>
            <a:ext cx="12192000" cy="41801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s-MY"/>
          </a:p>
        </p:txBody>
      </p:sp>
      <p:sp>
        <p:nvSpPr>
          <p:cNvPr id="5" name="TextBox 4"/>
          <p:cNvSpPr txBox="1"/>
          <p:nvPr/>
        </p:nvSpPr>
        <p:spPr>
          <a:xfrm>
            <a:off x="654448" y="6447469"/>
            <a:ext cx="10755085" cy="369332"/>
          </a:xfrm>
          <a:prstGeom prst="rect">
            <a:avLst/>
          </a:prstGeom>
          <a:noFill/>
        </p:spPr>
        <p:txBody>
          <a:bodyPr wrap="square" rtlCol="0">
            <a:spAutoFit/>
          </a:bodyPr>
          <a:lstStyle/>
          <a:p>
            <a:r>
              <a:rPr lang="en-US" b="1" dirty="0">
                <a:solidFill>
                  <a:schemeClr val="bg1"/>
                </a:solidFill>
              </a:rPr>
              <a:t>PROJECT RELATED TO ARTIFICIAL INTELLIGENCE</a:t>
            </a:r>
            <a:endParaRPr lang="ms-MY" b="1" dirty="0">
              <a:solidFill>
                <a:schemeClr val="bg1"/>
              </a:solidFill>
            </a:endParaRPr>
          </a:p>
        </p:txBody>
      </p:sp>
      <p:sp>
        <p:nvSpPr>
          <p:cNvPr id="6" name="TextBox 5"/>
          <p:cNvSpPr txBox="1"/>
          <p:nvPr/>
        </p:nvSpPr>
        <p:spPr>
          <a:xfrm>
            <a:off x="654448" y="6423130"/>
            <a:ext cx="10755085" cy="369332"/>
          </a:xfrm>
          <a:prstGeom prst="rect">
            <a:avLst/>
          </a:prstGeom>
          <a:noFill/>
        </p:spPr>
        <p:txBody>
          <a:bodyPr wrap="square" rtlCol="0">
            <a:spAutoFit/>
          </a:bodyPr>
          <a:lstStyle/>
          <a:p>
            <a:r>
              <a:rPr lang="en-US" b="1" dirty="0">
                <a:solidFill>
                  <a:schemeClr val="bg1"/>
                </a:solidFill>
              </a:rPr>
              <a:t>PROJECT RELATED TO ARTIFICIAL INTELLIGENCE - TQ</a:t>
            </a:r>
            <a:endParaRPr lang="ms-MY" b="1" dirty="0">
              <a:solidFill>
                <a:schemeClr val="bg1"/>
              </a:solidFill>
            </a:endParaRPr>
          </a:p>
        </p:txBody>
      </p:sp>
      <p:sp>
        <p:nvSpPr>
          <p:cNvPr id="7" name="TextBox 6"/>
          <p:cNvSpPr txBox="1"/>
          <p:nvPr/>
        </p:nvSpPr>
        <p:spPr>
          <a:xfrm>
            <a:off x="654448" y="4384431"/>
            <a:ext cx="10738338" cy="584775"/>
          </a:xfrm>
          <a:prstGeom prst="rect">
            <a:avLst/>
          </a:prstGeom>
          <a:noFill/>
        </p:spPr>
        <p:txBody>
          <a:bodyPr wrap="square" rtlCol="0">
            <a:spAutoFit/>
          </a:bodyPr>
          <a:lstStyle/>
          <a:p>
            <a:pPr algn="ctr"/>
            <a:r>
              <a:rPr lang="en-US" sz="3200" b="1" dirty="0">
                <a:solidFill>
                  <a:schemeClr val="bg1"/>
                </a:solidFill>
              </a:rPr>
              <a:t>THE LIFECYCLE OF AN AI PROJECT</a:t>
            </a:r>
            <a:endParaRPr lang="ms-MY" sz="3200" b="1" dirty="0">
              <a:solidFill>
                <a:schemeClr val="bg1"/>
              </a:solidFill>
            </a:endParaRPr>
          </a:p>
        </p:txBody>
      </p:sp>
      <p:pic>
        <p:nvPicPr>
          <p:cNvPr id="8" name="Picture 7"/>
          <p:cNvPicPr>
            <a:picLocks noChangeAspect="1"/>
          </p:cNvPicPr>
          <p:nvPr/>
        </p:nvPicPr>
        <p:blipFill>
          <a:blip r:embed="rId3"/>
          <a:stretch>
            <a:fillRect/>
          </a:stretch>
        </p:blipFill>
        <p:spPr>
          <a:xfrm>
            <a:off x="2942493" y="0"/>
            <a:ext cx="1770184" cy="1242646"/>
          </a:xfrm>
          <a:prstGeom prst="rect">
            <a:avLst/>
          </a:prstGeom>
        </p:spPr>
      </p:pic>
      <p:pic>
        <p:nvPicPr>
          <p:cNvPr id="1028" name="Picture 4" descr="logo-ukm.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97877"/>
            <a:ext cx="2857500" cy="2528592"/>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3426955" y="1574485"/>
            <a:ext cx="5193323" cy="954107"/>
          </a:xfrm>
          <a:prstGeom prst="rect">
            <a:avLst/>
          </a:prstGeom>
          <a:noFill/>
        </p:spPr>
        <p:txBody>
          <a:bodyPr wrap="square" rtlCol="0">
            <a:spAutoFit/>
          </a:bodyPr>
          <a:lstStyle/>
          <a:p>
            <a:pPr algn="ctr"/>
            <a:r>
              <a:rPr lang="en-US" sz="2800" b="1" dirty="0">
                <a:solidFill>
                  <a:schemeClr val="accent4">
                    <a:lumMod val="50000"/>
                  </a:schemeClr>
                </a:solidFill>
              </a:rPr>
              <a:t>ASSOC.PROF DR SHAHNORBANUN SAHRAN</a:t>
            </a:r>
            <a:endParaRPr lang="ms-MY" sz="2800" b="1" dirty="0">
              <a:solidFill>
                <a:schemeClr val="accent4">
                  <a:lumMod val="50000"/>
                </a:schemeClr>
              </a:solidFill>
            </a:endParaRPr>
          </a:p>
        </p:txBody>
      </p:sp>
    </p:spTree>
    <p:extLst>
      <p:ext uri="{BB962C8B-B14F-4D97-AF65-F5344CB8AC3E}">
        <p14:creationId xmlns:p14="http://schemas.microsoft.com/office/powerpoint/2010/main" val="725278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repeatCount="indefinite"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5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150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xit" presetSubtype="8" repeatCount="indefinite" fill="hold" nodeType="withEffect">
                                  <p:stCondLst>
                                    <p:cond delay="500"/>
                                  </p:stCondLst>
                                  <p:childTnLst>
                                    <p:anim calcmode="lin" valueType="num">
                                      <p:cBhvr additive="base">
                                        <p:cTn id="10" dur="15000"/>
                                        <p:tgtEl>
                                          <p:spTgt spid="5">
                                            <p:txEl>
                                              <p:pRg st="0" end="0"/>
                                            </p:txEl>
                                          </p:spTgt>
                                        </p:tgtEl>
                                        <p:attrNameLst>
                                          <p:attrName>ppt_x</p:attrName>
                                        </p:attrNameLst>
                                      </p:cBhvr>
                                      <p:tavLst>
                                        <p:tav tm="0">
                                          <p:val>
                                            <p:strVal val="ppt_x"/>
                                          </p:val>
                                        </p:tav>
                                        <p:tav tm="100000">
                                          <p:val>
                                            <p:strVal val="0-ppt_w/2"/>
                                          </p:val>
                                        </p:tav>
                                      </p:tavLst>
                                    </p:anim>
                                    <p:anim calcmode="lin" valueType="num">
                                      <p:cBhvr additive="base">
                                        <p:cTn id="11" dur="15000"/>
                                        <p:tgtEl>
                                          <p:spTgt spid="5">
                                            <p:txEl>
                                              <p:pRg st="0" end="0"/>
                                            </p:txEl>
                                          </p:spTgt>
                                        </p:tgtEl>
                                        <p:attrNameLst>
                                          <p:attrName>ppt_y</p:attrName>
                                        </p:attrNameLst>
                                      </p:cBhvr>
                                      <p:tavLst>
                                        <p:tav tm="0">
                                          <p:val>
                                            <p:strVal val="ppt_y"/>
                                          </p:val>
                                        </p:tav>
                                        <p:tav tm="100000">
                                          <p:val>
                                            <p:strVal val="ppt_y"/>
                                          </p:val>
                                        </p:tav>
                                      </p:tavLst>
                                    </p:anim>
                                    <p:set>
                                      <p:cBhvr>
                                        <p:cTn id="12" dur="1" fill="hold">
                                          <p:stCondLst>
                                            <p:cond delay="14999"/>
                                          </p:stCondLst>
                                        </p:cTn>
                                        <p:tgtEl>
                                          <p:spTgt spid="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6423130"/>
            <a:ext cx="12192000" cy="41801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s-MY"/>
          </a:p>
        </p:txBody>
      </p:sp>
      <p:sp>
        <p:nvSpPr>
          <p:cNvPr id="5" name="TextBox 4"/>
          <p:cNvSpPr txBox="1"/>
          <p:nvPr/>
        </p:nvSpPr>
        <p:spPr>
          <a:xfrm>
            <a:off x="654448" y="6447469"/>
            <a:ext cx="10755085" cy="369332"/>
          </a:xfrm>
          <a:prstGeom prst="rect">
            <a:avLst/>
          </a:prstGeom>
          <a:noFill/>
        </p:spPr>
        <p:txBody>
          <a:bodyPr wrap="square" rtlCol="0">
            <a:spAutoFit/>
          </a:bodyPr>
          <a:lstStyle/>
          <a:p>
            <a:r>
              <a:rPr lang="en-US" b="1" dirty="0">
                <a:solidFill>
                  <a:schemeClr val="bg1"/>
                </a:solidFill>
              </a:rPr>
              <a:t>PROJECT RELATED TO ARTIFICIAL INTELLIGENCE</a:t>
            </a:r>
            <a:endParaRPr lang="ms-MY" b="1" dirty="0">
              <a:solidFill>
                <a:schemeClr val="bg1"/>
              </a:solidFill>
            </a:endParaRPr>
          </a:p>
        </p:txBody>
      </p:sp>
      <p:sp>
        <p:nvSpPr>
          <p:cNvPr id="6" name="TextBox 5"/>
          <p:cNvSpPr txBox="1"/>
          <p:nvPr/>
        </p:nvSpPr>
        <p:spPr>
          <a:xfrm>
            <a:off x="654448" y="6423130"/>
            <a:ext cx="10755085" cy="369332"/>
          </a:xfrm>
          <a:prstGeom prst="rect">
            <a:avLst/>
          </a:prstGeom>
          <a:noFill/>
        </p:spPr>
        <p:txBody>
          <a:bodyPr wrap="square" rtlCol="0">
            <a:spAutoFit/>
          </a:bodyPr>
          <a:lstStyle/>
          <a:p>
            <a:r>
              <a:rPr lang="en-US" b="1" dirty="0">
                <a:solidFill>
                  <a:schemeClr val="bg1"/>
                </a:solidFill>
              </a:rPr>
              <a:t>PROJECT RELATED TO ARTIFICIAL INTELLIGENCE - TQ</a:t>
            </a:r>
            <a:endParaRPr lang="ms-MY" b="1" dirty="0">
              <a:solidFill>
                <a:schemeClr val="bg1"/>
              </a:solidFill>
            </a:endParaRPr>
          </a:p>
        </p:txBody>
      </p:sp>
      <p:sp>
        <p:nvSpPr>
          <p:cNvPr id="2" name="TextBox 1"/>
          <p:cNvSpPr txBox="1"/>
          <p:nvPr/>
        </p:nvSpPr>
        <p:spPr>
          <a:xfrm>
            <a:off x="222738" y="187569"/>
            <a:ext cx="4806462" cy="523220"/>
          </a:xfrm>
          <a:prstGeom prst="rect">
            <a:avLst/>
          </a:prstGeom>
          <a:noFill/>
        </p:spPr>
        <p:txBody>
          <a:bodyPr wrap="square" rtlCol="0">
            <a:spAutoFit/>
          </a:bodyPr>
          <a:lstStyle/>
          <a:p>
            <a:r>
              <a:rPr lang="en-US" sz="2800" b="1" dirty="0">
                <a:solidFill>
                  <a:schemeClr val="bg1"/>
                </a:solidFill>
              </a:rPr>
              <a:t>TABLE OF CONTENTS</a:t>
            </a:r>
            <a:endParaRPr lang="ms-MY" sz="2800" b="1" dirty="0">
              <a:solidFill>
                <a:schemeClr val="bg1"/>
              </a:solidFill>
            </a:endParaRPr>
          </a:p>
        </p:txBody>
      </p:sp>
      <p:graphicFrame>
        <p:nvGraphicFramePr>
          <p:cNvPr id="3" name="Diagram 2"/>
          <p:cNvGraphicFramePr/>
          <p:nvPr>
            <p:extLst>
              <p:ext uri="{D42A27DB-BD31-4B8C-83A1-F6EECF244321}">
                <p14:modId xmlns:p14="http://schemas.microsoft.com/office/powerpoint/2010/main" val="86440838"/>
              </p:ext>
            </p:extLst>
          </p:nvPr>
        </p:nvGraphicFramePr>
        <p:xfrm>
          <a:off x="2032000" y="1680959"/>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47955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repeatCount="indefinite"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5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150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xit" presetSubtype="8" repeatCount="indefinite" fill="hold" nodeType="withEffect">
                                  <p:stCondLst>
                                    <p:cond delay="500"/>
                                  </p:stCondLst>
                                  <p:childTnLst>
                                    <p:anim calcmode="lin" valueType="num">
                                      <p:cBhvr additive="base">
                                        <p:cTn id="10" dur="15000"/>
                                        <p:tgtEl>
                                          <p:spTgt spid="5">
                                            <p:txEl>
                                              <p:pRg st="0" end="0"/>
                                            </p:txEl>
                                          </p:spTgt>
                                        </p:tgtEl>
                                        <p:attrNameLst>
                                          <p:attrName>ppt_x</p:attrName>
                                        </p:attrNameLst>
                                      </p:cBhvr>
                                      <p:tavLst>
                                        <p:tav tm="0">
                                          <p:val>
                                            <p:strVal val="ppt_x"/>
                                          </p:val>
                                        </p:tav>
                                        <p:tav tm="100000">
                                          <p:val>
                                            <p:strVal val="0-ppt_w/2"/>
                                          </p:val>
                                        </p:tav>
                                      </p:tavLst>
                                    </p:anim>
                                    <p:anim calcmode="lin" valueType="num">
                                      <p:cBhvr additive="base">
                                        <p:cTn id="11" dur="15000"/>
                                        <p:tgtEl>
                                          <p:spTgt spid="5">
                                            <p:txEl>
                                              <p:pRg st="0" end="0"/>
                                            </p:txEl>
                                          </p:spTgt>
                                        </p:tgtEl>
                                        <p:attrNameLst>
                                          <p:attrName>ppt_y</p:attrName>
                                        </p:attrNameLst>
                                      </p:cBhvr>
                                      <p:tavLst>
                                        <p:tav tm="0">
                                          <p:val>
                                            <p:strVal val="ppt_y"/>
                                          </p:val>
                                        </p:tav>
                                        <p:tav tm="100000">
                                          <p:val>
                                            <p:strVal val="ppt_y"/>
                                          </p:val>
                                        </p:tav>
                                      </p:tavLst>
                                    </p:anim>
                                    <p:set>
                                      <p:cBhvr>
                                        <p:cTn id="12" dur="1" fill="hold">
                                          <p:stCondLst>
                                            <p:cond delay="14999"/>
                                          </p:stCondLst>
                                        </p:cTn>
                                        <p:tgtEl>
                                          <p:spTgt spid="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6423130"/>
            <a:ext cx="12192000" cy="41801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s-MY"/>
          </a:p>
        </p:txBody>
      </p:sp>
      <p:sp>
        <p:nvSpPr>
          <p:cNvPr id="5" name="TextBox 4"/>
          <p:cNvSpPr txBox="1"/>
          <p:nvPr/>
        </p:nvSpPr>
        <p:spPr>
          <a:xfrm>
            <a:off x="654448" y="6447469"/>
            <a:ext cx="10755085" cy="369332"/>
          </a:xfrm>
          <a:prstGeom prst="rect">
            <a:avLst/>
          </a:prstGeom>
          <a:noFill/>
        </p:spPr>
        <p:txBody>
          <a:bodyPr wrap="square" rtlCol="0">
            <a:spAutoFit/>
          </a:bodyPr>
          <a:lstStyle/>
          <a:p>
            <a:r>
              <a:rPr lang="en-US" b="1" dirty="0">
                <a:solidFill>
                  <a:schemeClr val="bg1"/>
                </a:solidFill>
              </a:rPr>
              <a:t>PROJECT RELATED TO ARTIFICIAL INTELLIGENCE</a:t>
            </a:r>
            <a:endParaRPr lang="ms-MY" b="1" dirty="0">
              <a:solidFill>
                <a:schemeClr val="bg1"/>
              </a:solidFill>
            </a:endParaRPr>
          </a:p>
        </p:txBody>
      </p:sp>
      <p:sp>
        <p:nvSpPr>
          <p:cNvPr id="6" name="TextBox 5"/>
          <p:cNvSpPr txBox="1"/>
          <p:nvPr/>
        </p:nvSpPr>
        <p:spPr>
          <a:xfrm>
            <a:off x="654448" y="6423130"/>
            <a:ext cx="10755085" cy="369332"/>
          </a:xfrm>
          <a:prstGeom prst="rect">
            <a:avLst/>
          </a:prstGeom>
          <a:noFill/>
        </p:spPr>
        <p:txBody>
          <a:bodyPr wrap="square" rtlCol="0">
            <a:spAutoFit/>
          </a:bodyPr>
          <a:lstStyle/>
          <a:p>
            <a:r>
              <a:rPr lang="en-US" b="1" dirty="0">
                <a:solidFill>
                  <a:schemeClr val="bg1"/>
                </a:solidFill>
              </a:rPr>
              <a:t>PROJECT RELATED TO ARTIFICIAL INTELLIGENCE - TQ</a:t>
            </a:r>
            <a:endParaRPr lang="ms-MY" b="1" dirty="0">
              <a:solidFill>
                <a:schemeClr val="bg1"/>
              </a:solidFill>
            </a:endParaRPr>
          </a:p>
        </p:txBody>
      </p:sp>
      <p:pic>
        <p:nvPicPr>
          <p:cNvPr id="2" name="Picture 1"/>
          <p:cNvPicPr>
            <a:picLocks noChangeAspect="1"/>
          </p:cNvPicPr>
          <p:nvPr/>
        </p:nvPicPr>
        <p:blipFill>
          <a:blip r:embed="rId3"/>
          <a:stretch>
            <a:fillRect/>
          </a:stretch>
        </p:blipFill>
        <p:spPr>
          <a:xfrm>
            <a:off x="1008185" y="621324"/>
            <a:ext cx="10081846" cy="5777466"/>
          </a:xfrm>
          <a:prstGeom prst="rect">
            <a:avLst/>
          </a:prstGeom>
        </p:spPr>
      </p:pic>
    </p:spTree>
    <p:extLst>
      <p:ext uri="{BB962C8B-B14F-4D97-AF65-F5344CB8AC3E}">
        <p14:creationId xmlns:p14="http://schemas.microsoft.com/office/powerpoint/2010/main" val="211889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repeatCount="indefinite"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5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150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xit" presetSubtype="8" repeatCount="indefinite" fill="hold" nodeType="withEffect">
                                  <p:stCondLst>
                                    <p:cond delay="500"/>
                                  </p:stCondLst>
                                  <p:childTnLst>
                                    <p:anim calcmode="lin" valueType="num">
                                      <p:cBhvr additive="base">
                                        <p:cTn id="10" dur="15000"/>
                                        <p:tgtEl>
                                          <p:spTgt spid="5">
                                            <p:txEl>
                                              <p:pRg st="0" end="0"/>
                                            </p:txEl>
                                          </p:spTgt>
                                        </p:tgtEl>
                                        <p:attrNameLst>
                                          <p:attrName>ppt_x</p:attrName>
                                        </p:attrNameLst>
                                      </p:cBhvr>
                                      <p:tavLst>
                                        <p:tav tm="0">
                                          <p:val>
                                            <p:strVal val="ppt_x"/>
                                          </p:val>
                                        </p:tav>
                                        <p:tav tm="100000">
                                          <p:val>
                                            <p:strVal val="0-ppt_w/2"/>
                                          </p:val>
                                        </p:tav>
                                      </p:tavLst>
                                    </p:anim>
                                    <p:anim calcmode="lin" valueType="num">
                                      <p:cBhvr additive="base">
                                        <p:cTn id="11" dur="15000"/>
                                        <p:tgtEl>
                                          <p:spTgt spid="5">
                                            <p:txEl>
                                              <p:pRg st="0" end="0"/>
                                            </p:txEl>
                                          </p:spTgt>
                                        </p:tgtEl>
                                        <p:attrNameLst>
                                          <p:attrName>ppt_y</p:attrName>
                                        </p:attrNameLst>
                                      </p:cBhvr>
                                      <p:tavLst>
                                        <p:tav tm="0">
                                          <p:val>
                                            <p:strVal val="ppt_y"/>
                                          </p:val>
                                        </p:tav>
                                        <p:tav tm="100000">
                                          <p:val>
                                            <p:strVal val="ppt_y"/>
                                          </p:val>
                                        </p:tav>
                                      </p:tavLst>
                                    </p:anim>
                                    <p:set>
                                      <p:cBhvr>
                                        <p:cTn id="12" dur="1" fill="hold">
                                          <p:stCondLst>
                                            <p:cond delay="14999"/>
                                          </p:stCondLst>
                                        </p:cTn>
                                        <p:tgtEl>
                                          <p:spTgt spid="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6423130"/>
            <a:ext cx="12192000" cy="41801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s-MY"/>
          </a:p>
        </p:txBody>
      </p:sp>
      <p:sp>
        <p:nvSpPr>
          <p:cNvPr id="5" name="TextBox 4"/>
          <p:cNvSpPr txBox="1"/>
          <p:nvPr/>
        </p:nvSpPr>
        <p:spPr>
          <a:xfrm>
            <a:off x="654448" y="6447469"/>
            <a:ext cx="10755085" cy="369332"/>
          </a:xfrm>
          <a:prstGeom prst="rect">
            <a:avLst/>
          </a:prstGeom>
          <a:noFill/>
        </p:spPr>
        <p:txBody>
          <a:bodyPr wrap="square" rtlCol="0">
            <a:spAutoFit/>
          </a:bodyPr>
          <a:lstStyle/>
          <a:p>
            <a:r>
              <a:rPr lang="en-US" b="1" dirty="0">
                <a:solidFill>
                  <a:schemeClr val="bg1"/>
                </a:solidFill>
              </a:rPr>
              <a:t>PROJECT RELATED TO ARTIFICIAL INTELLIGENCE</a:t>
            </a:r>
            <a:endParaRPr lang="ms-MY" b="1" dirty="0">
              <a:solidFill>
                <a:schemeClr val="bg1"/>
              </a:solidFill>
            </a:endParaRPr>
          </a:p>
        </p:txBody>
      </p:sp>
      <p:sp>
        <p:nvSpPr>
          <p:cNvPr id="6" name="TextBox 5"/>
          <p:cNvSpPr txBox="1"/>
          <p:nvPr/>
        </p:nvSpPr>
        <p:spPr>
          <a:xfrm>
            <a:off x="654448" y="6423130"/>
            <a:ext cx="10755085" cy="369332"/>
          </a:xfrm>
          <a:prstGeom prst="rect">
            <a:avLst/>
          </a:prstGeom>
          <a:noFill/>
        </p:spPr>
        <p:txBody>
          <a:bodyPr wrap="square" rtlCol="0">
            <a:spAutoFit/>
          </a:bodyPr>
          <a:lstStyle/>
          <a:p>
            <a:r>
              <a:rPr lang="en-US" b="1" dirty="0">
                <a:solidFill>
                  <a:schemeClr val="bg1"/>
                </a:solidFill>
              </a:rPr>
              <a:t>PROJECT RELATED TO ARTIFICIAL INTELLIGENCE - TQ</a:t>
            </a:r>
            <a:endParaRPr lang="ms-MY" b="1" dirty="0">
              <a:solidFill>
                <a:schemeClr val="bg1"/>
              </a:solidFill>
            </a:endParaRPr>
          </a:p>
        </p:txBody>
      </p:sp>
      <p:graphicFrame>
        <p:nvGraphicFramePr>
          <p:cNvPr id="2" name="Diagram 1"/>
          <p:cNvGraphicFramePr/>
          <p:nvPr>
            <p:extLst>
              <p:ext uri="{D42A27DB-BD31-4B8C-83A1-F6EECF244321}">
                <p14:modId xmlns:p14="http://schemas.microsoft.com/office/powerpoint/2010/main" val="2961714482"/>
              </p:ext>
            </p:extLst>
          </p:nvPr>
        </p:nvGraphicFramePr>
        <p:xfrm>
          <a:off x="2032000" y="980123"/>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p:cNvSpPr txBox="1"/>
          <p:nvPr/>
        </p:nvSpPr>
        <p:spPr>
          <a:xfrm>
            <a:off x="0" y="0"/>
            <a:ext cx="12192000" cy="461665"/>
          </a:xfrm>
          <a:prstGeom prst="rect">
            <a:avLst/>
          </a:prstGeom>
          <a:noFill/>
        </p:spPr>
        <p:txBody>
          <a:bodyPr wrap="square" rtlCol="0">
            <a:spAutoFit/>
          </a:bodyPr>
          <a:lstStyle/>
          <a:p>
            <a:pPr algn="ctr"/>
            <a:r>
              <a:rPr lang="en-US" sz="2400" b="1" dirty="0">
                <a:solidFill>
                  <a:schemeClr val="bg1"/>
                </a:solidFill>
              </a:rPr>
              <a:t>THE MOST IMPORTANT PART OF AI PROJECT IS “PLANNING &amp; COLLECTING”. WHY?</a:t>
            </a:r>
            <a:endParaRPr lang="ms-MY" sz="2400" b="1" dirty="0">
              <a:solidFill>
                <a:schemeClr val="bg1"/>
              </a:solidFill>
            </a:endParaRPr>
          </a:p>
        </p:txBody>
      </p:sp>
    </p:spTree>
    <p:extLst>
      <p:ext uri="{BB962C8B-B14F-4D97-AF65-F5344CB8AC3E}">
        <p14:creationId xmlns:p14="http://schemas.microsoft.com/office/powerpoint/2010/main" val="3568005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repeatCount="indefinite"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5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150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xit" presetSubtype="8" repeatCount="indefinite" fill="hold" nodeType="withEffect">
                                  <p:stCondLst>
                                    <p:cond delay="500"/>
                                  </p:stCondLst>
                                  <p:childTnLst>
                                    <p:anim calcmode="lin" valueType="num">
                                      <p:cBhvr additive="base">
                                        <p:cTn id="10" dur="15000"/>
                                        <p:tgtEl>
                                          <p:spTgt spid="5">
                                            <p:txEl>
                                              <p:pRg st="0" end="0"/>
                                            </p:txEl>
                                          </p:spTgt>
                                        </p:tgtEl>
                                        <p:attrNameLst>
                                          <p:attrName>ppt_x</p:attrName>
                                        </p:attrNameLst>
                                      </p:cBhvr>
                                      <p:tavLst>
                                        <p:tav tm="0">
                                          <p:val>
                                            <p:strVal val="ppt_x"/>
                                          </p:val>
                                        </p:tav>
                                        <p:tav tm="100000">
                                          <p:val>
                                            <p:strVal val="0-ppt_w/2"/>
                                          </p:val>
                                        </p:tav>
                                      </p:tavLst>
                                    </p:anim>
                                    <p:anim calcmode="lin" valueType="num">
                                      <p:cBhvr additive="base">
                                        <p:cTn id="11" dur="15000"/>
                                        <p:tgtEl>
                                          <p:spTgt spid="5">
                                            <p:txEl>
                                              <p:pRg st="0" end="0"/>
                                            </p:txEl>
                                          </p:spTgt>
                                        </p:tgtEl>
                                        <p:attrNameLst>
                                          <p:attrName>ppt_y</p:attrName>
                                        </p:attrNameLst>
                                      </p:cBhvr>
                                      <p:tavLst>
                                        <p:tav tm="0">
                                          <p:val>
                                            <p:strVal val="ppt_y"/>
                                          </p:val>
                                        </p:tav>
                                        <p:tav tm="100000">
                                          <p:val>
                                            <p:strVal val="ppt_y"/>
                                          </p:val>
                                        </p:tav>
                                      </p:tavLst>
                                    </p:anim>
                                    <p:set>
                                      <p:cBhvr>
                                        <p:cTn id="12" dur="1" fill="hold">
                                          <p:stCondLst>
                                            <p:cond delay="14999"/>
                                          </p:stCondLst>
                                        </p:cTn>
                                        <p:tgtEl>
                                          <p:spTgt spid="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6423130"/>
            <a:ext cx="12192000" cy="41801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s-MY"/>
          </a:p>
        </p:txBody>
      </p:sp>
      <p:sp>
        <p:nvSpPr>
          <p:cNvPr id="5" name="TextBox 4"/>
          <p:cNvSpPr txBox="1"/>
          <p:nvPr/>
        </p:nvSpPr>
        <p:spPr>
          <a:xfrm>
            <a:off x="654448" y="6447469"/>
            <a:ext cx="10755085" cy="369332"/>
          </a:xfrm>
          <a:prstGeom prst="rect">
            <a:avLst/>
          </a:prstGeom>
          <a:noFill/>
        </p:spPr>
        <p:txBody>
          <a:bodyPr wrap="square" rtlCol="0">
            <a:spAutoFit/>
          </a:bodyPr>
          <a:lstStyle/>
          <a:p>
            <a:r>
              <a:rPr lang="en-US" b="1" dirty="0">
                <a:solidFill>
                  <a:schemeClr val="bg1"/>
                </a:solidFill>
              </a:rPr>
              <a:t>PROJECT RELATED TO ARTIFICIAL INTELLIGENCE</a:t>
            </a:r>
            <a:endParaRPr lang="ms-MY" b="1" dirty="0">
              <a:solidFill>
                <a:schemeClr val="bg1"/>
              </a:solidFill>
            </a:endParaRPr>
          </a:p>
        </p:txBody>
      </p:sp>
      <p:sp>
        <p:nvSpPr>
          <p:cNvPr id="6" name="TextBox 5"/>
          <p:cNvSpPr txBox="1"/>
          <p:nvPr/>
        </p:nvSpPr>
        <p:spPr>
          <a:xfrm>
            <a:off x="654448" y="6423130"/>
            <a:ext cx="10755085" cy="369332"/>
          </a:xfrm>
          <a:prstGeom prst="rect">
            <a:avLst/>
          </a:prstGeom>
          <a:noFill/>
        </p:spPr>
        <p:txBody>
          <a:bodyPr wrap="square" rtlCol="0">
            <a:spAutoFit/>
          </a:bodyPr>
          <a:lstStyle/>
          <a:p>
            <a:r>
              <a:rPr lang="en-US" b="1" dirty="0">
                <a:solidFill>
                  <a:schemeClr val="bg1"/>
                </a:solidFill>
              </a:rPr>
              <a:t>PROJECT RELATED TO ARTIFICIAL INTELLIGENCE - TQ</a:t>
            </a:r>
            <a:endParaRPr lang="ms-MY" b="1" dirty="0">
              <a:solidFill>
                <a:schemeClr val="bg1"/>
              </a:solidFill>
            </a:endParaRPr>
          </a:p>
        </p:txBody>
      </p:sp>
      <p:sp>
        <p:nvSpPr>
          <p:cNvPr id="3" name="Rectangle 2"/>
          <p:cNvSpPr/>
          <p:nvPr/>
        </p:nvSpPr>
        <p:spPr>
          <a:xfrm>
            <a:off x="1817077" y="1007969"/>
            <a:ext cx="9143999" cy="5940088"/>
          </a:xfrm>
          <a:prstGeom prst="rect">
            <a:avLst/>
          </a:prstGeom>
        </p:spPr>
        <p:txBody>
          <a:bodyPr wrap="square">
            <a:spAutoFit/>
          </a:bodyPr>
          <a:lstStyle/>
          <a:p>
            <a:pPr>
              <a:lnSpc>
                <a:spcPts val="2400"/>
              </a:lnSpc>
              <a:spcAft>
                <a:spcPts val="2400"/>
              </a:spcAft>
            </a:pPr>
            <a:r>
              <a:rPr lang="ms-MY" sz="2400" dirty="0">
                <a:solidFill>
                  <a:srgbClr val="FF0000"/>
                </a:solidFill>
                <a:latin typeface="Arial" panose="020B0604020202020204" pitchFamily="34" charset="0"/>
                <a:ea typeface="Times New Roman" panose="02020603050405020304" pitchFamily="18" charset="0"/>
                <a:cs typeface="Times New Roman" panose="02020603050405020304" pitchFamily="18" charset="0"/>
              </a:rPr>
              <a:t>Think about the </a:t>
            </a:r>
            <a:r>
              <a:rPr lang="ms-MY" sz="2400" b="1" dirty="0">
                <a:solidFill>
                  <a:srgbClr val="FF0000"/>
                </a:solidFill>
                <a:latin typeface="Arial" panose="020B0604020202020204" pitchFamily="34" charset="0"/>
                <a:ea typeface="Times New Roman" panose="02020603050405020304" pitchFamily="18" charset="0"/>
                <a:cs typeface="Times New Roman" panose="02020603050405020304" pitchFamily="18" charset="0"/>
              </a:rPr>
              <a:t>motivation</a:t>
            </a:r>
            <a:r>
              <a:rPr lang="ms-MY" sz="2400" dirty="0">
                <a:solidFill>
                  <a:srgbClr val="FF0000"/>
                </a:solidFill>
                <a:latin typeface="Arial" panose="020B0604020202020204" pitchFamily="34" charset="0"/>
                <a:ea typeface="Times New Roman" panose="02020603050405020304" pitchFamily="18" charset="0"/>
                <a:cs typeface="Times New Roman" panose="02020603050405020304" pitchFamily="18" charset="0"/>
              </a:rPr>
              <a:t> for your future cognitive model. </a:t>
            </a:r>
          </a:p>
          <a:p>
            <a:pPr>
              <a:lnSpc>
                <a:spcPts val="2400"/>
              </a:lnSpc>
              <a:spcAft>
                <a:spcPts val="2400"/>
              </a:spcAft>
            </a:pPr>
            <a:endParaRPr lang="ms-MY" dirty="0">
              <a:solidFill>
                <a:schemeClr val="bg1"/>
              </a:solidFill>
              <a:latin typeface="Arial" panose="020B0604020202020204" pitchFamily="34" charset="0"/>
              <a:ea typeface="Times New Roman" panose="02020603050405020304" pitchFamily="18" charset="0"/>
              <a:cs typeface="Times New Roman" panose="02020603050405020304" pitchFamily="18" charset="0"/>
            </a:endParaRPr>
          </a:p>
          <a:p>
            <a:pPr>
              <a:lnSpc>
                <a:spcPts val="2400"/>
              </a:lnSpc>
              <a:spcAft>
                <a:spcPts val="2400"/>
              </a:spcAft>
            </a:pPr>
            <a:r>
              <a:rPr lang="ms-MY" sz="2000" b="1" dirty="0">
                <a:solidFill>
                  <a:schemeClr val="accent6">
                    <a:lumMod val="75000"/>
                  </a:schemeClr>
                </a:solidFill>
                <a:latin typeface="Arial" panose="020B0604020202020204" pitchFamily="34" charset="0"/>
                <a:ea typeface="Times New Roman" panose="02020603050405020304" pitchFamily="18" charset="0"/>
                <a:cs typeface="Times New Roman" panose="02020603050405020304" pitchFamily="18" charset="0"/>
              </a:rPr>
              <a:t>Is there a problem it can solve? </a:t>
            </a:r>
          </a:p>
          <a:p>
            <a:pPr>
              <a:lnSpc>
                <a:spcPts val="2400"/>
              </a:lnSpc>
              <a:spcAft>
                <a:spcPts val="2400"/>
              </a:spcAft>
            </a:pPr>
            <a:r>
              <a:rPr lang="ms-MY" sz="2000" b="1" dirty="0">
                <a:solidFill>
                  <a:schemeClr val="accent6">
                    <a:lumMod val="75000"/>
                  </a:schemeClr>
                </a:solidFill>
                <a:latin typeface="Arial" panose="020B0604020202020204" pitchFamily="34" charset="0"/>
                <a:ea typeface="Times New Roman" panose="02020603050405020304" pitchFamily="18" charset="0"/>
                <a:cs typeface="Times New Roman" panose="02020603050405020304" pitchFamily="18" charset="0"/>
              </a:rPr>
              <a:t>Is there a lack of efficiency? </a:t>
            </a:r>
          </a:p>
          <a:p>
            <a:pPr>
              <a:lnSpc>
                <a:spcPts val="2400"/>
              </a:lnSpc>
              <a:spcAft>
                <a:spcPts val="2400"/>
              </a:spcAft>
            </a:pPr>
            <a:r>
              <a:rPr lang="ms-MY" sz="2000" dirty="0">
                <a:solidFill>
                  <a:schemeClr val="bg1"/>
                </a:solidFill>
                <a:latin typeface="Arial" panose="020B0604020202020204" pitchFamily="34" charset="0"/>
                <a:ea typeface="Times New Roman" panose="02020603050405020304" pitchFamily="18" charset="0"/>
                <a:cs typeface="Times New Roman" panose="02020603050405020304" pitchFamily="18" charset="0"/>
              </a:rPr>
              <a:t>Or perhaps a process it can automate, so your employees can focus on more value-adding tasks?</a:t>
            </a:r>
          </a:p>
          <a:p>
            <a:pPr>
              <a:lnSpc>
                <a:spcPts val="2400"/>
              </a:lnSpc>
              <a:spcAft>
                <a:spcPts val="2400"/>
              </a:spcAft>
            </a:pPr>
            <a:r>
              <a:rPr lang="ms-MY" sz="2000" dirty="0">
                <a:solidFill>
                  <a:schemeClr val="bg1"/>
                </a:solidFill>
                <a:latin typeface="Arial" panose="020B0604020202020204" pitchFamily="34" charset="0"/>
                <a:ea typeface="Times New Roman" panose="02020603050405020304" pitchFamily="18" charset="0"/>
                <a:cs typeface="Times New Roman" panose="02020603050405020304" pitchFamily="18" charset="0"/>
              </a:rPr>
              <a:t>Do you need a chatbot capable of mimicking emotion or a facial recognition model, or maybe an attendance monitoring system?</a:t>
            </a:r>
          </a:p>
          <a:p>
            <a:pPr>
              <a:lnSpc>
                <a:spcPts val="2400"/>
              </a:lnSpc>
              <a:spcAft>
                <a:spcPts val="2400"/>
              </a:spcAft>
            </a:pPr>
            <a:r>
              <a:rPr lang="ms-MY" sz="2400" dirty="0">
                <a:solidFill>
                  <a:schemeClr val="bg1"/>
                </a:solidFill>
              </a:rPr>
              <a:t>Look for the relevant, real-life use cases that your artificial intelligence project will address. Collect complaints from the users and observations from the employees</a:t>
            </a:r>
            <a:endParaRPr lang="ms-MY" sz="2400" dirty="0">
              <a:solidFill>
                <a:schemeClr val="bg1"/>
              </a:solidFill>
              <a:latin typeface="Arial" panose="020B0604020202020204" pitchFamily="34" charset="0"/>
              <a:ea typeface="Times New Roman" panose="02020603050405020304" pitchFamily="18" charset="0"/>
              <a:cs typeface="Times New Roman" panose="02020603050405020304" pitchFamily="18" charset="0"/>
            </a:endParaRPr>
          </a:p>
          <a:p>
            <a:pPr>
              <a:lnSpc>
                <a:spcPts val="2400"/>
              </a:lnSpc>
              <a:spcAft>
                <a:spcPts val="2400"/>
              </a:spcAft>
            </a:pPr>
            <a:endParaRPr lang="ms-MY" sz="20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p:cNvSpPr txBox="1"/>
          <p:nvPr/>
        </p:nvSpPr>
        <p:spPr>
          <a:xfrm>
            <a:off x="128954" y="93785"/>
            <a:ext cx="3575538" cy="523220"/>
          </a:xfrm>
          <a:prstGeom prst="rect">
            <a:avLst/>
          </a:prstGeom>
          <a:noFill/>
        </p:spPr>
        <p:txBody>
          <a:bodyPr wrap="square" rtlCol="0">
            <a:spAutoFit/>
          </a:bodyPr>
          <a:lstStyle/>
          <a:p>
            <a:r>
              <a:rPr lang="en-US" sz="2800" b="1" dirty="0">
                <a:solidFill>
                  <a:srgbClr val="FFFF00"/>
                </a:solidFill>
              </a:rPr>
              <a:t>PROBLEM DEFINITION</a:t>
            </a:r>
            <a:endParaRPr lang="ms-MY" sz="2800" b="1" dirty="0">
              <a:solidFill>
                <a:srgbClr val="FFFF00"/>
              </a:solidFill>
            </a:endParaRPr>
          </a:p>
        </p:txBody>
      </p:sp>
    </p:spTree>
    <p:extLst>
      <p:ext uri="{BB962C8B-B14F-4D97-AF65-F5344CB8AC3E}">
        <p14:creationId xmlns:p14="http://schemas.microsoft.com/office/powerpoint/2010/main" val="659442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repeatCount="indefinite"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5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150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xit" presetSubtype="8" repeatCount="indefinite" fill="hold" nodeType="withEffect">
                                  <p:stCondLst>
                                    <p:cond delay="500"/>
                                  </p:stCondLst>
                                  <p:childTnLst>
                                    <p:anim calcmode="lin" valueType="num">
                                      <p:cBhvr additive="base">
                                        <p:cTn id="10" dur="15000"/>
                                        <p:tgtEl>
                                          <p:spTgt spid="5">
                                            <p:txEl>
                                              <p:pRg st="0" end="0"/>
                                            </p:txEl>
                                          </p:spTgt>
                                        </p:tgtEl>
                                        <p:attrNameLst>
                                          <p:attrName>ppt_x</p:attrName>
                                        </p:attrNameLst>
                                      </p:cBhvr>
                                      <p:tavLst>
                                        <p:tav tm="0">
                                          <p:val>
                                            <p:strVal val="ppt_x"/>
                                          </p:val>
                                        </p:tav>
                                        <p:tav tm="100000">
                                          <p:val>
                                            <p:strVal val="0-ppt_w/2"/>
                                          </p:val>
                                        </p:tav>
                                      </p:tavLst>
                                    </p:anim>
                                    <p:anim calcmode="lin" valueType="num">
                                      <p:cBhvr additive="base">
                                        <p:cTn id="11" dur="15000"/>
                                        <p:tgtEl>
                                          <p:spTgt spid="5">
                                            <p:txEl>
                                              <p:pRg st="0" end="0"/>
                                            </p:txEl>
                                          </p:spTgt>
                                        </p:tgtEl>
                                        <p:attrNameLst>
                                          <p:attrName>ppt_y</p:attrName>
                                        </p:attrNameLst>
                                      </p:cBhvr>
                                      <p:tavLst>
                                        <p:tav tm="0">
                                          <p:val>
                                            <p:strVal val="ppt_y"/>
                                          </p:val>
                                        </p:tav>
                                        <p:tav tm="100000">
                                          <p:val>
                                            <p:strVal val="ppt_y"/>
                                          </p:val>
                                        </p:tav>
                                      </p:tavLst>
                                    </p:anim>
                                    <p:set>
                                      <p:cBhvr>
                                        <p:cTn id="12" dur="1" fill="hold">
                                          <p:stCondLst>
                                            <p:cond delay="14999"/>
                                          </p:stCondLst>
                                        </p:cTn>
                                        <p:tgtEl>
                                          <p:spTgt spid="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6423130"/>
            <a:ext cx="12192000" cy="41801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s-MY"/>
          </a:p>
        </p:txBody>
      </p:sp>
      <p:sp>
        <p:nvSpPr>
          <p:cNvPr id="5" name="TextBox 4"/>
          <p:cNvSpPr txBox="1"/>
          <p:nvPr/>
        </p:nvSpPr>
        <p:spPr>
          <a:xfrm>
            <a:off x="654448" y="6447469"/>
            <a:ext cx="10755085" cy="369332"/>
          </a:xfrm>
          <a:prstGeom prst="rect">
            <a:avLst/>
          </a:prstGeom>
          <a:noFill/>
        </p:spPr>
        <p:txBody>
          <a:bodyPr wrap="square" rtlCol="0">
            <a:spAutoFit/>
          </a:bodyPr>
          <a:lstStyle/>
          <a:p>
            <a:r>
              <a:rPr lang="en-US" b="1" dirty="0">
                <a:solidFill>
                  <a:schemeClr val="bg1"/>
                </a:solidFill>
              </a:rPr>
              <a:t>PROJECT RELATED TO ARTIFICIAL INTELLIGENCE</a:t>
            </a:r>
            <a:endParaRPr lang="ms-MY" b="1" dirty="0">
              <a:solidFill>
                <a:schemeClr val="bg1"/>
              </a:solidFill>
            </a:endParaRPr>
          </a:p>
        </p:txBody>
      </p:sp>
      <p:sp>
        <p:nvSpPr>
          <p:cNvPr id="6" name="TextBox 5"/>
          <p:cNvSpPr txBox="1"/>
          <p:nvPr/>
        </p:nvSpPr>
        <p:spPr>
          <a:xfrm>
            <a:off x="654448" y="6423130"/>
            <a:ext cx="10755085" cy="369332"/>
          </a:xfrm>
          <a:prstGeom prst="rect">
            <a:avLst/>
          </a:prstGeom>
          <a:noFill/>
        </p:spPr>
        <p:txBody>
          <a:bodyPr wrap="square" rtlCol="0">
            <a:spAutoFit/>
          </a:bodyPr>
          <a:lstStyle/>
          <a:p>
            <a:r>
              <a:rPr lang="en-US" b="1" dirty="0">
                <a:solidFill>
                  <a:schemeClr val="bg1"/>
                </a:solidFill>
              </a:rPr>
              <a:t>PROJECT RELATED TO ARTIFICIAL INTELLIGENCE - TQ</a:t>
            </a:r>
            <a:endParaRPr lang="ms-MY" b="1" dirty="0">
              <a:solidFill>
                <a:schemeClr val="bg1"/>
              </a:solidFill>
            </a:endParaRPr>
          </a:p>
        </p:txBody>
      </p:sp>
      <p:sp>
        <p:nvSpPr>
          <p:cNvPr id="2" name="TextBox 1"/>
          <p:cNvSpPr txBox="1"/>
          <p:nvPr/>
        </p:nvSpPr>
        <p:spPr>
          <a:xfrm>
            <a:off x="93785" y="93785"/>
            <a:ext cx="4056184" cy="523220"/>
          </a:xfrm>
          <a:prstGeom prst="rect">
            <a:avLst/>
          </a:prstGeom>
          <a:noFill/>
        </p:spPr>
        <p:txBody>
          <a:bodyPr wrap="square" rtlCol="0">
            <a:spAutoFit/>
          </a:bodyPr>
          <a:lstStyle/>
          <a:p>
            <a:r>
              <a:rPr lang="en-US" sz="2800" b="1" dirty="0">
                <a:solidFill>
                  <a:srgbClr val="FFFF00"/>
                </a:solidFill>
              </a:rPr>
              <a:t>PROJECT MOTIVATION</a:t>
            </a:r>
            <a:endParaRPr lang="ms-MY" sz="2800" b="1" dirty="0">
              <a:solidFill>
                <a:srgbClr val="FFFF00"/>
              </a:solidFill>
            </a:endParaRPr>
          </a:p>
        </p:txBody>
      </p:sp>
      <p:sp>
        <p:nvSpPr>
          <p:cNvPr id="3" name="TextBox 2"/>
          <p:cNvSpPr txBox="1"/>
          <p:nvPr/>
        </p:nvSpPr>
        <p:spPr>
          <a:xfrm>
            <a:off x="363415" y="3868615"/>
            <a:ext cx="11629293" cy="523220"/>
          </a:xfrm>
          <a:prstGeom prst="rect">
            <a:avLst/>
          </a:prstGeom>
          <a:noFill/>
        </p:spPr>
        <p:txBody>
          <a:bodyPr wrap="square" rtlCol="0">
            <a:spAutoFit/>
          </a:bodyPr>
          <a:lstStyle/>
          <a:p>
            <a:r>
              <a:rPr lang="en-US" sz="2800" dirty="0">
                <a:solidFill>
                  <a:schemeClr val="bg1"/>
                </a:solidFill>
              </a:rPr>
              <a:t>You can use reference from good journals, website or any types of publications</a:t>
            </a:r>
            <a:endParaRPr lang="ms-MY" sz="2800" dirty="0">
              <a:solidFill>
                <a:schemeClr val="bg1"/>
              </a:solidFill>
            </a:endParaRPr>
          </a:p>
        </p:txBody>
      </p:sp>
      <p:sp>
        <p:nvSpPr>
          <p:cNvPr id="7" name="TextBox 6"/>
          <p:cNvSpPr txBox="1"/>
          <p:nvPr/>
        </p:nvSpPr>
        <p:spPr>
          <a:xfrm>
            <a:off x="738554" y="4689231"/>
            <a:ext cx="10670979" cy="1569660"/>
          </a:xfrm>
          <a:prstGeom prst="rect">
            <a:avLst/>
          </a:prstGeom>
          <a:noFill/>
        </p:spPr>
        <p:txBody>
          <a:bodyPr wrap="square" rtlCol="0">
            <a:spAutoFit/>
          </a:bodyPr>
          <a:lstStyle/>
          <a:p>
            <a:r>
              <a:rPr lang="en-US" sz="2400" dirty="0">
                <a:solidFill>
                  <a:schemeClr val="bg1"/>
                </a:solidFill>
              </a:rPr>
              <a:t>For example: If you are working on time series data, then find a few journals related to times series with ML approach.</a:t>
            </a:r>
          </a:p>
          <a:p>
            <a:r>
              <a:rPr lang="en-US" sz="2400" dirty="0">
                <a:solidFill>
                  <a:schemeClr val="bg1"/>
                </a:solidFill>
              </a:rPr>
              <a:t>If you are working on medical images, then find a few journals related to medical images with ML approach.</a:t>
            </a:r>
            <a:endParaRPr lang="ms-MY" sz="2400" dirty="0">
              <a:solidFill>
                <a:schemeClr val="bg1"/>
              </a:solidFill>
            </a:endParaRPr>
          </a:p>
        </p:txBody>
      </p:sp>
    </p:spTree>
    <p:extLst>
      <p:ext uri="{BB962C8B-B14F-4D97-AF65-F5344CB8AC3E}">
        <p14:creationId xmlns:p14="http://schemas.microsoft.com/office/powerpoint/2010/main" val="1150856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repeatCount="indefinite"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5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150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xit" presetSubtype="8" repeatCount="indefinite" fill="hold" nodeType="withEffect">
                                  <p:stCondLst>
                                    <p:cond delay="500"/>
                                  </p:stCondLst>
                                  <p:childTnLst>
                                    <p:anim calcmode="lin" valueType="num">
                                      <p:cBhvr additive="base">
                                        <p:cTn id="10" dur="15000"/>
                                        <p:tgtEl>
                                          <p:spTgt spid="5">
                                            <p:txEl>
                                              <p:pRg st="0" end="0"/>
                                            </p:txEl>
                                          </p:spTgt>
                                        </p:tgtEl>
                                        <p:attrNameLst>
                                          <p:attrName>ppt_x</p:attrName>
                                        </p:attrNameLst>
                                      </p:cBhvr>
                                      <p:tavLst>
                                        <p:tav tm="0">
                                          <p:val>
                                            <p:strVal val="ppt_x"/>
                                          </p:val>
                                        </p:tav>
                                        <p:tav tm="100000">
                                          <p:val>
                                            <p:strVal val="0-ppt_w/2"/>
                                          </p:val>
                                        </p:tav>
                                      </p:tavLst>
                                    </p:anim>
                                    <p:anim calcmode="lin" valueType="num">
                                      <p:cBhvr additive="base">
                                        <p:cTn id="11" dur="15000"/>
                                        <p:tgtEl>
                                          <p:spTgt spid="5">
                                            <p:txEl>
                                              <p:pRg st="0" end="0"/>
                                            </p:txEl>
                                          </p:spTgt>
                                        </p:tgtEl>
                                        <p:attrNameLst>
                                          <p:attrName>ppt_y</p:attrName>
                                        </p:attrNameLst>
                                      </p:cBhvr>
                                      <p:tavLst>
                                        <p:tav tm="0">
                                          <p:val>
                                            <p:strVal val="ppt_y"/>
                                          </p:val>
                                        </p:tav>
                                        <p:tav tm="100000">
                                          <p:val>
                                            <p:strVal val="ppt_y"/>
                                          </p:val>
                                        </p:tav>
                                      </p:tavLst>
                                    </p:anim>
                                    <p:set>
                                      <p:cBhvr>
                                        <p:cTn id="12" dur="1" fill="hold">
                                          <p:stCondLst>
                                            <p:cond delay="14999"/>
                                          </p:stCondLst>
                                        </p:cTn>
                                        <p:tgtEl>
                                          <p:spTgt spid="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6423130"/>
            <a:ext cx="12192000" cy="41801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s-MY"/>
          </a:p>
        </p:txBody>
      </p:sp>
      <p:sp>
        <p:nvSpPr>
          <p:cNvPr id="5" name="TextBox 4"/>
          <p:cNvSpPr txBox="1"/>
          <p:nvPr/>
        </p:nvSpPr>
        <p:spPr>
          <a:xfrm>
            <a:off x="654448" y="6447469"/>
            <a:ext cx="10755085" cy="369332"/>
          </a:xfrm>
          <a:prstGeom prst="rect">
            <a:avLst/>
          </a:prstGeom>
          <a:noFill/>
        </p:spPr>
        <p:txBody>
          <a:bodyPr wrap="square" rtlCol="0">
            <a:spAutoFit/>
          </a:bodyPr>
          <a:lstStyle/>
          <a:p>
            <a:r>
              <a:rPr lang="en-US" b="1" dirty="0">
                <a:solidFill>
                  <a:schemeClr val="bg1"/>
                </a:solidFill>
              </a:rPr>
              <a:t>PROJECT RELATED TO ARTIFICIAL INTELLIGENCE</a:t>
            </a:r>
            <a:endParaRPr lang="ms-MY" b="1" dirty="0">
              <a:solidFill>
                <a:schemeClr val="bg1"/>
              </a:solidFill>
            </a:endParaRPr>
          </a:p>
        </p:txBody>
      </p:sp>
      <p:sp>
        <p:nvSpPr>
          <p:cNvPr id="6" name="TextBox 5"/>
          <p:cNvSpPr txBox="1"/>
          <p:nvPr/>
        </p:nvSpPr>
        <p:spPr>
          <a:xfrm>
            <a:off x="654448" y="6423130"/>
            <a:ext cx="10755085" cy="369332"/>
          </a:xfrm>
          <a:prstGeom prst="rect">
            <a:avLst/>
          </a:prstGeom>
          <a:noFill/>
        </p:spPr>
        <p:txBody>
          <a:bodyPr wrap="square" rtlCol="0">
            <a:spAutoFit/>
          </a:bodyPr>
          <a:lstStyle/>
          <a:p>
            <a:r>
              <a:rPr lang="en-US" b="1" dirty="0">
                <a:solidFill>
                  <a:schemeClr val="bg1"/>
                </a:solidFill>
              </a:rPr>
              <a:t>PROJECT RELATED TO ARTIFICIAL INTELLIGENCE - TQ</a:t>
            </a:r>
            <a:endParaRPr lang="ms-MY" b="1" dirty="0">
              <a:solidFill>
                <a:schemeClr val="bg1"/>
              </a:solidFill>
            </a:endParaRPr>
          </a:p>
        </p:txBody>
      </p:sp>
      <p:sp>
        <p:nvSpPr>
          <p:cNvPr id="2" name="Rectangle 1"/>
          <p:cNvSpPr/>
          <p:nvPr/>
        </p:nvSpPr>
        <p:spPr>
          <a:xfrm>
            <a:off x="301819" y="523220"/>
            <a:ext cx="11781693" cy="7175490"/>
          </a:xfrm>
          <a:prstGeom prst="rect">
            <a:avLst/>
          </a:prstGeom>
        </p:spPr>
        <p:txBody>
          <a:bodyPr wrap="square">
            <a:spAutoFit/>
          </a:bodyPr>
          <a:lstStyle/>
          <a:p>
            <a:pPr>
              <a:lnSpc>
                <a:spcPts val="2400"/>
              </a:lnSpc>
              <a:spcAft>
                <a:spcPts val="2400"/>
              </a:spcAft>
            </a:pPr>
            <a:r>
              <a:rPr lang="ms-MY" sz="2400" dirty="0">
                <a:solidFill>
                  <a:srgbClr val="FFFF00"/>
                </a:solidFill>
                <a:latin typeface="Arial" panose="020B0604020202020204" pitchFamily="34" charset="0"/>
                <a:ea typeface="Times New Roman" panose="02020603050405020304" pitchFamily="18" charset="0"/>
                <a:cs typeface="Times New Roman" panose="02020603050405020304" pitchFamily="18" charset="0"/>
              </a:rPr>
              <a:t>Understanding what data your AI project requires is paramount. This is where the "garbage in, garbage out" principle plays out: if the data you collect is low-quality or insufficient, your ML model will not work most of the time.</a:t>
            </a:r>
          </a:p>
          <a:p>
            <a:pPr>
              <a:lnSpc>
                <a:spcPts val="2400"/>
              </a:lnSpc>
              <a:spcAft>
                <a:spcPts val="2400"/>
              </a:spcAft>
            </a:pPr>
            <a:r>
              <a:rPr lang="en-US" dirty="0">
                <a:solidFill>
                  <a:schemeClr val="bg1"/>
                </a:solidFill>
                <a:latin typeface="Arial" panose="020B0604020202020204" pitchFamily="34" charset="0"/>
                <a:ea typeface="Times New Roman" panose="02020603050405020304" pitchFamily="18" charset="0"/>
                <a:cs typeface="Times New Roman" panose="02020603050405020304" pitchFamily="18" charset="0"/>
              </a:rPr>
              <a:t>1)Big (the more, the better)                                                                                </a:t>
            </a:r>
          </a:p>
          <a:p>
            <a:pPr>
              <a:lnSpc>
                <a:spcPts val="2400"/>
              </a:lnSpc>
              <a:spcAft>
                <a:spcPts val="2400"/>
              </a:spcAft>
            </a:pPr>
            <a:r>
              <a:rPr lang="en-US" dirty="0">
                <a:solidFill>
                  <a:schemeClr val="bg1"/>
                </a:solidFill>
                <a:latin typeface="Arial" panose="020B0604020202020204" pitchFamily="34" charset="0"/>
                <a:ea typeface="Times New Roman" panose="02020603050405020304" pitchFamily="18" charset="0"/>
                <a:cs typeface="Times New Roman" panose="02020603050405020304" pitchFamily="18" charset="0"/>
              </a:rPr>
              <a:t>2) Relevant (matches the problem)</a:t>
            </a:r>
          </a:p>
          <a:p>
            <a:pPr>
              <a:lnSpc>
                <a:spcPts val="2400"/>
              </a:lnSpc>
              <a:spcAft>
                <a:spcPts val="2400"/>
              </a:spcAft>
            </a:pPr>
            <a:endParaRPr lang="en-US" dirty="0">
              <a:solidFill>
                <a:schemeClr val="bg1"/>
              </a:solidFill>
              <a:latin typeface="Arial" panose="020B0604020202020204" pitchFamily="34" charset="0"/>
              <a:ea typeface="Times New Roman" panose="02020603050405020304" pitchFamily="18" charset="0"/>
              <a:cs typeface="Times New Roman" panose="02020603050405020304" pitchFamily="18" charset="0"/>
            </a:endParaRPr>
          </a:p>
          <a:p>
            <a:pPr>
              <a:lnSpc>
                <a:spcPts val="2400"/>
              </a:lnSpc>
              <a:spcAft>
                <a:spcPts val="2400"/>
              </a:spcAft>
            </a:pPr>
            <a:r>
              <a:rPr lang="en-US" dirty="0">
                <a:solidFill>
                  <a:schemeClr val="bg1"/>
                </a:solidFill>
                <a:latin typeface="Arial" panose="020B0604020202020204" pitchFamily="34" charset="0"/>
                <a:ea typeface="Times New Roman" panose="02020603050405020304" pitchFamily="18" charset="0"/>
                <a:cs typeface="Times New Roman" panose="02020603050405020304" pitchFamily="18" charset="0"/>
              </a:rPr>
              <a:t>3) High-quality (credible/reliable, real, and well-structured) -  do data quality report &amp;  discuss with expert 		</a:t>
            </a:r>
            <a:endParaRPr lang="ms-MY" dirty="0">
              <a:solidFill>
                <a:schemeClr val="bg1"/>
              </a:solidFill>
              <a:latin typeface="Arial" panose="020B0604020202020204" pitchFamily="34" charset="0"/>
              <a:ea typeface="Times New Roman" panose="02020603050405020304" pitchFamily="18" charset="0"/>
              <a:cs typeface="Times New Roman" panose="02020603050405020304" pitchFamily="18" charset="0"/>
            </a:endParaRPr>
          </a:p>
          <a:p>
            <a:pPr>
              <a:lnSpc>
                <a:spcPts val="2400"/>
              </a:lnSpc>
              <a:spcAft>
                <a:spcPts val="2400"/>
              </a:spcAft>
            </a:pPr>
            <a:r>
              <a:rPr lang="en-US"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Where to get data: (</a:t>
            </a:r>
            <a:r>
              <a:rPr lang="en-US"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i</a:t>
            </a:r>
            <a:r>
              <a:rPr lang="en-US"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Internal sources; </a:t>
            </a:r>
            <a:r>
              <a:rPr lang="en-US" dirty="0">
                <a:solidFill>
                  <a:schemeClr val="bg1"/>
                </a:solidFill>
              </a:rPr>
              <a:t>data that exists and is stored inside your organization</a:t>
            </a:r>
            <a:r>
              <a:rPr lang="en-US" dirty="0">
                <a:solidFill>
                  <a:schemeClr val="bg1"/>
                </a:solidFill>
                <a:effectLst/>
                <a:ea typeface="Calibri" panose="020F0502020204030204" pitchFamily="34" charset="0"/>
                <a:cs typeface="Times New Roman" panose="02020603050405020304" pitchFamily="18" charset="0"/>
              </a:rPr>
              <a:t>     </a:t>
            </a:r>
          </a:p>
          <a:p>
            <a:pPr>
              <a:lnSpc>
                <a:spcPts val="2400"/>
              </a:lnSpc>
              <a:spcAft>
                <a:spcPts val="2400"/>
              </a:spcAft>
            </a:pPr>
            <a:r>
              <a:rPr lang="en-US" dirty="0">
                <a:solidFill>
                  <a:schemeClr val="bg1"/>
                </a:solidFill>
                <a:latin typeface="Calibri" panose="020F0502020204030204" pitchFamily="34" charset="0"/>
                <a:ea typeface="Calibri" panose="020F0502020204030204" pitchFamily="34" charset="0"/>
                <a:cs typeface="Times New Roman" panose="02020603050405020304" pitchFamily="18" charset="0"/>
              </a:rPr>
              <a:t>                                 </a:t>
            </a:r>
            <a:r>
              <a:rPr lang="en-US"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(ii) External sources : a) primary data (example: self- collected data); </a:t>
            </a:r>
            <a:r>
              <a:rPr lang="en-US" dirty="0">
                <a:solidFill>
                  <a:schemeClr val="bg1"/>
                </a:solidFill>
                <a:latin typeface="Calibri" panose="020F0502020204030204" pitchFamily="34" charset="0"/>
                <a:ea typeface="Calibri" panose="020F0502020204030204" pitchFamily="34" charset="0"/>
                <a:cs typeface="Times New Roman" panose="02020603050405020304" pitchFamily="18" charset="0"/>
              </a:rPr>
              <a:t> </a:t>
            </a:r>
          </a:p>
          <a:p>
            <a:pPr>
              <a:lnSpc>
                <a:spcPts val="2400"/>
              </a:lnSpc>
              <a:spcAft>
                <a:spcPts val="2400"/>
              </a:spcAft>
            </a:pPr>
            <a:r>
              <a:rPr lang="en-US" dirty="0">
                <a:solidFill>
                  <a:schemeClr val="bg1"/>
                </a:solidFill>
                <a:latin typeface="Calibri" panose="020F0502020204030204" pitchFamily="34" charset="0"/>
                <a:ea typeface="Calibri" panose="020F0502020204030204" pitchFamily="34" charset="0"/>
                <a:cs typeface="Times New Roman" panose="02020603050405020304" pitchFamily="18" charset="0"/>
              </a:rPr>
              <a:t>				   b) secondary data (periodicals such as journals, newspapers, Government 					      publications and  reports)</a:t>
            </a:r>
          </a:p>
          <a:p>
            <a:pPr>
              <a:lnSpc>
                <a:spcPts val="2400"/>
              </a:lnSpc>
              <a:spcAft>
                <a:spcPts val="2400"/>
              </a:spcAft>
            </a:pPr>
            <a:r>
              <a:rPr lang="en-US" sz="2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p>
          <a:p>
            <a:pPr>
              <a:lnSpc>
                <a:spcPts val="2400"/>
              </a:lnSpc>
              <a:spcAft>
                <a:spcPts val="2400"/>
              </a:spcAft>
            </a:pPr>
            <a:r>
              <a:rPr lang="en-US" sz="2400" dirty="0">
                <a:solidFill>
                  <a:schemeClr val="bg1"/>
                </a:solidFill>
                <a:latin typeface="Calibri" panose="020F0502020204030204" pitchFamily="34" charset="0"/>
                <a:ea typeface="Calibri" panose="020F0502020204030204" pitchFamily="34" charset="0"/>
                <a:cs typeface="Times New Roman" panose="02020603050405020304" pitchFamily="18" charset="0"/>
              </a:rPr>
              <a:t>						</a:t>
            </a:r>
            <a:endParaRPr lang="ms-MY" sz="2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p:cNvSpPr txBox="1"/>
          <p:nvPr/>
        </p:nvSpPr>
        <p:spPr>
          <a:xfrm>
            <a:off x="0" y="0"/>
            <a:ext cx="3833446" cy="523220"/>
          </a:xfrm>
          <a:prstGeom prst="rect">
            <a:avLst/>
          </a:prstGeom>
          <a:noFill/>
        </p:spPr>
        <p:txBody>
          <a:bodyPr wrap="square" rtlCol="0">
            <a:spAutoFit/>
          </a:bodyPr>
          <a:lstStyle/>
          <a:p>
            <a:r>
              <a:rPr lang="en-US" sz="2800" b="1" dirty="0">
                <a:solidFill>
                  <a:srgbClr val="FFFF00"/>
                </a:solidFill>
              </a:rPr>
              <a:t>DATA COLLECTION</a:t>
            </a:r>
            <a:endParaRPr lang="ms-MY" sz="2800" b="1" dirty="0">
              <a:solidFill>
                <a:srgbClr val="FFFF00"/>
              </a:solidFill>
            </a:endParaRPr>
          </a:p>
        </p:txBody>
      </p:sp>
    </p:spTree>
    <p:extLst>
      <p:ext uri="{BB962C8B-B14F-4D97-AF65-F5344CB8AC3E}">
        <p14:creationId xmlns:p14="http://schemas.microsoft.com/office/powerpoint/2010/main" val="3963599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repeatCount="indefinite"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5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150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xit" presetSubtype="8" repeatCount="indefinite" fill="hold" nodeType="withEffect">
                                  <p:stCondLst>
                                    <p:cond delay="500"/>
                                  </p:stCondLst>
                                  <p:childTnLst>
                                    <p:anim calcmode="lin" valueType="num">
                                      <p:cBhvr additive="base">
                                        <p:cTn id="10" dur="15000"/>
                                        <p:tgtEl>
                                          <p:spTgt spid="5">
                                            <p:txEl>
                                              <p:pRg st="0" end="0"/>
                                            </p:txEl>
                                          </p:spTgt>
                                        </p:tgtEl>
                                        <p:attrNameLst>
                                          <p:attrName>ppt_x</p:attrName>
                                        </p:attrNameLst>
                                      </p:cBhvr>
                                      <p:tavLst>
                                        <p:tav tm="0">
                                          <p:val>
                                            <p:strVal val="ppt_x"/>
                                          </p:val>
                                        </p:tav>
                                        <p:tav tm="100000">
                                          <p:val>
                                            <p:strVal val="0-ppt_w/2"/>
                                          </p:val>
                                        </p:tav>
                                      </p:tavLst>
                                    </p:anim>
                                    <p:anim calcmode="lin" valueType="num">
                                      <p:cBhvr additive="base">
                                        <p:cTn id="11" dur="15000"/>
                                        <p:tgtEl>
                                          <p:spTgt spid="5">
                                            <p:txEl>
                                              <p:pRg st="0" end="0"/>
                                            </p:txEl>
                                          </p:spTgt>
                                        </p:tgtEl>
                                        <p:attrNameLst>
                                          <p:attrName>ppt_y</p:attrName>
                                        </p:attrNameLst>
                                      </p:cBhvr>
                                      <p:tavLst>
                                        <p:tav tm="0">
                                          <p:val>
                                            <p:strVal val="ppt_y"/>
                                          </p:val>
                                        </p:tav>
                                        <p:tav tm="100000">
                                          <p:val>
                                            <p:strVal val="ppt_y"/>
                                          </p:val>
                                        </p:tav>
                                      </p:tavLst>
                                    </p:anim>
                                    <p:set>
                                      <p:cBhvr>
                                        <p:cTn id="12" dur="1" fill="hold">
                                          <p:stCondLst>
                                            <p:cond delay="14999"/>
                                          </p:stCondLst>
                                        </p:cTn>
                                        <p:tgtEl>
                                          <p:spTgt spid="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6423130"/>
            <a:ext cx="12192000" cy="41801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s-MY"/>
          </a:p>
        </p:txBody>
      </p:sp>
      <p:sp>
        <p:nvSpPr>
          <p:cNvPr id="5" name="TextBox 4"/>
          <p:cNvSpPr txBox="1"/>
          <p:nvPr/>
        </p:nvSpPr>
        <p:spPr>
          <a:xfrm>
            <a:off x="654448" y="6447469"/>
            <a:ext cx="10755085" cy="369332"/>
          </a:xfrm>
          <a:prstGeom prst="rect">
            <a:avLst/>
          </a:prstGeom>
          <a:noFill/>
        </p:spPr>
        <p:txBody>
          <a:bodyPr wrap="square" rtlCol="0">
            <a:spAutoFit/>
          </a:bodyPr>
          <a:lstStyle/>
          <a:p>
            <a:r>
              <a:rPr lang="en-US" b="1" dirty="0">
                <a:solidFill>
                  <a:schemeClr val="bg1"/>
                </a:solidFill>
              </a:rPr>
              <a:t>PROJECT RELATED TO ARTIFICIAL INTELLIGENCE</a:t>
            </a:r>
            <a:endParaRPr lang="ms-MY" b="1" dirty="0">
              <a:solidFill>
                <a:schemeClr val="bg1"/>
              </a:solidFill>
            </a:endParaRPr>
          </a:p>
        </p:txBody>
      </p:sp>
      <p:sp>
        <p:nvSpPr>
          <p:cNvPr id="6" name="TextBox 5"/>
          <p:cNvSpPr txBox="1"/>
          <p:nvPr/>
        </p:nvSpPr>
        <p:spPr>
          <a:xfrm>
            <a:off x="654448" y="6423130"/>
            <a:ext cx="10755085" cy="369332"/>
          </a:xfrm>
          <a:prstGeom prst="rect">
            <a:avLst/>
          </a:prstGeom>
          <a:noFill/>
        </p:spPr>
        <p:txBody>
          <a:bodyPr wrap="square" rtlCol="0">
            <a:spAutoFit/>
          </a:bodyPr>
          <a:lstStyle/>
          <a:p>
            <a:r>
              <a:rPr lang="en-US" b="1" dirty="0">
                <a:solidFill>
                  <a:schemeClr val="bg1"/>
                </a:solidFill>
              </a:rPr>
              <a:t>PROJECT RELATED TO ARTIFICIAL INTELLIGENCE - TQ</a:t>
            </a:r>
            <a:endParaRPr lang="ms-MY" b="1" dirty="0">
              <a:solidFill>
                <a:schemeClr val="bg1"/>
              </a:solidFill>
            </a:endParaRPr>
          </a:p>
        </p:txBody>
      </p:sp>
      <p:sp>
        <p:nvSpPr>
          <p:cNvPr id="2" name="TextBox 1"/>
          <p:cNvSpPr txBox="1"/>
          <p:nvPr/>
        </p:nvSpPr>
        <p:spPr>
          <a:xfrm>
            <a:off x="105508" y="0"/>
            <a:ext cx="3938954" cy="523220"/>
          </a:xfrm>
          <a:prstGeom prst="rect">
            <a:avLst/>
          </a:prstGeom>
          <a:noFill/>
        </p:spPr>
        <p:txBody>
          <a:bodyPr wrap="square" rtlCol="0">
            <a:spAutoFit/>
          </a:bodyPr>
          <a:lstStyle/>
          <a:p>
            <a:r>
              <a:rPr lang="en-US" sz="2800" b="1" dirty="0">
                <a:solidFill>
                  <a:srgbClr val="FFFF00"/>
                </a:solidFill>
              </a:rPr>
              <a:t>DATA IMPROVEMENT : </a:t>
            </a:r>
            <a:endParaRPr lang="ms-MY" sz="2800" b="1" dirty="0">
              <a:solidFill>
                <a:srgbClr val="FFFF00"/>
              </a:solidFill>
            </a:endParaRPr>
          </a:p>
        </p:txBody>
      </p:sp>
      <p:sp>
        <p:nvSpPr>
          <p:cNvPr id="3" name="Rectangle 2"/>
          <p:cNvSpPr/>
          <p:nvPr/>
        </p:nvSpPr>
        <p:spPr>
          <a:xfrm>
            <a:off x="3420762" y="73724"/>
            <a:ext cx="7149971" cy="461665"/>
          </a:xfrm>
          <a:prstGeom prst="rect">
            <a:avLst/>
          </a:prstGeom>
        </p:spPr>
        <p:txBody>
          <a:bodyPr wrap="none">
            <a:spAutoFit/>
          </a:bodyPr>
          <a:lstStyle/>
          <a:p>
            <a:r>
              <a:rPr lang="en-US" sz="2400" b="1" i="0" dirty="0">
                <a:solidFill>
                  <a:srgbClr val="FFFF00"/>
                </a:solidFill>
                <a:effectLst/>
                <a:latin typeface="IBM Plex Sans"/>
              </a:rPr>
              <a:t> Machine Learning Process Steps in Data Preprocessing</a:t>
            </a:r>
            <a:endParaRPr lang="ms-MY" sz="2400" b="1" dirty="0">
              <a:solidFill>
                <a:srgbClr val="FFFF00"/>
              </a:solidFill>
            </a:endParaRPr>
          </a:p>
        </p:txBody>
      </p:sp>
      <p:sp>
        <p:nvSpPr>
          <p:cNvPr id="7" name="Rectangle 6"/>
          <p:cNvSpPr/>
          <p:nvPr/>
        </p:nvSpPr>
        <p:spPr>
          <a:xfrm>
            <a:off x="0" y="1074509"/>
            <a:ext cx="11992708" cy="5016758"/>
          </a:xfrm>
          <a:prstGeom prst="rect">
            <a:avLst/>
          </a:prstGeom>
        </p:spPr>
        <p:txBody>
          <a:bodyPr wrap="square">
            <a:spAutoFit/>
          </a:bodyPr>
          <a:lstStyle/>
          <a:p>
            <a:r>
              <a:rPr lang="en-US" sz="2000" b="1" i="0" dirty="0">
                <a:solidFill>
                  <a:schemeClr val="bg1"/>
                </a:solidFill>
                <a:effectLst/>
                <a:latin typeface="IBM Plex Sans"/>
              </a:rPr>
              <a:t>Step 1 :</a:t>
            </a:r>
            <a:r>
              <a:rPr lang="en-US" sz="2000" b="0" i="0" dirty="0">
                <a:solidFill>
                  <a:schemeClr val="bg1"/>
                </a:solidFill>
                <a:effectLst/>
                <a:latin typeface="IBM Plex Sans"/>
              </a:rPr>
              <a:t> Import the libraries</a:t>
            </a:r>
          </a:p>
          <a:p>
            <a:r>
              <a:rPr lang="en-US" sz="2000" b="1" i="0" dirty="0">
                <a:solidFill>
                  <a:schemeClr val="bg1"/>
                </a:solidFill>
                <a:effectLst/>
                <a:latin typeface="IBM Plex Sans"/>
              </a:rPr>
              <a:t>Step 2 :</a:t>
            </a:r>
            <a:r>
              <a:rPr lang="en-US" sz="2000" b="0" i="0" dirty="0">
                <a:solidFill>
                  <a:schemeClr val="bg1"/>
                </a:solidFill>
                <a:effectLst/>
                <a:latin typeface="IBM Plex Sans"/>
              </a:rPr>
              <a:t> Import the data-set</a:t>
            </a:r>
          </a:p>
          <a:p>
            <a:r>
              <a:rPr lang="en-US" sz="2000" b="1" i="0" dirty="0">
                <a:solidFill>
                  <a:schemeClr val="bg1"/>
                </a:solidFill>
                <a:effectLst/>
                <a:latin typeface="IBM Plex Sans"/>
              </a:rPr>
              <a:t>Step 3 :</a:t>
            </a:r>
            <a:r>
              <a:rPr lang="en-US" sz="2000" b="0" i="0" dirty="0">
                <a:solidFill>
                  <a:schemeClr val="bg1"/>
                </a:solidFill>
                <a:effectLst/>
                <a:latin typeface="IBM Plex Sans"/>
              </a:rPr>
              <a:t> Check out the missing values</a:t>
            </a:r>
          </a:p>
          <a:p>
            <a:r>
              <a:rPr lang="en-US" sz="2000" b="1" i="0" dirty="0">
                <a:solidFill>
                  <a:schemeClr val="bg1"/>
                </a:solidFill>
                <a:effectLst/>
                <a:latin typeface="IBM Plex Sans"/>
              </a:rPr>
              <a:t>Step 4 :</a:t>
            </a:r>
            <a:r>
              <a:rPr lang="en-US" sz="2000" b="0" i="0" dirty="0">
                <a:solidFill>
                  <a:schemeClr val="bg1"/>
                </a:solidFill>
                <a:effectLst/>
                <a:latin typeface="IBM Plex Sans"/>
              </a:rPr>
              <a:t> See the Categorical Values</a:t>
            </a:r>
          </a:p>
          <a:p>
            <a:r>
              <a:rPr lang="en-US" sz="2000" dirty="0">
                <a:solidFill>
                  <a:schemeClr val="bg1"/>
                </a:solidFill>
                <a:latin typeface="IBM Plex Sans"/>
              </a:rPr>
              <a:t>Step 5 : Do data quality report</a:t>
            </a:r>
            <a:endParaRPr lang="en-US" sz="2000" b="0" i="0" dirty="0">
              <a:solidFill>
                <a:schemeClr val="bg1"/>
              </a:solidFill>
              <a:effectLst/>
              <a:latin typeface="IBM Plex Sans"/>
            </a:endParaRPr>
          </a:p>
          <a:p>
            <a:r>
              <a:rPr lang="en-US" sz="2000" b="1" i="0" dirty="0">
                <a:solidFill>
                  <a:srgbClr val="FF0000"/>
                </a:solidFill>
                <a:effectLst/>
                <a:latin typeface="IBM Plex Sans"/>
              </a:rPr>
              <a:t>Step 5 : Splitting the data-set into Training, Validation and Testing Set</a:t>
            </a:r>
          </a:p>
          <a:p>
            <a:r>
              <a:rPr lang="en-US" sz="2000" b="1" i="0" dirty="0">
                <a:solidFill>
                  <a:srgbClr val="FF0000"/>
                </a:solidFill>
                <a:effectLst/>
                <a:latin typeface="IBM Plex Sans"/>
              </a:rPr>
              <a:t>Step 6 : Feature Scaling such as Min-Max normalization</a:t>
            </a:r>
            <a:r>
              <a:rPr lang="en-US" sz="2000" b="1" dirty="0">
                <a:solidFill>
                  <a:srgbClr val="FF0000"/>
                </a:solidFill>
                <a:latin typeface="IBM Plex Sans"/>
              </a:rPr>
              <a:t> and </a:t>
            </a:r>
            <a:r>
              <a:rPr lang="en-US" sz="2000" b="1" i="0" dirty="0">
                <a:solidFill>
                  <a:srgbClr val="FF0000"/>
                </a:solidFill>
                <a:effectLst/>
                <a:latin typeface="IBM Plex Sans"/>
              </a:rPr>
              <a:t> standardization</a:t>
            </a:r>
          </a:p>
          <a:p>
            <a:r>
              <a:rPr lang="en-US" sz="2000" dirty="0">
                <a:solidFill>
                  <a:schemeClr val="bg1"/>
                </a:solidFill>
                <a:latin typeface="IBM Plex Sans"/>
              </a:rPr>
              <a:t>Min-Max normalization -</a:t>
            </a:r>
            <a:r>
              <a:rPr lang="ms-MY" sz="2000" dirty="0">
                <a:solidFill>
                  <a:schemeClr val="bg1"/>
                </a:solidFill>
                <a:effectLst/>
                <a:latin typeface="var(--font-din)"/>
                <a:ea typeface="Times New Roman" panose="02020603050405020304" pitchFamily="18" charset="0"/>
                <a:cs typeface="Times New Roman" panose="02020603050405020304" pitchFamily="18" charset="0"/>
              </a:rPr>
              <a:t>This technique re-scales a feature or observation value with distribution value between 0 and 1.</a:t>
            </a:r>
          </a:p>
          <a:p>
            <a:r>
              <a:rPr lang="ms-MY" sz="2000" dirty="0">
                <a:solidFill>
                  <a:schemeClr val="bg1"/>
                </a:solidFill>
                <a:effectLst/>
                <a:latin typeface="var(--font-din)"/>
                <a:ea typeface="Times New Roman" panose="02020603050405020304" pitchFamily="18" charset="0"/>
                <a:cs typeface="Times New Roman" panose="02020603050405020304" pitchFamily="18" charset="0"/>
              </a:rPr>
              <a:t>Standardisation- It is a very effective technique which re-scales a feature value so that it has distribution with 0 mean value and variance equals to 1.</a:t>
            </a:r>
          </a:p>
          <a:p>
            <a:r>
              <a:rPr lang="en-US" sz="2000" b="0" i="0" dirty="0">
                <a:solidFill>
                  <a:schemeClr val="bg1"/>
                </a:solidFill>
                <a:latin typeface="var(--font-din)"/>
                <a:cs typeface="Times New Roman" panose="02020603050405020304" pitchFamily="18" charset="0"/>
              </a:rPr>
              <a:t>Why need feature scaling?</a:t>
            </a:r>
          </a:p>
          <a:p>
            <a:r>
              <a:rPr lang="ms-MY" sz="2000" dirty="0">
                <a:solidFill>
                  <a:schemeClr val="bg1"/>
                </a:solidFill>
                <a:effectLst/>
                <a:latin typeface="var(--font-din)"/>
                <a:ea typeface="Times New Roman" panose="02020603050405020304" pitchFamily="18" charset="0"/>
                <a:cs typeface="Times New Roman" panose="02020603050405020304" pitchFamily="18" charset="0"/>
              </a:rPr>
              <a:t>If an algorithm is not using feature scaling method then it can consider the value </a:t>
            </a:r>
            <a:r>
              <a:rPr lang="ms-MY" sz="2000" dirty="0">
                <a:solidFill>
                  <a:srgbClr val="FF0000"/>
                </a:solidFill>
                <a:effectLst/>
                <a:latin typeface="var(--font-din)"/>
                <a:ea typeface="Times New Roman" panose="02020603050405020304" pitchFamily="18" charset="0"/>
                <a:cs typeface="Times New Roman" panose="02020603050405020304" pitchFamily="18" charset="0"/>
              </a:rPr>
              <a:t>3000 meter to be greater than 5 km</a:t>
            </a:r>
            <a:r>
              <a:rPr lang="ms-MY" sz="2000" dirty="0">
                <a:solidFill>
                  <a:schemeClr val="bg1"/>
                </a:solidFill>
                <a:effectLst/>
                <a:latin typeface="var(--font-din)"/>
                <a:ea typeface="Times New Roman" panose="02020603050405020304" pitchFamily="18" charset="0"/>
                <a:cs typeface="Times New Roman" panose="02020603050405020304" pitchFamily="18" charset="0"/>
              </a:rPr>
              <a:t> but that’s actually not true and in this case, the algorithm will give wrong predictions.</a:t>
            </a:r>
          </a:p>
          <a:p>
            <a:r>
              <a:rPr lang="en-US" sz="2000" b="0" i="0" dirty="0">
                <a:solidFill>
                  <a:schemeClr val="bg1"/>
                </a:solidFill>
                <a:latin typeface="var(--font-din)"/>
                <a:cs typeface="Times New Roman" panose="02020603050405020304" pitchFamily="18" charset="0"/>
              </a:rPr>
              <a:t>Example:</a:t>
            </a:r>
            <a:r>
              <a:rPr lang="ms-MY" sz="2000" spc="10" dirty="0">
                <a:solidFill>
                  <a:schemeClr val="bg1"/>
                </a:solidFill>
                <a:effectLst/>
                <a:latin typeface="Arial" panose="020B0604020202020204" pitchFamily="34" charset="0"/>
                <a:ea typeface="Times New Roman" panose="02020603050405020304" pitchFamily="18" charset="0"/>
              </a:rPr>
              <a:t>3 features – Age, Salary, Type of Apartment. Consider a range of 10- 60 for Age, 1 200- 40 000 RM for Salary, 1- 5 for Type of Flat. It can be seen that Salary feature will dominate all other features .</a:t>
            </a:r>
            <a:endParaRPr lang="en-US" sz="2000" b="0" i="0" dirty="0">
              <a:solidFill>
                <a:schemeClr val="bg1"/>
              </a:solidFill>
              <a:effectLst/>
              <a:latin typeface="IBM Plex Sans"/>
            </a:endParaRPr>
          </a:p>
        </p:txBody>
      </p:sp>
      <p:pic>
        <p:nvPicPr>
          <p:cNvPr id="9" name="Picture 8"/>
          <p:cNvPicPr>
            <a:picLocks noChangeAspect="1"/>
          </p:cNvPicPr>
          <p:nvPr/>
        </p:nvPicPr>
        <p:blipFill>
          <a:blip r:embed="rId3"/>
          <a:stretch>
            <a:fillRect/>
          </a:stretch>
        </p:blipFill>
        <p:spPr>
          <a:xfrm>
            <a:off x="10194864" y="1175029"/>
            <a:ext cx="1797844" cy="796282"/>
          </a:xfrm>
          <a:prstGeom prst="rect">
            <a:avLst/>
          </a:prstGeom>
        </p:spPr>
      </p:pic>
      <p:pic>
        <p:nvPicPr>
          <p:cNvPr id="10" name="Picture 9" descr="https://media.geeksforgeeks.org/wp-content/uploads/standardisation.jp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45342" y="1074509"/>
            <a:ext cx="1607234" cy="796282"/>
          </a:xfrm>
          <a:prstGeom prst="rect">
            <a:avLst/>
          </a:prstGeom>
          <a:noFill/>
          <a:ln>
            <a:noFill/>
          </a:ln>
        </p:spPr>
      </p:pic>
    </p:spTree>
    <p:extLst>
      <p:ext uri="{BB962C8B-B14F-4D97-AF65-F5344CB8AC3E}">
        <p14:creationId xmlns:p14="http://schemas.microsoft.com/office/powerpoint/2010/main" val="3835796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repeatCount="indefinite"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5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150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xit" presetSubtype="8" repeatCount="indefinite" fill="hold" nodeType="withEffect">
                                  <p:stCondLst>
                                    <p:cond delay="500"/>
                                  </p:stCondLst>
                                  <p:childTnLst>
                                    <p:anim calcmode="lin" valueType="num">
                                      <p:cBhvr additive="base">
                                        <p:cTn id="10" dur="15000"/>
                                        <p:tgtEl>
                                          <p:spTgt spid="5">
                                            <p:txEl>
                                              <p:pRg st="0" end="0"/>
                                            </p:txEl>
                                          </p:spTgt>
                                        </p:tgtEl>
                                        <p:attrNameLst>
                                          <p:attrName>ppt_x</p:attrName>
                                        </p:attrNameLst>
                                      </p:cBhvr>
                                      <p:tavLst>
                                        <p:tav tm="0">
                                          <p:val>
                                            <p:strVal val="ppt_x"/>
                                          </p:val>
                                        </p:tav>
                                        <p:tav tm="100000">
                                          <p:val>
                                            <p:strVal val="0-ppt_w/2"/>
                                          </p:val>
                                        </p:tav>
                                      </p:tavLst>
                                    </p:anim>
                                    <p:anim calcmode="lin" valueType="num">
                                      <p:cBhvr additive="base">
                                        <p:cTn id="11" dur="15000"/>
                                        <p:tgtEl>
                                          <p:spTgt spid="5">
                                            <p:txEl>
                                              <p:pRg st="0" end="0"/>
                                            </p:txEl>
                                          </p:spTgt>
                                        </p:tgtEl>
                                        <p:attrNameLst>
                                          <p:attrName>ppt_y</p:attrName>
                                        </p:attrNameLst>
                                      </p:cBhvr>
                                      <p:tavLst>
                                        <p:tav tm="0">
                                          <p:val>
                                            <p:strVal val="ppt_y"/>
                                          </p:val>
                                        </p:tav>
                                        <p:tav tm="100000">
                                          <p:val>
                                            <p:strVal val="ppt_y"/>
                                          </p:val>
                                        </p:tav>
                                      </p:tavLst>
                                    </p:anim>
                                    <p:set>
                                      <p:cBhvr>
                                        <p:cTn id="12" dur="1" fill="hold">
                                          <p:stCondLst>
                                            <p:cond delay="14999"/>
                                          </p:stCondLst>
                                        </p:cTn>
                                        <p:tgtEl>
                                          <p:spTgt spid="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6423130"/>
            <a:ext cx="12192000" cy="41801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s-MY"/>
          </a:p>
        </p:txBody>
      </p:sp>
      <p:sp>
        <p:nvSpPr>
          <p:cNvPr id="5" name="TextBox 4"/>
          <p:cNvSpPr txBox="1"/>
          <p:nvPr/>
        </p:nvSpPr>
        <p:spPr>
          <a:xfrm>
            <a:off x="654448" y="6447469"/>
            <a:ext cx="10755085" cy="369332"/>
          </a:xfrm>
          <a:prstGeom prst="rect">
            <a:avLst/>
          </a:prstGeom>
          <a:noFill/>
        </p:spPr>
        <p:txBody>
          <a:bodyPr wrap="square" rtlCol="0">
            <a:spAutoFit/>
          </a:bodyPr>
          <a:lstStyle/>
          <a:p>
            <a:r>
              <a:rPr lang="en-US" b="1" dirty="0">
                <a:solidFill>
                  <a:schemeClr val="bg1"/>
                </a:solidFill>
              </a:rPr>
              <a:t>PROJECT RELATED TO ARTIFICIAL INTELLIGENCE</a:t>
            </a:r>
            <a:endParaRPr lang="ms-MY" b="1" dirty="0">
              <a:solidFill>
                <a:schemeClr val="bg1"/>
              </a:solidFill>
            </a:endParaRPr>
          </a:p>
        </p:txBody>
      </p:sp>
      <p:sp>
        <p:nvSpPr>
          <p:cNvPr id="6" name="TextBox 5"/>
          <p:cNvSpPr txBox="1"/>
          <p:nvPr/>
        </p:nvSpPr>
        <p:spPr>
          <a:xfrm>
            <a:off x="654448" y="6423130"/>
            <a:ext cx="10755085" cy="369332"/>
          </a:xfrm>
          <a:prstGeom prst="rect">
            <a:avLst/>
          </a:prstGeom>
          <a:noFill/>
        </p:spPr>
        <p:txBody>
          <a:bodyPr wrap="square" rtlCol="0">
            <a:spAutoFit/>
          </a:bodyPr>
          <a:lstStyle/>
          <a:p>
            <a:r>
              <a:rPr lang="en-US" b="1" dirty="0">
                <a:solidFill>
                  <a:schemeClr val="bg1"/>
                </a:solidFill>
              </a:rPr>
              <a:t>PROJECT RELATED TO ARTIFICIAL INTELLIGENCE - TQ</a:t>
            </a:r>
            <a:endParaRPr lang="ms-MY" b="1" dirty="0">
              <a:solidFill>
                <a:schemeClr val="bg1"/>
              </a:solidFill>
            </a:endParaRPr>
          </a:p>
        </p:txBody>
      </p:sp>
      <p:sp>
        <p:nvSpPr>
          <p:cNvPr id="2" name="Rectangle 1"/>
          <p:cNvSpPr/>
          <p:nvPr/>
        </p:nvSpPr>
        <p:spPr>
          <a:xfrm>
            <a:off x="128953" y="116451"/>
            <a:ext cx="9706707" cy="523220"/>
          </a:xfrm>
          <a:prstGeom prst="rect">
            <a:avLst/>
          </a:prstGeom>
        </p:spPr>
        <p:txBody>
          <a:bodyPr wrap="square">
            <a:spAutoFit/>
          </a:bodyPr>
          <a:lstStyle/>
          <a:p>
            <a:r>
              <a:rPr lang="en-US" sz="2800" b="1" i="0" dirty="0">
                <a:solidFill>
                  <a:srgbClr val="FFFF00"/>
                </a:solidFill>
                <a:effectLst/>
              </a:rPr>
              <a:t>Generalities about algorithms regarding the scaling of the data</a:t>
            </a:r>
          </a:p>
        </p:txBody>
      </p:sp>
      <p:graphicFrame>
        <p:nvGraphicFramePr>
          <p:cNvPr id="13" name="Table 12"/>
          <p:cNvGraphicFramePr>
            <a:graphicFrameLocks noGrp="1"/>
          </p:cNvGraphicFramePr>
          <p:nvPr>
            <p:extLst>
              <p:ext uri="{D42A27DB-BD31-4B8C-83A1-F6EECF244321}">
                <p14:modId xmlns:p14="http://schemas.microsoft.com/office/powerpoint/2010/main" val="927421187"/>
              </p:ext>
            </p:extLst>
          </p:nvPr>
        </p:nvGraphicFramePr>
        <p:xfrm>
          <a:off x="2223543" y="639671"/>
          <a:ext cx="8127999" cy="4552983"/>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406894028"/>
                    </a:ext>
                  </a:extLst>
                </a:gridCol>
                <a:gridCol w="2709333">
                  <a:extLst>
                    <a:ext uri="{9D8B030D-6E8A-4147-A177-3AD203B41FA5}">
                      <a16:colId xmlns:a16="http://schemas.microsoft.com/office/drawing/2014/main" val="2171985738"/>
                    </a:ext>
                  </a:extLst>
                </a:gridCol>
                <a:gridCol w="2709333">
                  <a:extLst>
                    <a:ext uri="{9D8B030D-6E8A-4147-A177-3AD203B41FA5}">
                      <a16:colId xmlns:a16="http://schemas.microsoft.com/office/drawing/2014/main" val="477610880"/>
                    </a:ext>
                  </a:extLst>
                </a:gridCol>
              </a:tblGrid>
              <a:tr h="370840">
                <a:tc>
                  <a:txBody>
                    <a:bodyPr/>
                    <a:lstStyle/>
                    <a:p>
                      <a:r>
                        <a:rPr lang="en-US" dirty="0">
                          <a:solidFill>
                            <a:schemeClr val="tx1"/>
                          </a:solidFill>
                        </a:rPr>
                        <a:t>Supervised algorithm</a:t>
                      </a:r>
                      <a:endParaRPr lang="ms-MY" dirty="0">
                        <a:solidFill>
                          <a:schemeClr val="tx1"/>
                        </a:solidFill>
                      </a:endParaRPr>
                    </a:p>
                  </a:txBody>
                  <a:tcPr>
                    <a:solidFill>
                      <a:schemeClr val="accent4">
                        <a:lumMod val="40000"/>
                        <a:lumOff val="60000"/>
                      </a:schemeClr>
                    </a:solidFill>
                  </a:tcPr>
                </a:tc>
                <a:tc>
                  <a:txBody>
                    <a:bodyPr/>
                    <a:lstStyle/>
                    <a:p>
                      <a:r>
                        <a:rPr lang="en-US" dirty="0">
                          <a:solidFill>
                            <a:schemeClr val="tx1"/>
                          </a:solidFill>
                        </a:rPr>
                        <a:t>Unsupervised algorithm</a:t>
                      </a:r>
                      <a:endParaRPr lang="ms-MY" dirty="0">
                        <a:solidFill>
                          <a:schemeClr val="tx1"/>
                        </a:solidFill>
                      </a:endParaRPr>
                    </a:p>
                  </a:txBody>
                  <a:tcPr>
                    <a:solidFill>
                      <a:schemeClr val="accent4">
                        <a:lumMod val="40000"/>
                        <a:lumOff val="60000"/>
                      </a:schemeClr>
                    </a:solidFill>
                  </a:tcPr>
                </a:tc>
                <a:tc>
                  <a:txBody>
                    <a:bodyPr/>
                    <a:lstStyle/>
                    <a:p>
                      <a:r>
                        <a:rPr lang="en-US" dirty="0">
                          <a:solidFill>
                            <a:schemeClr val="tx1"/>
                          </a:solidFill>
                        </a:rPr>
                        <a:t>Scaling needed?</a:t>
                      </a:r>
                      <a:endParaRPr lang="ms-MY" dirty="0">
                        <a:solidFill>
                          <a:schemeClr val="tx1"/>
                        </a:solidFill>
                      </a:endParaRPr>
                    </a:p>
                  </a:txBody>
                  <a:tcPr>
                    <a:solidFill>
                      <a:schemeClr val="accent4">
                        <a:lumMod val="40000"/>
                        <a:lumOff val="60000"/>
                      </a:schemeClr>
                    </a:solidFill>
                  </a:tcPr>
                </a:tc>
                <a:extLst>
                  <a:ext uri="{0D108BD9-81ED-4DB2-BD59-A6C34878D82A}">
                    <a16:rowId xmlns:a16="http://schemas.microsoft.com/office/drawing/2014/main" val="1169193484"/>
                  </a:ext>
                </a:extLst>
              </a:tr>
              <a:tr h="370840">
                <a:tc>
                  <a:txBody>
                    <a:bodyPr/>
                    <a:lstStyle/>
                    <a:p>
                      <a:r>
                        <a:rPr lang="ms-MY" sz="1800" b="0" i="0" kern="1200" dirty="0">
                          <a:solidFill>
                            <a:schemeClr val="dk1"/>
                          </a:solidFill>
                          <a:effectLst/>
                          <a:latin typeface="+mn-lt"/>
                          <a:ea typeface="+mn-ea"/>
                          <a:cs typeface="+mn-cs"/>
                        </a:rPr>
                        <a:t>Decision Tree</a:t>
                      </a:r>
                      <a:endParaRPr lang="ms-MY" dirty="0"/>
                    </a:p>
                  </a:txBody>
                  <a:tcPr>
                    <a:solidFill>
                      <a:schemeClr val="accent4">
                        <a:lumMod val="40000"/>
                        <a:lumOff val="60000"/>
                      </a:schemeClr>
                    </a:solidFill>
                  </a:tcPr>
                </a:tc>
                <a:tc>
                  <a:txBody>
                    <a:bodyPr/>
                    <a:lstStyle/>
                    <a:p>
                      <a:endParaRPr lang="ms-MY" dirty="0"/>
                    </a:p>
                  </a:txBody>
                  <a:tcPr>
                    <a:solidFill>
                      <a:schemeClr val="accent4">
                        <a:lumMod val="40000"/>
                        <a:lumOff val="60000"/>
                      </a:schemeClr>
                    </a:solidFill>
                  </a:tcPr>
                </a:tc>
                <a:tc>
                  <a:txBody>
                    <a:bodyPr/>
                    <a:lstStyle/>
                    <a:p>
                      <a:r>
                        <a:rPr lang="en-US" dirty="0"/>
                        <a:t>No</a:t>
                      </a:r>
                      <a:endParaRPr lang="ms-MY" dirty="0"/>
                    </a:p>
                  </a:txBody>
                  <a:tcPr>
                    <a:solidFill>
                      <a:schemeClr val="accent4">
                        <a:lumMod val="40000"/>
                        <a:lumOff val="60000"/>
                      </a:schemeClr>
                    </a:solidFill>
                  </a:tcPr>
                </a:tc>
                <a:extLst>
                  <a:ext uri="{0D108BD9-81ED-4DB2-BD59-A6C34878D82A}">
                    <a16:rowId xmlns:a16="http://schemas.microsoft.com/office/drawing/2014/main" val="507160583"/>
                  </a:ext>
                </a:extLst>
              </a:tr>
              <a:tr h="370840">
                <a:tc>
                  <a:txBody>
                    <a:bodyPr/>
                    <a:lstStyle/>
                    <a:p>
                      <a:r>
                        <a:rPr lang="en-US" dirty="0"/>
                        <a:t>Random Forest</a:t>
                      </a:r>
                      <a:endParaRPr lang="ms-MY" dirty="0"/>
                    </a:p>
                  </a:txBody>
                  <a:tcPr>
                    <a:solidFill>
                      <a:schemeClr val="accent4">
                        <a:lumMod val="40000"/>
                        <a:lumOff val="60000"/>
                      </a:schemeClr>
                    </a:solidFill>
                  </a:tcPr>
                </a:tc>
                <a:tc>
                  <a:txBody>
                    <a:bodyPr/>
                    <a:lstStyle/>
                    <a:p>
                      <a:endParaRPr lang="ms-MY" dirty="0"/>
                    </a:p>
                  </a:txBody>
                  <a:tcPr>
                    <a:solidFill>
                      <a:schemeClr val="accent4">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No</a:t>
                      </a:r>
                      <a:endParaRPr lang="ms-MY" dirty="0"/>
                    </a:p>
                  </a:txBody>
                  <a:tcPr>
                    <a:solidFill>
                      <a:schemeClr val="accent4">
                        <a:lumMod val="40000"/>
                        <a:lumOff val="60000"/>
                      </a:schemeClr>
                    </a:solidFill>
                  </a:tcPr>
                </a:tc>
                <a:extLst>
                  <a:ext uri="{0D108BD9-81ED-4DB2-BD59-A6C34878D82A}">
                    <a16:rowId xmlns:a16="http://schemas.microsoft.com/office/drawing/2014/main" val="3569487329"/>
                  </a:ext>
                </a:extLst>
              </a:tr>
              <a:tr h="370840">
                <a:tc>
                  <a:txBody>
                    <a:bodyPr/>
                    <a:lstStyle/>
                    <a:p>
                      <a:r>
                        <a:rPr lang="ms-MY" sz="1800" b="0" i="0" kern="1200" dirty="0">
                          <a:solidFill>
                            <a:schemeClr val="dk1"/>
                          </a:solidFill>
                          <a:effectLst/>
                          <a:latin typeface="+mn-lt"/>
                          <a:ea typeface="+mn-ea"/>
                          <a:cs typeface="+mn-cs"/>
                        </a:rPr>
                        <a:t>Naive Bayes</a:t>
                      </a:r>
                    </a:p>
                  </a:txBody>
                  <a:tcPr>
                    <a:solidFill>
                      <a:schemeClr val="accent4">
                        <a:lumMod val="40000"/>
                        <a:lumOff val="60000"/>
                      </a:schemeClr>
                    </a:solidFill>
                  </a:tcPr>
                </a:tc>
                <a:tc>
                  <a:txBody>
                    <a:bodyPr/>
                    <a:lstStyle/>
                    <a:p>
                      <a:endParaRPr lang="ms-MY"/>
                    </a:p>
                  </a:txBody>
                  <a:tcPr>
                    <a:solidFill>
                      <a:schemeClr val="accent4">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No</a:t>
                      </a:r>
                      <a:endParaRPr lang="ms-MY" dirty="0"/>
                    </a:p>
                  </a:txBody>
                  <a:tcPr>
                    <a:solidFill>
                      <a:schemeClr val="accent4">
                        <a:lumMod val="40000"/>
                        <a:lumOff val="60000"/>
                      </a:schemeClr>
                    </a:solidFill>
                  </a:tcPr>
                </a:tc>
                <a:extLst>
                  <a:ext uri="{0D108BD9-81ED-4DB2-BD59-A6C34878D82A}">
                    <a16:rowId xmlns:a16="http://schemas.microsoft.com/office/drawing/2014/main" val="3273153997"/>
                  </a:ext>
                </a:extLst>
              </a:tr>
              <a:tr h="370840">
                <a:tc>
                  <a:txBody>
                    <a:bodyPr/>
                    <a:lstStyle/>
                    <a:p>
                      <a:r>
                        <a:rPr lang="ms-MY" sz="1800" b="0" i="0" kern="1200" dirty="0">
                          <a:solidFill>
                            <a:schemeClr val="dk1"/>
                          </a:solidFill>
                          <a:effectLst/>
                          <a:latin typeface="+mn-lt"/>
                          <a:ea typeface="+mn-ea"/>
                          <a:cs typeface="+mn-cs"/>
                        </a:rPr>
                        <a:t>Linear Regression</a:t>
                      </a:r>
                    </a:p>
                    <a:p>
                      <a:r>
                        <a:rPr lang="pl-PL" dirty="0"/>
                        <a:t>y=w1​x1​+w2​x2​+⋯+b</a:t>
                      </a:r>
                      <a:endParaRPr lang="ms-MY" dirty="0"/>
                    </a:p>
                  </a:txBody>
                  <a:tcPr>
                    <a:solidFill>
                      <a:schemeClr val="accent4">
                        <a:lumMod val="40000"/>
                        <a:lumOff val="60000"/>
                      </a:schemeClr>
                    </a:solidFill>
                  </a:tcPr>
                </a:tc>
                <a:tc>
                  <a:txBody>
                    <a:bodyPr/>
                    <a:lstStyle/>
                    <a:p>
                      <a:endParaRPr lang="ms-MY"/>
                    </a:p>
                  </a:txBody>
                  <a:tcPr>
                    <a:solidFill>
                      <a:schemeClr val="accent4">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No, but sometimes very helpful</a:t>
                      </a:r>
                      <a:endParaRPr lang="ms-MY" dirty="0"/>
                    </a:p>
                  </a:txBody>
                  <a:tcPr>
                    <a:solidFill>
                      <a:schemeClr val="accent4">
                        <a:lumMod val="40000"/>
                        <a:lumOff val="60000"/>
                      </a:schemeClr>
                    </a:solidFill>
                  </a:tcPr>
                </a:tc>
                <a:extLst>
                  <a:ext uri="{0D108BD9-81ED-4DB2-BD59-A6C34878D82A}">
                    <a16:rowId xmlns:a16="http://schemas.microsoft.com/office/drawing/2014/main" val="3059255233"/>
                  </a:ext>
                </a:extLst>
              </a:tr>
              <a:tr h="370840">
                <a:tc>
                  <a:txBody>
                    <a:bodyPr/>
                    <a:lstStyle/>
                    <a:p>
                      <a:r>
                        <a:rPr lang="ms-MY" sz="1800" b="0" i="0" kern="1200" dirty="0">
                          <a:solidFill>
                            <a:schemeClr val="dk1"/>
                          </a:solidFill>
                          <a:effectLst/>
                          <a:latin typeface="+mn-lt"/>
                          <a:ea typeface="+mn-ea"/>
                          <a:cs typeface="+mn-cs"/>
                        </a:rPr>
                        <a:t>SVM (Kernel)</a:t>
                      </a:r>
                      <a:endParaRPr lang="ms-MY" dirty="0"/>
                    </a:p>
                  </a:txBody>
                  <a:tcPr>
                    <a:solidFill>
                      <a:schemeClr val="accent4">
                        <a:lumMod val="40000"/>
                        <a:lumOff val="60000"/>
                      </a:schemeClr>
                    </a:solidFill>
                  </a:tcPr>
                </a:tc>
                <a:tc>
                  <a:txBody>
                    <a:bodyPr/>
                    <a:lstStyle/>
                    <a:p>
                      <a:endParaRPr lang="ms-MY"/>
                    </a:p>
                  </a:txBody>
                  <a:tcPr>
                    <a:solidFill>
                      <a:schemeClr val="accent4">
                        <a:lumMod val="40000"/>
                        <a:lumOff val="60000"/>
                      </a:schemeClr>
                    </a:solidFill>
                  </a:tcPr>
                </a:tc>
                <a:tc>
                  <a:txBody>
                    <a:bodyPr/>
                    <a:lstStyle/>
                    <a:p>
                      <a:r>
                        <a:rPr lang="en-US" dirty="0"/>
                        <a:t>Yes</a:t>
                      </a:r>
                      <a:endParaRPr lang="ms-MY" dirty="0"/>
                    </a:p>
                  </a:txBody>
                  <a:tcPr>
                    <a:solidFill>
                      <a:schemeClr val="accent4">
                        <a:lumMod val="40000"/>
                        <a:lumOff val="60000"/>
                      </a:schemeClr>
                    </a:solidFill>
                  </a:tcPr>
                </a:tc>
                <a:extLst>
                  <a:ext uri="{0D108BD9-81ED-4DB2-BD59-A6C34878D82A}">
                    <a16:rowId xmlns:a16="http://schemas.microsoft.com/office/drawing/2014/main" val="1590424712"/>
                  </a:ext>
                </a:extLst>
              </a:tr>
              <a:tr h="370840">
                <a:tc>
                  <a:txBody>
                    <a:bodyPr/>
                    <a:lstStyle/>
                    <a:p>
                      <a:r>
                        <a:rPr lang="ms-MY" sz="1800" b="0" i="0" kern="1200" dirty="0">
                          <a:solidFill>
                            <a:schemeClr val="dk1"/>
                          </a:solidFill>
                          <a:effectLst/>
                          <a:latin typeface="+mn-lt"/>
                          <a:ea typeface="+mn-ea"/>
                          <a:cs typeface="+mn-cs"/>
                        </a:rPr>
                        <a:t>Neural Network</a:t>
                      </a:r>
                      <a:endParaRPr lang="ms-MY" dirty="0"/>
                    </a:p>
                  </a:txBody>
                  <a:tcPr>
                    <a:solidFill>
                      <a:schemeClr val="accent4">
                        <a:lumMod val="40000"/>
                        <a:lumOff val="60000"/>
                      </a:schemeClr>
                    </a:solidFill>
                  </a:tcPr>
                </a:tc>
                <a:tc>
                  <a:txBody>
                    <a:bodyPr/>
                    <a:lstStyle/>
                    <a:p>
                      <a:endParaRPr lang="ms-MY" dirty="0"/>
                    </a:p>
                  </a:txBody>
                  <a:tcPr>
                    <a:solidFill>
                      <a:schemeClr val="accent4">
                        <a:lumMod val="40000"/>
                        <a:lumOff val="60000"/>
                      </a:schemeClr>
                    </a:solidFill>
                  </a:tcPr>
                </a:tc>
                <a:tc>
                  <a:txBody>
                    <a:bodyPr/>
                    <a:lstStyle/>
                    <a:p>
                      <a:r>
                        <a:rPr lang="en-US" dirty="0"/>
                        <a:t>Yes</a:t>
                      </a:r>
                      <a:endParaRPr lang="ms-MY" dirty="0"/>
                    </a:p>
                  </a:txBody>
                  <a:tcPr>
                    <a:solidFill>
                      <a:schemeClr val="accent4">
                        <a:lumMod val="40000"/>
                        <a:lumOff val="60000"/>
                      </a:schemeClr>
                    </a:solidFill>
                  </a:tcPr>
                </a:tc>
                <a:extLst>
                  <a:ext uri="{0D108BD9-81ED-4DB2-BD59-A6C34878D82A}">
                    <a16:rowId xmlns:a16="http://schemas.microsoft.com/office/drawing/2014/main" val="3342944725"/>
                  </a:ext>
                </a:extLst>
              </a:tr>
              <a:tr h="370840">
                <a:tc>
                  <a:txBody>
                    <a:bodyPr/>
                    <a:lstStyle/>
                    <a:p>
                      <a:endParaRPr lang="ms-MY"/>
                    </a:p>
                  </a:txBody>
                  <a:tcPr>
                    <a:solidFill>
                      <a:schemeClr val="accent4">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ms-MY" sz="1800" b="0" i="0" kern="1200" dirty="0">
                          <a:solidFill>
                            <a:schemeClr val="dk1"/>
                          </a:solidFill>
                          <a:effectLst/>
                          <a:latin typeface="+mn-lt"/>
                          <a:ea typeface="+mn-ea"/>
                          <a:cs typeface="+mn-cs"/>
                        </a:rPr>
                        <a:t>k-means</a:t>
                      </a:r>
                      <a:endParaRPr lang="ms-MY" dirty="0"/>
                    </a:p>
                  </a:txBody>
                  <a:tcPr>
                    <a:solidFill>
                      <a:schemeClr val="accent4">
                        <a:lumMod val="40000"/>
                        <a:lumOff val="60000"/>
                      </a:schemeClr>
                    </a:solidFill>
                  </a:tcPr>
                </a:tc>
                <a:tc>
                  <a:txBody>
                    <a:bodyPr/>
                    <a:lstStyle/>
                    <a:p>
                      <a:r>
                        <a:rPr lang="en-US" dirty="0"/>
                        <a:t>Yes</a:t>
                      </a:r>
                      <a:endParaRPr lang="ms-MY" dirty="0"/>
                    </a:p>
                  </a:txBody>
                  <a:tcPr>
                    <a:solidFill>
                      <a:schemeClr val="accent4">
                        <a:lumMod val="40000"/>
                        <a:lumOff val="60000"/>
                      </a:schemeClr>
                    </a:solidFill>
                  </a:tcPr>
                </a:tc>
                <a:extLst>
                  <a:ext uri="{0D108BD9-81ED-4DB2-BD59-A6C34878D82A}">
                    <a16:rowId xmlns:a16="http://schemas.microsoft.com/office/drawing/2014/main" val="772411986"/>
                  </a:ext>
                </a:extLst>
              </a:tr>
              <a:tr h="463583">
                <a:tc>
                  <a:txBody>
                    <a:bodyPr/>
                    <a:lstStyle/>
                    <a:p>
                      <a:endParaRPr lang="ms-MY" dirty="0"/>
                    </a:p>
                  </a:txBody>
                  <a:tcPr>
                    <a:solidFill>
                      <a:schemeClr val="accent4">
                        <a:lumMod val="40000"/>
                        <a:lumOff val="60000"/>
                      </a:schemeClr>
                    </a:solidFill>
                  </a:tcPr>
                </a:tc>
                <a:tc>
                  <a:txBody>
                    <a:bodyPr/>
                    <a:lstStyle/>
                    <a:p>
                      <a:r>
                        <a:rPr lang="en-US" dirty="0"/>
                        <a:t>Association rules</a:t>
                      </a:r>
                      <a:endParaRPr lang="ms-MY" dirty="0"/>
                    </a:p>
                  </a:txBody>
                  <a:tcPr>
                    <a:solidFill>
                      <a:schemeClr val="accent4">
                        <a:lumMod val="40000"/>
                        <a:lumOff val="60000"/>
                      </a:schemeClr>
                    </a:solidFill>
                  </a:tcPr>
                </a:tc>
                <a:tc>
                  <a:txBody>
                    <a:bodyPr/>
                    <a:lstStyle/>
                    <a:p>
                      <a:r>
                        <a:rPr lang="en-US" dirty="0"/>
                        <a:t>Yes</a:t>
                      </a:r>
                      <a:endParaRPr lang="ms-MY" dirty="0"/>
                    </a:p>
                  </a:txBody>
                  <a:tcPr>
                    <a:solidFill>
                      <a:schemeClr val="accent4">
                        <a:lumMod val="40000"/>
                        <a:lumOff val="60000"/>
                      </a:schemeClr>
                    </a:solidFill>
                  </a:tcPr>
                </a:tc>
                <a:extLst>
                  <a:ext uri="{0D108BD9-81ED-4DB2-BD59-A6C34878D82A}">
                    <a16:rowId xmlns:a16="http://schemas.microsoft.com/office/drawing/2014/main" val="474518755"/>
                  </a:ext>
                </a:extLst>
              </a:tr>
              <a:tr h="370840">
                <a:tc gridSpan="3">
                  <a:txBody>
                    <a:bodyPr/>
                    <a:lstStyle/>
                    <a:p>
                      <a:r>
                        <a:rPr lang="ms-MY" sz="1600" b="1" dirty="0">
                          <a:solidFill>
                            <a:srgbClr val="FF0000"/>
                          </a:solidFill>
                        </a:rPr>
                        <a:t>Note: Distance-based model such as SVM, KNN, K-means, RBF kernel – Scaling is crucial</a:t>
                      </a:r>
                    </a:p>
                    <a:p>
                      <a:r>
                        <a:rPr lang="ms-MY" sz="1600" b="1" dirty="0">
                          <a:solidFill>
                            <a:srgbClr val="FF0000"/>
                          </a:solidFill>
                        </a:rPr>
                        <a:t>           Gradient-based model such as ANN – Scaling improves training speed</a:t>
                      </a:r>
                    </a:p>
                    <a:p>
                      <a:endParaRPr lang="ms-MY" b="1" dirty="0">
                        <a:solidFill>
                          <a:srgbClr val="FF0000"/>
                        </a:solidFill>
                      </a:endParaRPr>
                    </a:p>
                  </a:txBody>
                  <a:tcPr>
                    <a:solidFill>
                      <a:schemeClr val="accent4">
                        <a:lumMod val="40000"/>
                        <a:lumOff val="60000"/>
                      </a:schemeClr>
                    </a:solidFill>
                  </a:tcPr>
                </a:tc>
                <a:tc hMerge="1">
                  <a:txBody>
                    <a:bodyPr/>
                    <a:lstStyle/>
                    <a:p>
                      <a:endParaRPr lang="ms-MY"/>
                    </a:p>
                  </a:txBody>
                  <a:tcPr>
                    <a:solidFill>
                      <a:schemeClr val="accent4">
                        <a:lumMod val="40000"/>
                        <a:lumOff val="60000"/>
                      </a:schemeClr>
                    </a:solidFill>
                  </a:tcPr>
                </a:tc>
                <a:tc hMerge="1">
                  <a:txBody>
                    <a:bodyPr/>
                    <a:lstStyle/>
                    <a:p>
                      <a:endParaRPr lang="ms-MY" dirty="0"/>
                    </a:p>
                  </a:txBody>
                  <a:tcPr>
                    <a:solidFill>
                      <a:schemeClr val="accent4">
                        <a:lumMod val="40000"/>
                        <a:lumOff val="60000"/>
                      </a:schemeClr>
                    </a:solidFill>
                  </a:tcPr>
                </a:tc>
                <a:extLst>
                  <a:ext uri="{0D108BD9-81ED-4DB2-BD59-A6C34878D82A}">
                    <a16:rowId xmlns:a16="http://schemas.microsoft.com/office/drawing/2014/main" val="2487473145"/>
                  </a:ext>
                </a:extLst>
              </a:tr>
            </a:tbl>
          </a:graphicData>
        </a:graphic>
      </p:graphicFrame>
      <p:sp>
        <p:nvSpPr>
          <p:cNvPr id="14" name="Rectangle 13"/>
          <p:cNvSpPr/>
          <p:nvPr/>
        </p:nvSpPr>
        <p:spPr>
          <a:xfrm>
            <a:off x="128954" y="5025966"/>
            <a:ext cx="11980984" cy="369332"/>
          </a:xfrm>
          <a:prstGeom prst="rect">
            <a:avLst/>
          </a:prstGeom>
        </p:spPr>
        <p:txBody>
          <a:bodyPr wrap="square">
            <a:spAutoFit/>
          </a:bodyPr>
          <a:lstStyle/>
          <a:p>
            <a:r>
              <a:rPr lang="en-US" b="0" i="0" dirty="0">
                <a:solidFill>
                  <a:schemeClr val="bg1"/>
                </a:solidFill>
                <a:effectLst/>
                <a:latin typeface="Lato"/>
              </a:rPr>
              <a:t>If scaling is not needed, it means you should not see changes between the results you obtain with or without scaling.</a:t>
            </a:r>
            <a:endParaRPr lang="ms-MY" dirty="0">
              <a:solidFill>
                <a:schemeClr val="bg1"/>
              </a:solidFill>
            </a:endParaRPr>
          </a:p>
        </p:txBody>
      </p:sp>
      <p:sp>
        <p:nvSpPr>
          <p:cNvPr id="15" name="Rectangle 14"/>
          <p:cNvSpPr/>
          <p:nvPr/>
        </p:nvSpPr>
        <p:spPr>
          <a:xfrm>
            <a:off x="128952" y="5541838"/>
            <a:ext cx="11980985" cy="646331"/>
          </a:xfrm>
          <a:prstGeom prst="rect">
            <a:avLst/>
          </a:prstGeom>
        </p:spPr>
        <p:txBody>
          <a:bodyPr wrap="square">
            <a:spAutoFit/>
          </a:bodyPr>
          <a:lstStyle/>
          <a:p>
            <a:r>
              <a:rPr lang="en-US" b="0" i="0" dirty="0">
                <a:solidFill>
                  <a:schemeClr val="bg1"/>
                </a:solidFill>
                <a:effectLst/>
                <a:latin typeface="Lato"/>
              </a:rPr>
              <a:t>If it says yes, probably, it means that scaling is useful as features should have the same order of magnitude for the algorithm to work properly. However, it does not mean that performance will increase.</a:t>
            </a:r>
            <a:endParaRPr lang="ms-MY" dirty="0">
              <a:solidFill>
                <a:schemeClr val="bg1"/>
              </a:solidFill>
            </a:endParaRPr>
          </a:p>
        </p:txBody>
      </p:sp>
    </p:spTree>
    <p:extLst>
      <p:ext uri="{BB962C8B-B14F-4D97-AF65-F5344CB8AC3E}">
        <p14:creationId xmlns:p14="http://schemas.microsoft.com/office/powerpoint/2010/main" val="642512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repeatCount="indefinite"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5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150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xit" presetSubtype="8" repeatCount="indefinite" fill="hold" nodeType="withEffect">
                                  <p:stCondLst>
                                    <p:cond delay="500"/>
                                  </p:stCondLst>
                                  <p:childTnLst>
                                    <p:anim calcmode="lin" valueType="num">
                                      <p:cBhvr additive="base">
                                        <p:cTn id="10" dur="15000"/>
                                        <p:tgtEl>
                                          <p:spTgt spid="5">
                                            <p:txEl>
                                              <p:pRg st="0" end="0"/>
                                            </p:txEl>
                                          </p:spTgt>
                                        </p:tgtEl>
                                        <p:attrNameLst>
                                          <p:attrName>ppt_x</p:attrName>
                                        </p:attrNameLst>
                                      </p:cBhvr>
                                      <p:tavLst>
                                        <p:tav tm="0">
                                          <p:val>
                                            <p:strVal val="ppt_x"/>
                                          </p:val>
                                        </p:tav>
                                        <p:tav tm="100000">
                                          <p:val>
                                            <p:strVal val="0-ppt_w/2"/>
                                          </p:val>
                                        </p:tav>
                                      </p:tavLst>
                                    </p:anim>
                                    <p:anim calcmode="lin" valueType="num">
                                      <p:cBhvr additive="base">
                                        <p:cTn id="11" dur="15000"/>
                                        <p:tgtEl>
                                          <p:spTgt spid="5">
                                            <p:txEl>
                                              <p:pRg st="0" end="0"/>
                                            </p:txEl>
                                          </p:spTgt>
                                        </p:tgtEl>
                                        <p:attrNameLst>
                                          <p:attrName>ppt_y</p:attrName>
                                        </p:attrNameLst>
                                      </p:cBhvr>
                                      <p:tavLst>
                                        <p:tav tm="0">
                                          <p:val>
                                            <p:strVal val="ppt_y"/>
                                          </p:val>
                                        </p:tav>
                                        <p:tav tm="100000">
                                          <p:val>
                                            <p:strVal val="ppt_y"/>
                                          </p:val>
                                        </p:tav>
                                      </p:tavLst>
                                    </p:anim>
                                    <p:set>
                                      <p:cBhvr>
                                        <p:cTn id="12" dur="1" fill="hold">
                                          <p:stCondLst>
                                            <p:cond delay="14999"/>
                                          </p:stCondLst>
                                        </p:cTn>
                                        <p:tgtEl>
                                          <p:spTgt spid="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6423130"/>
            <a:ext cx="12192000" cy="41801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s-MY"/>
          </a:p>
        </p:txBody>
      </p:sp>
      <p:sp>
        <p:nvSpPr>
          <p:cNvPr id="5" name="TextBox 4"/>
          <p:cNvSpPr txBox="1"/>
          <p:nvPr/>
        </p:nvSpPr>
        <p:spPr>
          <a:xfrm>
            <a:off x="654448" y="6447469"/>
            <a:ext cx="10755085" cy="369332"/>
          </a:xfrm>
          <a:prstGeom prst="rect">
            <a:avLst/>
          </a:prstGeom>
          <a:noFill/>
        </p:spPr>
        <p:txBody>
          <a:bodyPr wrap="square" rtlCol="0">
            <a:spAutoFit/>
          </a:bodyPr>
          <a:lstStyle/>
          <a:p>
            <a:r>
              <a:rPr lang="en-US" b="1" dirty="0">
                <a:solidFill>
                  <a:schemeClr val="bg1"/>
                </a:solidFill>
              </a:rPr>
              <a:t>PROJECT RELATED TO ARTIFICIAL INTELLIGENCE</a:t>
            </a:r>
            <a:endParaRPr lang="ms-MY" b="1" dirty="0">
              <a:solidFill>
                <a:schemeClr val="bg1"/>
              </a:solidFill>
            </a:endParaRPr>
          </a:p>
        </p:txBody>
      </p:sp>
      <p:sp>
        <p:nvSpPr>
          <p:cNvPr id="6" name="TextBox 5"/>
          <p:cNvSpPr txBox="1"/>
          <p:nvPr/>
        </p:nvSpPr>
        <p:spPr>
          <a:xfrm>
            <a:off x="654448" y="6423130"/>
            <a:ext cx="10755085" cy="369332"/>
          </a:xfrm>
          <a:prstGeom prst="rect">
            <a:avLst/>
          </a:prstGeom>
          <a:noFill/>
        </p:spPr>
        <p:txBody>
          <a:bodyPr wrap="square" rtlCol="0">
            <a:spAutoFit/>
          </a:bodyPr>
          <a:lstStyle/>
          <a:p>
            <a:r>
              <a:rPr lang="en-US" b="1" dirty="0">
                <a:solidFill>
                  <a:schemeClr val="bg1"/>
                </a:solidFill>
              </a:rPr>
              <a:t>PROJECT RELATED TO ARTIFICIAL INTELLIGENCE - TQ</a:t>
            </a:r>
            <a:endParaRPr lang="ms-MY" b="1" dirty="0">
              <a:solidFill>
                <a:schemeClr val="bg1"/>
              </a:solidFill>
            </a:endParaRPr>
          </a:p>
        </p:txBody>
      </p:sp>
      <p:sp>
        <p:nvSpPr>
          <p:cNvPr id="2" name="Rectangle 1"/>
          <p:cNvSpPr/>
          <p:nvPr/>
        </p:nvSpPr>
        <p:spPr>
          <a:xfrm>
            <a:off x="0" y="742128"/>
            <a:ext cx="12063046" cy="1015663"/>
          </a:xfrm>
          <a:prstGeom prst="rect">
            <a:avLst/>
          </a:prstGeom>
        </p:spPr>
        <p:txBody>
          <a:bodyPr wrap="square">
            <a:spAutoFit/>
          </a:bodyPr>
          <a:lstStyle/>
          <a:p>
            <a:r>
              <a:rPr lang="en-US" sz="2000" dirty="0">
                <a:solidFill>
                  <a:schemeClr val="bg1"/>
                </a:solidFill>
                <a:latin typeface="charter"/>
              </a:rPr>
              <a:t>T</a:t>
            </a:r>
            <a:r>
              <a:rPr lang="en-US" sz="2000" b="0" i="0" dirty="0">
                <a:solidFill>
                  <a:schemeClr val="bg1"/>
                </a:solidFill>
                <a:effectLst/>
                <a:latin typeface="charter"/>
              </a:rPr>
              <a:t>he process of labeling the data available in various formats like text, video or images. For supervised machine learning labeled data sets are required, so that machine can easily and clearly understand the input patterns.</a:t>
            </a:r>
            <a:endParaRPr lang="ms-MY" sz="2000" dirty="0">
              <a:solidFill>
                <a:schemeClr val="bg1"/>
              </a:solidFill>
            </a:endParaRPr>
          </a:p>
        </p:txBody>
      </p:sp>
      <p:sp>
        <p:nvSpPr>
          <p:cNvPr id="3" name="TextBox 2"/>
          <p:cNvSpPr txBox="1"/>
          <p:nvPr/>
        </p:nvSpPr>
        <p:spPr>
          <a:xfrm>
            <a:off x="0" y="0"/>
            <a:ext cx="2979726" cy="523220"/>
          </a:xfrm>
          <a:prstGeom prst="rect">
            <a:avLst/>
          </a:prstGeom>
          <a:noFill/>
        </p:spPr>
        <p:txBody>
          <a:bodyPr wrap="none" rtlCol="0">
            <a:spAutoFit/>
          </a:bodyPr>
          <a:lstStyle/>
          <a:p>
            <a:r>
              <a:rPr lang="en-US" sz="2800" dirty="0">
                <a:solidFill>
                  <a:srgbClr val="FFFF00"/>
                </a:solidFill>
              </a:rPr>
              <a:t>DATA ANNOTATION</a:t>
            </a:r>
            <a:endParaRPr lang="ms-MY" sz="2800" dirty="0">
              <a:solidFill>
                <a:srgbClr val="FFFF00"/>
              </a:solidFill>
            </a:endParaRPr>
          </a:p>
        </p:txBody>
      </p:sp>
      <p:pic>
        <p:nvPicPr>
          <p:cNvPr id="9" name="Picture 8"/>
          <p:cNvPicPr>
            <a:picLocks noChangeAspect="1"/>
          </p:cNvPicPr>
          <p:nvPr/>
        </p:nvPicPr>
        <p:blipFill>
          <a:blip r:embed="rId3"/>
          <a:stretch>
            <a:fillRect/>
          </a:stretch>
        </p:blipFill>
        <p:spPr>
          <a:xfrm>
            <a:off x="1488831" y="2080113"/>
            <a:ext cx="9448800" cy="4343016"/>
          </a:xfrm>
          <a:prstGeom prst="rect">
            <a:avLst/>
          </a:prstGeom>
        </p:spPr>
      </p:pic>
    </p:spTree>
    <p:extLst>
      <p:ext uri="{BB962C8B-B14F-4D97-AF65-F5344CB8AC3E}">
        <p14:creationId xmlns:p14="http://schemas.microsoft.com/office/powerpoint/2010/main" val="531967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repeatCount="indefinite"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5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150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xit" presetSubtype="8" repeatCount="indefinite" fill="hold" nodeType="withEffect">
                                  <p:stCondLst>
                                    <p:cond delay="500"/>
                                  </p:stCondLst>
                                  <p:childTnLst>
                                    <p:anim calcmode="lin" valueType="num">
                                      <p:cBhvr additive="base">
                                        <p:cTn id="10" dur="15000"/>
                                        <p:tgtEl>
                                          <p:spTgt spid="5">
                                            <p:txEl>
                                              <p:pRg st="0" end="0"/>
                                            </p:txEl>
                                          </p:spTgt>
                                        </p:tgtEl>
                                        <p:attrNameLst>
                                          <p:attrName>ppt_x</p:attrName>
                                        </p:attrNameLst>
                                      </p:cBhvr>
                                      <p:tavLst>
                                        <p:tav tm="0">
                                          <p:val>
                                            <p:strVal val="ppt_x"/>
                                          </p:val>
                                        </p:tav>
                                        <p:tav tm="100000">
                                          <p:val>
                                            <p:strVal val="0-ppt_w/2"/>
                                          </p:val>
                                        </p:tav>
                                      </p:tavLst>
                                    </p:anim>
                                    <p:anim calcmode="lin" valueType="num">
                                      <p:cBhvr additive="base">
                                        <p:cTn id="11" dur="15000"/>
                                        <p:tgtEl>
                                          <p:spTgt spid="5">
                                            <p:txEl>
                                              <p:pRg st="0" end="0"/>
                                            </p:txEl>
                                          </p:spTgt>
                                        </p:tgtEl>
                                        <p:attrNameLst>
                                          <p:attrName>ppt_y</p:attrName>
                                        </p:attrNameLst>
                                      </p:cBhvr>
                                      <p:tavLst>
                                        <p:tav tm="0">
                                          <p:val>
                                            <p:strVal val="ppt_y"/>
                                          </p:val>
                                        </p:tav>
                                        <p:tav tm="100000">
                                          <p:val>
                                            <p:strVal val="ppt_y"/>
                                          </p:val>
                                        </p:tav>
                                      </p:tavLst>
                                    </p:anim>
                                    <p:set>
                                      <p:cBhvr>
                                        <p:cTn id="12" dur="1" fill="hold">
                                          <p:stCondLst>
                                            <p:cond delay="14999"/>
                                          </p:stCondLst>
                                        </p:cTn>
                                        <p:tgtEl>
                                          <p:spTgt spid="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6423130"/>
            <a:ext cx="12192000" cy="41801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s-MY"/>
          </a:p>
        </p:txBody>
      </p:sp>
      <p:sp>
        <p:nvSpPr>
          <p:cNvPr id="5" name="TextBox 4"/>
          <p:cNvSpPr txBox="1"/>
          <p:nvPr/>
        </p:nvSpPr>
        <p:spPr>
          <a:xfrm>
            <a:off x="654448" y="6447469"/>
            <a:ext cx="10755085" cy="369332"/>
          </a:xfrm>
          <a:prstGeom prst="rect">
            <a:avLst/>
          </a:prstGeom>
          <a:noFill/>
        </p:spPr>
        <p:txBody>
          <a:bodyPr wrap="square" rtlCol="0">
            <a:spAutoFit/>
          </a:bodyPr>
          <a:lstStyle/>
          <a:p>
            <a:r>
              <a:rPr lang="en-US" b="1" dirty="0">
                <a:solidFill>
                  <a:schemeClr val="bg1"/>
                </a:solidFill>
              </a:rPr>
              <a:t>PROJECT RELATED TO ARTIFICIAL INTELLIGENCE</a:t>
            </a:r>
            <a:endParaRPr lang="ms-MY" b="1" dirty="0">
              <a:solidFill>
                <a:schemeClr val="bg1"/>
              </a:solidFill>
            </a:endParaRPr>
          </a:p>
        </p:txBody>
      </p:sp>
      <p:sp>
        <p:nvSpPr>
          <p:cNvPr id="6" name="TextBox 5"/>
          <p:cNvSpPr txBox="1"/>
          <p:nvPr/>
        </p:nvSpPr>
        <p:spPr>
          <a:xfrm>
            <a:off x="654448" y="6423130"/>
            <a:ext cx="10755085" cy="369332"/>
          </a:xfrm>
          <a:prstGeom prst="rect">
            <a:avLst/>
          </a:prstGeom>
          <a:noFill/>
        </p:spPr>
        <p:txBody>
          <a:bodyPr wrap="square" rtlCol="0">
            <a:spAutoFit/>
          </a:bodyPr>
          <a:lstStyle/>
          <a:p>
            <a:r>
              <a:rPr lang="en-US" b="1" dirty="0">
                <a:solidFill>
                  <a:schemeClr val="bg1"/>
                </a:solidFill>
              </a:rPr>
              <a:t>PROJECT RELATED TO ARTIFICIAL INTELLIGENCE - TQ</a:t>
            </a:r>
            <a:endParaRPr lang="ms-MY" b="1" dirty="0">
              <a:solidFill>
                <a:schemeClr val="bg1"/>
              </a:solidFill>
            </a:endParaRPr>
          </a:p>
        </p:txBody>
      </p:sp>
      <p:sp>
        <p:nvSpPr>
          <p:cNvPr id="2" name="TextBox 1"/>
          <p:cNvSpPr txBox="1"/>
          <p:nvPr/>
        </p:nvSpPr>
        <p:spPr>
          <a:xfrm>
            <a:off x="3048000" y="3692769"/>
            <a:ext cx="6389077" cy="523220"/>
          </a:xfrm>
          <a:prstGeom prst="rect">
            <a:avLst/>
          </a:prstGeom>
          <a:noFill/>
        </p:spPr>
        <p:txBody>
          <a:bodyPr wrap="square" rtlCol="0">
            <a:spAutoFit/>
          </a:bodyPr>
          <a:lstStyle/>
          <a:p>
            <a:r>
              <a:rPr lang="en-US" sz="2800" dirty="0">
                <a:solidFill>
                  <a:schemeClr val="bg1"/>
                </a:solidFill>
              </a:rPr>
              <a:t>FINISHED WITH PLANNING &amp; COLLECTION</a:t>
            </a:r>
            <a:endParaRPr lang="ms-MY" sz="2800" dirty="0">
              <a:solidFill>
                <a:schemeClr val="bg1"/>
              </a:solidFill>
            </a:endParaRPr>
          </a:p>
        </p:txBody>
      </p:sp>
    </p:spTree>
    <p:extLst>
      <p:ext uri="{BB962C8B-B14F-4D97-AF65-F5344CB8AC3E}">
        <p14:creationId xmlns:p14="http://schemas.microsoft.com/office/powerpoint/2010/main" val="3180898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repeatCount="indefinite"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5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150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xit" presetSubtype="8" repeatCount="indefinite" fill="hold" nodeType="withEffect">
                                  <p:stCondLst>
                                    <p:cond delay="500"/>
                                  </p:stCondLst>
                                  <p:childTnLst>
                                    <p:anim calcmode="lin" valueType="num">
                                      <p:cBhvr additive="base">
                                        <p:cTn id="10" dur="15000"/>
                                        <p:tgtEl>
                                          <p:spTgt spid="5">
                                            <p:txEl>
                                              <p:pRg st="0" end="0"/>
                                            </p:txEl>
                                          </p:spTgt>
                                        </p:tgtEl>
                                        <p:attrNameLst>
                                          <p:attrName>ppt_x</p:attrName>
                                        </p:attrNameLst>
                                      </p:cBhvr>
                                      <p:tavLst>
                                        <p:tav tm="0">
                                          <p:val>
                                            <p:strVal val="ppt_x"/>
                                          </p:val>
                                        </p:tav>
                                        <p:tav tm="100000">
                                          <p:val>
                                            <p:strVal val="0-ppt_w/2"/>
                                          </p:val>
                                        </p:tav>
                                      </p:tavLst>
                                    </p:anim>
                                    <p:anim calcmode="lin" valueType="num">
                                      <p:cBhvr additive="base">
                                        <p:cTn id="11" dur="15000"/>
                                        <p:tgtEl>
                                          <p:spTgt spid="5">
                                            <p:txEl>
                                              <p:pRg st="0" end="0"/>
                                            </p:txEl>
                                          </p:spTgt>
                                        </p:tgtEl>
                                        <p:attrNameLst>
                                          <p:attrName>ppt_y</p:attrName>
                                        </p:attrNameLst>
                                      </p:cBhvr>
                                      <p:tavLst>
                                        <p:tav tm="0">
                                          <p:val>
                                            <p:strVal val="ppt_y"/>
                                          </p:val>
                                        </p:tav>
                                        <p:tav tm="100000">
                                          <p:val>
                                            <p:strVal val="ppt_y"/>
                                          </p:val>
                                        </p:tav>
                                      </p:tavLst>
                                    </p:anim>
                                    <p:set>
                                      <p:cBhvr>
                                        <p:cTn id="12" dur="1" fill="hold">
                                          <p:stCondLst>
                                            <p:cond delay="14999"/>
                                          </p:stCondLst>
                                        </p:cTn>
                                        <p:tgtEl>
                                          <p:spTgt spid="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6423130"/>
            <a:ext cx="12192000" cy="41801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s-MY"/>
          </a:p>
        </p:txBody>
      </p:sp>
      <p:sp>
        <p:nvSpPr>
          <p:cNvPr id="5" name="TextBox 4"/>
          <p:cNvSpPr txBox="1"/>
          <p:nvPr/>
        </p:nvSpPr>
        <p:spPr>
          <a:xfrm>
            <a:off x="654448" y="6447469"/>
            <a:ext cx="10755085" cy="369332"/>
          </a:xfrm>
          <a:prstGeom prst="rect">
            <a:avLst/>
          </a:prstGeom>
          <a:noFill/>
        </p:spPr>
        <p:txBody>
          <a:bodyPr wrap="square" rtlCol="0">
            <a:spAutoFit/>
          </a:bodyPr>
          <a:lstStyle/>
          <a:p>
            <a:r>
              <a:rPr lang="en-US" b="1" dirty="0">
                <a:solidFill>
                  <a:schemeClr val="bg1"/>
                </a:solidFill>
              </a:rPr>
              <a:t>PROJECT RELATED TO ARTIFICIAL INTELLIGENCE</a:t>
            </a:r>
            <a:endParaRPr lang="ms-MY" b="1" dirty="0">
              <a:solidFill>
                <a:schemeClr val="bg1"/>
              </a:solidFill>
            </a:endParaRPr>
          </a:p>
        </p:txBody>
      </p:sp>
      <p:sp>
        <p:nvSpPr>
          <p:cNvPr id="6" name="TextBox 5"/>
          <p:cNvSpPr txBox="1"/>
          <p:nvPr/>
        </p:nvSpPr>
        <p:spPr>
          <a:xfrm>
            <a:off x="654448" y="6423130"/>
            <a:ext cx="10755085" cy="369332"/>
          </a:xfrm>
          <a:prstGeom prst="rect">
            <a:avLst/>
          </a:prstGeom>
          <a:noFill/>
        </p:spPr>
        <p:txBody>
          <a:bodyPr wrap="square" rtlCol="0">
            <a:spAutoFit/>
          </a:bodyPr>
          <a:lstStyle/>
          <a:p>
            <a:r>
              <a:rPr lang="en-US" b="1" dirty="0">
                <a:solidFill>
                  <a:schemeClr val="bg1"/>
                </a:solidFill>
              </a:rPr>
              <a:t>PROJECT RELATED TO ARTIFICIAL INTELLIGENCE - TQ</a:t>
            </a:r>
            <a:endParaRPr lang="ms-MY" b="1" dirty="0">
              <a:solidFill>
                <a:schemeClr val="bg1"/>
              </a:solidFill>
            </a:endParaRPr>
          </a:p>
        </p:txBody>
      </p:sp>
      <p:sp>
        <p:nvSpPr>
          <p:cNvPr id="3" name="Rectangle 2"/>
          <p:cNvSpPr/>
          <p:nvPr/>
        </p:nvSpPr>
        <p:spPr>
          <a:xfrm>
            <a:off x="334107" y="868904"/>
            <a:ext cx="11523785" cy="707886"/>
          </a:xfrm>
          <a:prstGeom prst="rect">
            <a:avLst/>
          </a:prstGeom>
        </p:spPr>
        <p:txBody>
          <a:bodyPr wrap="square">
            <a:spAutoFit/>
          </a:bodyPr>
          <a:lstStyle/>
          <a:p>
            <a:r>
              <a:rPr lang="en-US" sz="2000" b="1" i="0" dirty="0">
                <a:solidFill>
                  <a:srgbClr val="FFFF00"/>
                </a:solidFill>
                <a:effectLst/>
                <a:latin typeface="Merriweather"/>
              </a:rPr>
              <a:t>There are several models that you can choose according to the objective that you might have: you will use algorithms of CLASSIFICATION, FORECASTING OR CLUSTERING.</a:t>
            </a:r>
            <a:endParaRPr lang="ms-MY" sz="2000" b="1" dirty="0">
              <a:solidFill>
                <a:srgbClr val="FFFF00"/>
              </a:solidFill>
            </a:endParaRPr>
          </a:p>
        </p:txBody>
      </p:sp>
      <p:sp>
        <p:nvSpPr>
          <p:cNvPr id="7" name="Rectangle 6"/>
          <p:cNvSpPr/>
          <p:nvPr/>
        </p:nvSpPr>
        <p:spPr>
          <a:xfrm>
            <a:off x="0" y="0"/>
            <a:ext cx="3225242" cy="523220"/>
          </a:xfrm>
          <a:prstGeom prst="rect">
            <a:avLst/>
          </a:prstGeom>
        </p:spPr>
        <p:txBody>
          <a:bodyPr wrap="none">
            <a:spAutoFit/>
          </a:bodyPr>
          <a:lstStyle/>
          <a:p>
            <a:r>
              <a:rPr lang="en-US" sz="2800" b="1" dirty="0">
                <a:solidFill>
                  <a:srgbClr val="FFFF00"/>
                </a:solidFill>
              </a:rPr>
              <a:t>DESIGN &amp; TRAINING</a:t>
            </a:r>
            <a:endParaRPr lang="ms-MY" sz="2800" b="1" dirty="0">
              <a:solidFill>
                <a:srgbClr val="FFFF00"/>
              </a:solidFill>
            </a:endParaRPr>
          </a:p>
        </p:txBody>
      </p:sp>
      <p:graphicFrame>
        <p:nvGraphicFramePr>
          <p:cNvPr id="8" name="Table 7"/>
          <p:cNvGraphicFramePr>
            <a:graphicFrameLocks noGrp="1"/>
          </p:cNvGraphicFramePr>
          <p:nvPr>
            <p:extLst>
              <p:ext uri="{D42A27DB-BD31-4B8C-83A1-F6EECF244321}">
                <p14:modId xmlns:p14="http://schemas.microsoft.com/office/powerpoint/2010/main" val="1157048008"/>
              </p:ext>
            </p:extLst>
          </p:nvPr>
        </p:nvGraphicFramePr>
        <p:xfrm>
          <a:off x="2028091" y="1801732"/>
          <a:ext cx="7455878" cy="4597057"/>
        </p:xfrm>
        <a:graphic>
          <a:graphicData uri="http://schemas.openxmlformats.org/drawingml/2006/table">
            <a:tbl>
              <a:tblPr/>
              <a:tblGrid>
                <a:gridCol w="3727939">
                  <a:extLst>
                    <a:ext uri="{9D8B030D-6E8A-4147-A177-3AD203B41FA5}">
                      <a16:colId xmlns:a16="http://schemas.microsoft.com/office/drawing/2014/main" val="2600588607"/>
                    </a:ext>
                  </a:extLst>
                </a:gridCol>
                <a:gridCol w="3727939">
                  <a:extLst>
                    <a:ext uri="{9D8B030D-6E8A-4147-A177-3AD203B41FA5}">
                      <a16:colId xmlns:a16="http://schemas.microsoft.com/office/drawing/2014/main" val="558341598"/>
                    </a:ext>
                  </a:extLst>
                </a:gridCol>
              </a:tblGrid>
              <a:tr h="298589">
                <a:tc>
                  <a:txBody>
                    <a:bodyPr/>
                    <a:lstStyle/>
                    <a:p>
                      <a:pPr algn="l"/>
                      <a:r>
                        <a:rPr lang="ms-MY" sz="1400" b="1">
                          <a:effectLst/>
                        </a:rPr>
                        <a:t>Model</a:t>
                      </a:r>
                    </a:p>
                  </a:txBody>
                  <a:tcPr marL="70183" marR="70183" marT="35091" marB="35091" anchor="ctr">
                    <a:lnL>
                      <a:noFill/>
                    </a:lnL>
                    <a:lnR>
                      <a:noFill/>
                    </a:lnR>
                    <a:lnT>
                      <a:noFill/>
                    </a:lnT>
                    <a:lnB>
                      <a:noFill/>
                    </a:lnB>
                    <a:solidFill>
                      <a:srgbClr val="FFFFFF"/>
                    </a:solidFill>
                  </a:tcPr>
                </a:tc>
                <a:tc>
                  <a:txBody>
                    <a:bodyPr/>
                    <a:lstStyle/>
                    <a:p>
                      <a:pPr algn="l"/>
                      <a:r>
                        <a:rPr lang="ms-MY" sz="1400" b="1">
                          <a:effectLst/>
                        </a:rPr>
                        <a:t>Applications</a:t>
                      </a:r>
                    </a:p>
                  </a:txBody>
                  <a:tcPr marL="70183" marR="70183" marT="35091" marB="35091" anchor="ctr">
                    <a:lnL>
                      <a:noFill/>
                    </a:lnL>
                    <a:lnR>
                      <a:noFill/>
                    </a:lnR>
                    <a:lnT>
                      <a:noFill/>
                    </a:lnT>
                    <a:lnB>
                      <a:noFill/>
                    </a:lnB>
                    <a:solidFill>
                      <a:srgbClr val="FFFFFF"/>
                    </a:solidFill>
                  </a:tcPr>
                </a:tc>
                <a:extLst>
                  <a:ext uri="{0D108BD9-81ED-4DB2-BD59-A6C34878D82A}">
                    <a16:rowId xmlns:a16="http://schemas.microsoft.com/office/drawing/2014/main" val="2113836653"/>
                  </a:ext>
                </a:extLst>
              </a:tr>
              <a:tr h="298589">
                <a:tc>
                  <a:txBody>
                    <a:bodyPr/>
                    <a:lstStyle/>
                    <a:p>
                      <a:pPr algn="l"/>
                      <a:r>
                        <a:rPr lang="ms-MY" sz="1400">
                          <a:solidFill>
                            <a:srgbClr val="0A0A0A"/>
                          </a:solidFill>
                          <a:effectLst/>
                        </a:rPr>
                        <a:t>Logistic Regression</a:t>
                      </a:r>
                    </a:p>
                  </a:txBody>
                  <a:tcPr marL="70183" marR="70183" marT="35091" marB="35091" anchor="ctr">
                    <a:lnL>
                      <a:noFill/>
                    </a:lnL>
                    <a:lnR>
                      <a:noFill/>
                    </a:lnR>
                    <a:lnT>
                      <a:noFill/>
                    </a:lnT>
                    <a:lnB>
                      <a:noFill/>
                    </a:lnB>
                    <a:solidFill>
                      <a:srgbClr val="FFFFFF"/>
                    </a:solidFill>
                  </a:tcPr>
                </a:tc>
                <a:tc>
                  <a:txBody>
                    <a:bodyPr/>
                    <a:lstStyle/>
                    <a:p>
                      <a:pPr algn="l"/>
                      <a:r>
                        <a:rPr lang="ms-MY" sz="1400">
                          <a:solidFill>
                            <a:srgbClr val="0A0A0A"/>
                          </a:solidFill>
                          <a:effectLst/>
                        </a:rPr>
                        <a:t>Price prediction</a:t>
                      </a:r>
                    </a:p>
                  </a:txBody>
                  <a:tcPr marL="70183" marR="70183" marT="35091" marB="35091" anchor="ctr">
                    <a:lnL>
                      <a:noFill/>
                    </a:lnL>
                    <a:lnR>
                      <a:noFill/>
                    </a:lnR>
                    <a:lnT>
                      <a:noFill/>
                    </a:lnT>
                    <a:lnB>
                      <a:noFill/>
                    </a:lnB>
                    <a:solidFill>
                      <a:srgbClr val="FFFFFF"/>
                    </a:solidFill>
                  </a:tcPr>
                </a:tc>
                <a:extLst>
                  <a:ext uri="{0D108BD9-81ED-4DB2-BD59-A6C34878D82A}">
                    <a16:rowId xmlns:a16="http://schemas.microsoft.com/office/drawing/2014/main" val="2064736120"/>
                  </a:ext>
                </a:extLst>
              </a:tr>
              <a:tr h="517352">
                <a:tc>
                  <a:txBody>
                    <a:bodyPr/>
                    <a:lstStyle/>
                    <a:p>
                      <a:pPr algn="l"/>
                      <a:r>
                        <a:rPr lang="ms-MY" sz="1400">
                          <a:solidFill>
                            <a:srgbClr val="0A0A0A"/>
                          </a:solidFill>
                          <a:effectLst/>
                        </a:rPr>
                        <a:t>Fully connected networks</a:t>
                      </a:r>
                    </a:p>
                  </a:txBody>
                  <a:tcPr marL="70183" marR="70183" marT="35091" marB="35091" anchor="ctr">
                    <a:lnL>
                      <a:noFill/>
                    </a:lnL>
                    <a:lnR>
                      <a:noFill/>
                    </a:lnR>
                    <a:lnT>
                      <a:noFill/>
                    </a:lnT>
                    <a:lnB>
                      <a:noFill/>
                    </a:lnB>
                    <a:solidFill>
                      <a:srgbClr val="F1F1F1"/>
                    </a:solidFill>
                  </a:tcPr>
                </a:tc>
                <a:tc>
                  <a:txBody>
                    <a:bodyPr/>
                    <a:lstStyle/>
                    <a:p>
                      <a:pPr algn="l"/>
                      <a:r>
                        <a:rPr lang="ms-MY" sz="1400">
                          <a:solidFill>
                            <a:srgbClr val="0A0A0A"/>
                          </a:solidFill>
                          <a:effectLst/>
                        </a:rPr>
                        <a:t>Classification</a:t>
                      </a:r>
                    </a:p>
                  </a:txBody>
                  <a:tcPr marL="70183" marR="70183" marT="35091" marB="35091" anchor="ctr">
                    <a:lnL>
                      <a:noFill/>
                    </a:lnL>
                    <a:lnR>
                      <a:noFill/>
                    </a:lnR>
                    <a:lnT>
                      <a:noFill/>
                    </a:lnT>
                    <a:lnB>
                      <a:noFill/>
                    </a:lnB>
                    <a:solidFill>
                      <a:srgbClr val="F1F1F1"/>
                    </a:solidFill>
                  </a:tcPr>
                </a:tc>
                <a:extLst>
                  <a:ext uri="{0D108BD9-81ED-4DB2-BD59-A6C34878D82A}">
                    <a16:rowId xmlns:a16="http://schemas.microsoft.com/office/drawing/2014/main" val="3577573518"/>
                  </a:ext>
                </a:extLst>
              </a:tr>
              <a:tr h="517352">
                <a:tc>
                  <a:txBody>
                    <a:bodyPr/>
                    <a:lstStyle/>
                    <a:p>
                      <a:pPr algn="l"/>
                      <a:r>
                        <a:rPr lang="ms-MY" sz="1400">
                          <a:solidFill>
                            <a:srgbClr val="0A0A0A"/>
                          </a:solidFill>
                          <a:effectLst/>
                        </a:rPr>
                        <a:t>Convolutional Neural Networks</a:t>
                      </a:r>
                    </a:p>
                  </a:txBody>
                  <a:tcPr marL="70183" marR="70183" marT="35091" marB="35091" anchor="ctr">
                    <a:lnL>
                      <a:noFill/>
                    </a:lnL>
                    <a:lnR>
                      <a:noFill/>
                    </a:lnR>
                    <a:lnT>
                      <a:noFill/>
                    </a:lnT>
                    <a:lnB>
                      <a:noFill/>
                    </a:lnB>
                    <a:solidFill>
                      <a:srgbClr val="FFFFFF"/>
                    </a:solidFill>
                  </a:tcPr>
                </a:tc>
                <a:tc>
                  <a:txBody>
                    <a:bodyPr/>
                    <a:lstStyle/>
                    <a:p>
                      <a:pPr algn="l"/>
                      <a:r>
                        <a:rPr lang="ms-MY" sz="1400">
                          <a:solidFill>
                            <a:srgbClr val="0A0A0A"/>
                          </a:solidFill>
                          <a:effectLst/>
                        </a:rPr>
                        <a:t>Image processing</a:t>
                      </a:r>
                    </a:p>
                  </a:txBody>
                  <a:tcPr marL="70183" marR="70183" marT="35091" marB="35091" anchor="ctr">
                    <a:lnL>
                      <a:noFill/>
                    </a:lnL>
                    <a:lnR>
                      <a:noFill/>
                    </a:lnR>
                    <a:lnT>
                      <a:noFill/>
                    </a:lnT>
                    <a:lnB>
                      <a:noFill/>
                    </a:lnB>
                    <a:solidFill>
                      <a:srgbClr val="FFFFFF"/>
                    </a:solidFill>
                  </a:tcPr>
                </a:tc>
                <a:extLst>
                  <a:ext uri="{0D108BD9-81ED-4DB2-BD59-A6C34878D82A}">
                    <a16:rowId xmlns:a16="http://schemas.microsoft.com/office/drawing/2014/main" val="1254335649"/>
                  </a:ext>
                </a:extLst>
              </a:tr>
              <a:tr h="517352">
                <a:tc>
                  <a:txBody>
                    <a:bodyPr/>
                    <a:lstStyle/>
                    <a:p>
                      <a:pPr algn="l"/>
                      <a:r>
                        <a:rPr lang="ms-MY" sz="1400">
                          <a:solidFill>
                            <a:srgbClr val="0A0A0A"/>
                          </a:solidFill>
                          <a:effectLst/>
                        </a:rPr>
                        <a:t>Recurrent Neural Networks</a:t>
                      </a:r>
                    </a:p>
                  </a:txBody>
                  <a:tcPr marL="70183" marR="70183" marT="35091" marB="35091" anchor="ctr">
                    <a:lnL>
                      <a:noFill/>
                    </a:lnL>
                    <a:lnR>
                      <a:noFill/>
                    </a:lnR>
                    <a:lnT>
                      <a:noFill/>
                    </a:lnT>
                    <a:lnB>
                      <a:noFill/>
                    </a:lnB>
                    <a:solidFill>
                      <a:srgbClr val="F1F1F1"/>
                    </a:solidFill>
                  </a:tcPr>
                </a:tc>
                <a:tc>
                  <a:txBody>
                    <a:bodyPr/>
                    <a:lstStyle/>
                    <a:p>
                      <a:pPr algn="l"/>
                      <a:r>
                        <a:rPr lang="ms-MY" sz="1400">
                          <a:solidFill>
                            <a:srgbClr val="0A0A0A"/>
                          </a:solidFill>
                          <a:effectLst/>
                        </a:rPr>
                        <a:t>Voice recognition</a:t>
                      </a:r>
                    </a:p>
                  </a:txBody>
                  <a:tcPr marL="70183" marR="70183" marT="35091" marB="35091" anchor="ctr">
                    <a:lnL>
                      <a:noFill/>
                    </a:lnL>
                    <a:lnR>
                      <a:noFill/>
                    </a:lnR>
                    <a:lnT>
                      <a:noFill/>
                    </a:lnT>
                    <a:lnB>
                      <a:noFill/>
                    </a:lnB>
                    <a:solidFill>
                      <a:srgbClr val="F1F1F1"/>
                    </a:solidFill>
                  </a:tcPr>
                </a:tc>
                <a:extLst>
                  <a:ext uri="{0D108BD9-81ED-4DB2-BD59-A6C34878D82A}">
                    <a16:rowId xmlns:a16="http://schemas.microsoft.com/office/drawing/2014/main" val="836158802"/>
                  </a:ext>
                </a:extLst>
              </a:tr>
              <a:tr h="298589">
                <a:tc>
                  <a:txBody>
                    <a:bodyPr/>
                    <a:lstStyle/>
                    <a:p>
                      <a:pPr algn="l"/>
                      <a:r>
                        <a:rPr lang="ms-MY" sz="1400">
                          <a:solidFill>
                            <a:srgbClr val="0A0A0A"/>
                          </a:solidFill>
                          <a:effectLst/>
                        </a:rPr>
                        <a:t>Random Forest</a:t>
                      </a:r>
                    </a:p>
                  </a:txBody>
                  <a:tcPr marL="70183" marR="70183" marT="35091" marB="35091" anchor="ctr">
                    <a:lnL>
                      <a:noFill/>
                    </a:lnL>
                    <a:lnR>
                      <a:noFill/>
                    </a:lnR>
                    <a:lnT>
                      <a:noFill/>
                    </a:lnT>
                    <a:lnB>
                      <a:noFill/>
                    </a:lnB>
                    <a:solidFill>
                      <a:srgbClr val="FFFFFF"/>
                    </a:solidFill>
                  </a:tcPr>
                </a:tc>
                <a:tc>
                  <a:txBody>
                    <a:bodyPr/>
                    <a:lstStyle/>
                    <a:p>
                      <a:pPr algn="l"/>
                      <a:r>
                        <a:rPr lang="ms-MY" sz="1400">
                          <a:solidFill>
                            <a:srgbClr val="0A0A0A"/>
                          </a:solidFill>
                          <a:effectLst/>
                        </a:rPr>
                        <a:t>Fraud Detection</a:t>
                      </a:r>
                    </a:p>
                  </a:txBody>
                  <a:tcPr marL="70183" marR="70183" marT="35091" marB="35091" anchor="ctr">
                    <a:lnL>
                      <a:noFill/>
                    </a:lnL>
                    <a:lnR>
                      <a:noFill/>
                    </a:lnR>
                    <a:lnT>
                      <a:noFill/>
                    </a:lnT>
                    <a:lnB>
                      <a:noFill/>
                    </a:lnB>
                    <a:solidFill>
                      <a:srgbClr val="FFFFFF"/>
                    </a:solidFill>
                  </a:tcPr>
                </a:tc>
                <a:extLst>
                  <a:ext uri="{0D108BD9-81ED-4DB2-BD59-A6C34878D82A}">
                    <a16:rowId xmlns:a16="http://schemas.microsoft.com/office/drawing/2014/main" val="2708666361"/>
                  </a:ext>
                </a:extLst>
              </a:tr>
              <a:tr h="517352">
                <a:tc>
                  <a:txBody>
                    <a:bodyPr/>
                    <a:lstStyle/>
                    <a:p>
                      <a:pPr algn="l"/>
                      <a:r>
                        <a:rPr lang="ms-MY" sz="1400">
                          <a:solidFill>
                            <a:srgbClr val="0A0A0A"/>
                          </a:solidFill>
                          <a:effectLst/>
                        </a:rPr>
                        <a:t>Reinforcement Learning</a:t>
                      </a:r>
                    </a:p>
                  </a:txBody>
                  <a:tcPr marL="70183" marR="70183" marT="35091" marB="35091" anchor="ctr">
                    <a:lnL>
                      <a:noFill/>
                    </a:lnL>
                    <a:lnR>
                      <a:noFill/>
                    </a:lnR>
                    <a:lnT>
                      <a:noFill/>
                    </a:lnT>
                    <a:lnB>
                      <a:noFill/>
                    </a:lnB>
                    <a:solidFill>
                      <a:srgbClr val="F1F1F1"/>
                    </a:solidFill>
                  </a:tcPr>
                </a:tc>
                <a:tc>
                  <a:txBody>
                    <a:bodyPr/>
                    <a:lstStyle/>
                    <a:p>
                      <a:pPr algn="l"/>
                      <a:r>
                        <a:rPr lang="en-US" sz="1400">
                          <a:solidFill>
                            <a:srgbClr val="0A0A0A"/>
                          </a:solidFill>
                          <a:effectLst/>
                        </a:rPr>
                        <a:t>Learning by trial and error</a:t>
                      </a:r>
                    </a:p>
                  </a:txBody>
                  <a:tcPr marL="70183" marR="70183" marT="35091" marB="35091" anchor="ctr">
                    <a:lnL>
                      <a:noFill/>
                    </a:lnL>
                    <a:lnR>
                      <a:noFill/>
                    </a:lnR>
                    <a:lnT>
                      <a:noFill/>
                    </a:lnT>
                    <a:lnB>
                      <a:noFill/>
                    </a:lnB>
                    <a:solidFill>
                      <a:srgbClr val="F1F1F1"/>
                    </a:solidFill>
                  </a:tcPr>
                </a:tc>
                <a:extLst>
                  <a:ext uri="{0D108BD9-81ED-4DB2-BD59-A6C34878D82A}">
                    <a16:rowId xmlns:a16="http://schemas.microsoft.com/office/drawing/2014/main" val="810220458"/>
                  </a:ext>
                </a:extLst>
              </a:tr>
              <a:tr h="298589">
                <a:tc>
                  <a:txBody>
                    <a:bodyPr/>
                    <a:lstStyle/>
                    <a:p>
                      <a:pPr algn="l"/>
                      <a:r>
                        <a:rPr lang="ms-MY" sz="1400">
                          <a:solidFill>
                            <a:srgbClr val="0A0A0A"/>
                          </a:solidFill>
                          <a:effectLst/>
                        </a:rPr>
                        <a:t>Generative Models</a:t>
                      </a:r>
                    </a:p>
                  </a:txBody>
                  <a:tcPr marL="70183" marR="70183" marT="35091" marB="35091" anchor="ctr">
                    <a:lnL>
                      <a:noFill/>
                    </a:lnL>
                    <a:lnR>
                      <a:noFill/>
                    </a:lnR>
                    <a:lnT>
                      <a:noFill/>
                    </a:lnT>
                    <a:lnB>
                      <a:noFill/>
                    </a:lnB>
                    <a:solidFill>
                      <a:srgbClr val="FFFFFF"/>
                    </a:solidFill>
                  </a:tcPr>
                </a:tc>
                <a:tc>
                  <a:txBody>
                    <a:bodyPr/>
                    <a:lstStyle/>
                    <a:p>
                      <a:pPr algn="l"/>
                      <a:r>
                        <a:rPr lang="ms-MY" sz="1400">
                          <a:solidFill>
                            <a:srgbClr val="0A0A0A"/>
                          </a:solidFill>
                          <a:effectLst/>
                        </a:rPr>
                        <a:t>Image creation</a:t>
                      </a:r>
                    </a:p>
                  </a:txBody>
                  <a:tcPr marL="70183" marR="70183" marT="35091" marB="35091" anchor="ctr">
                    <a:lnL>
                      <a:noFill/>
                    </a:lnL>
                    <a:lnR>
                      <a:noFill/>
                    </a:lnR>
                    <a:lnT>
                      <a:noFill/>
                    </a:lnT>
                    <a:lnB>
                      <a:noFill/>
                    </a:lnB>
                    <a:solidFill>
                      <a:srgbClr val="FFFFFF"/>
                    </a:solidFill>
                  </a:tcPr>
                </a:tc>
                <a:extLst>
                  <a:ext uri="{0D108BD9-81ED-4DB2-BD59-A6C34878D82A}">
                    <a16:rowId xmlns:a16="http://schemas.microsoft.com/office/drawing/2014/main" val="4135166406"/>
                  </a:ext>
                </a:extLst>
              </a:tr>
              <a:tr h="298589">
                <a:tc>
                  <a:txBody>
                    <a:bodyPr/>
                    <a:lstStyle/>
                    <a:p>
                      <a:pPr algn="l"/>
                      <a:r>
                        <a:rPr lang="ms-MY" sz="1400">
                          <a:solidFill>
                            <a:srgbClr val="0A0A0A"/>
                          </a:solidFill>
                          <a:effectLst/>
                        </a:rPr>
                        <a:t>K-means</a:t>
                      </a:r>
                    </a:p>
                  </a:txBody>
                  <a:tcPr marL="70183" marR="70183" marT="35091" marB="35091" anchor="ctr">
                    <a:lnL>
                      <a:noFill/>
                    </a:lnL>
                    <a:lnR>
                      <a:noFill/>
                    </a:lnR>
                    <a:lnT>
                      <a:noFill/>
                    </a:lnT>
                    <a:lnB>
                      <a:noFill/>
                    </a:lnB>
                    <a:solidFill>
                      <a:srgbClr val="F1F1F1"/>
                    </a:solidFill>
                  </a:tcPr>
                </a:tc>
                <a:tc>
                  <a:txBody>
                    <a:bodyPr/>
                    <a:lstStyle/>
                    <a:p>
                      <a:pPr algn="l"/>
                      <a:r>
                        <a:rPr lang="ms-MY" sz="1400">
                          <a:solidFill>
                            <a:srgbClr val="0A0A0A"/>
                          </a:solidFill>
                          <a:effectLst/>
                        </a:rPr>
                        <a:t>Segmentation</a:t>
                      </a:r>
                    </a:p>
                  </a:txBody>
                  <a:tcPr marL="70183" marR="70183" marT="35091" marB="35091" anchor="ctr">
                    <a:lnL>
                      <a:noFill/>
                    </a:lnL>
                    <a:lnR>
                      <a:noFill/>
                    </a:lnR>
                    <a:lnT>
                      <a:noFill/>
                    </a:lnT>
                    <a:lnB>
                      <a:noFill/>
                    </a:lnB>
                    <a:solidFill>
                      <a:srgbClr val="F1F1F1"/>
                    </a:solidFill>
                  </a:tcPr>
                </a:tc>
                <a:extLst>
                  <a:ext uri="{0D108BD9-81ED-4DB2-BD59-A6C34878D82A}">
                    <a16:rowId xmlns:a16="http://schemas.microsoft.com/office/drawing/2014/main" val="507714565"/>
                  </a:ext>
                </a:extLst>
              </a:tr>
              <a:tr h="517352">
                <a:tc>
                  <a:txBody>
                    <a:bodyPr/>
                    <a:lstStyle/>
                    <a:p>
                      <a:pPr algn="l"/>
                      <a:r>
                        <a:rPr lang="ms-MY" sz="1400">
                          <a:solidFill>
                            <a:srgbClr val="0A0A0A"/>
                          </a:solidFill>
                          <a:effectLst/>
                        </a:rPr>
                        <a:t>k-Nearest Neighbors</a:t>
                      </a:r>
                    </a:p>
                  </a:txBody>
                  <a:tcPr marL="70183" marR="70183" marT="35091" marB="35091" anchor="ctr">
                    <a:lnL>
                      <a:noFill/>
                    </a:lnL>
                    <a:lnR>
                      <a:noFill/>
                    </a:lnR>
                    <a:lnT>
                      <a:noFill/>
                    </a:lnT>
                    <a:lnB>
                      <a:noFill/>
                    </a:lnB>
                    <a:solidFill>
                      <a:srgbClr val="FFFFFF"/>
                    </a:solidFill>
                  </a:tcPr>
                </a:tc>
                <a:tc>
                  <a:txBody>
                    <a:bodyPr/>
                    <a:lstStyle/>
                    <a:p>
                      <a:pPr algn="l"/>
                      <a:r>
                        <a:rPr lang="ms-MY" sz="1400">
                          <a:solidFill>
                            <a:srgbClr val="0A0A0A"/>
                          </a:solidFill>
                          <a:effectLst/>
                        </a:rPr>
                        <a:t>Recommendation systems</a:t>
                      </a:r>
                    </a:p>
                  </a:txBody>
                  <a:tcPr marL="70183" marR="70183" marT="35091" marB="35091" anchor="ctr">
                    <a:lnL>
                      <a:noFill/>
                    </a:lnL>
                    <a:lnR>
                      <a:noFill/>
                    </a:lnR>
                    <a:lnT>
                      <a:noFill/>
                    </a:lnT>
                    <a:lnB>
                      <a:noFill/>
                    </a:lnB>
                    <a:solidFill>
                      <a:srgbClr val="FFFFFF"/>
                    </a:solidFill>
                  </a:tcPr>
                </a:tc>
                <a:extLst>
                  <a:ext uri="{0D108BD9-81ED-4DB2-BD59-A6C34878D82A}">
                    <a16:rowId xmlns:a16="http://schemas.microsoft.com/office/drawing/2014/main" val="1254688052"/>
                  </a:ext>
                </a:extLst>
              </a:tr>
              <a:tr h="517352">
                <a:tc>
                  <a:txBody>
                    <a:bodyPr/>
                    <a:lstStyle/>
                    <a:p>
                      <a:pPr algn="l"/>
                      <a:r>
                        <a:rPr lang="ms-MY" sz="1400">
                          <a:solidFill>
                            <a:srgbClr val="0A0A0A"/>
                          </a:solidFill>
                          <a:effectLst/>
                        </a:rPr>
                        <a:t>Bayesian Classifiers</a:t>
                      </a:r>
                    </a:p>
                  </a:txBody>
                  <a:tcPr marL="70183" marR="70183" marT="35091" marB="35091" anchor="ctr">
                    <a:lnL>
                      <a:noFill/>
                    </a:lnL>
                    <a:lnR>
                      <a:noFill/>
                    </a:lnR>
                    <a:lnT>
                      <a:noFill/>
                    </a:lnT>
                    <a:lnB>
                      <a:noFill/>
                    </a:lnB>
                    <a:solidFill>
                      <a:srgbClr val="F1F1F1"/>
                    </a:solidFill>
                  </a:tcPr>
                </a:tc>
                <a:tc>
                  <a:txBody>
                    <a:bodyPr/>
                    <a:lstStyle/>
                    <a:p>
                      <a:pPr algn="l"/>
                      <a:r>
                        <a:rPr lang="ms-MY" sz="1400" dirty="0">
                          <a:solidFill>
                            <a:srgbClr val="0A0A0A"/>
                          </a:solidFill>
                          <a:effectLst/>
                        </a:rPr>
                        <a:t>Spam and noise filtering</a:t>
                      </a:r>
                    </a:p>
                  </a:txBody>
                  <a:tcPr marL="70183" marR="70183" marT="35091" marB="35091" anchor="ctr">
                    <a:lnL>
                      <a:noFill/>
                    </a:lnL>
                    <a:lnR>
                      <a:noFill/>
                    </a:lnR>
                    <a:lnT>
                      <a:noFill/>
                    </a:lnT>
                    <a:lnB>
                      <a:noFill/>
                    </a:lnB>
                    <a:solidFill>
                      <a:srgbClr val="F1F1F1"/>
                    </a:solidFill>
                  </a:tcPr>
                </a:tc>
                <a:extLst>
                  <a:ext uri="{0D108BD9-81ED-4DB2-BD59-A6C34878D82A}">
                    <a16:rowId xmlns:a16="http://schemas.microsoft.com/office/drawing/2014/main" val="4110903914"/>
                  </a:ext>
                </a:extLst>
              </a:tr>
            </a:tbl>
          </a:graphicData>
        </a:graphic>
      </p:graphicFrame>
    </p:spTree>
    <p:extLst>
      <p:ext uri="{BB962C8B-B14F-4D97-AF65-F5344CB8AC3E}">
        <p14:creationId xmlns:p14="http://schemas.microsoft.com/office/powerpoint/2010/main" val="153527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repeatCount="indefinite"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5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150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xit" presetSubtype="8" repeatCount="indefinite" fill="hold" nodeType="withEffect">
                                  <p:stCondLst>
                                    <p:cond delay="500"/>
                                  </p:stCondLst>
                                  <p:childTnLst>
                                    <p:anim calcmode="lin" valueType="num">
                                      <p:cBhvr additive="base">
                                        <p:cTn id="10" dur="15000"/>
                                        <p:tgtEl>
                                          <p:spTgt spid="5">
                                            <p:txEl>
                                              <p:pRg st="0" end="0"/>
                                            </p:txEl>
                                          </p:spTgt>
                                        </p:tgtEl>
                                        <p:attrNameLst>
                                          <p:attrName>ppt_x</p:attrName>
                                        </p:attrNameLst>
                                      </p:cBhvr>
                                      <p:tavLst>
                                        <p:tav tm="0">
                                          <p:val>
                                            <p:strVal val="ppt_x"/>
                                          </p:val>
                                        </p:tav>
                                        <p:tav tm="100000">
                                          <p:val>
                                            <p:strVal val="0-ppt_w/2"/>
                                          </p:val>
                                        </p:tav>
                                      </p:tavLst>
                                    </p:anim>
                                    <p:anim calcmode="lin" valueType="num">
                                      <p:cBhvr additive="base">
                                        <p:cTn id="11" dur="15000"/>
                                        <p:tgtEl>
                                          <p:spTgt spid="5">
                                            <p:txEl>
                                              <p:pRg st="0" end="0"/>
                                            </p:txEl>
                                          </p:spTgt>
                                        </p:tgtEl>
                                        <p:attrNameLst>
                                          <p:attrName>ppt_y</p:attrName>
                                        </p:attrNameLst>
                                      </p:cBhvr>
                                      <p:tavLst>
                                        <p:tav tm="0">
                                          <p:val>
                                            <p:strVal val="ppt_y"/>
                                          </p:val>
                                        </p:tav>
                                        <p:tav tm="100000">
                                          <p:val>
                                            <p:strVal val="ppt_y"/>
                                          </p:val>
                                        </p:tav>
                                      </p:tavLst>
                                    </p:anim>
                                    <p:set>
                                      <p:cBhvr>
                                        <p:cTn id="12" dur="1" fill="hold">
                                          <p:stCondLst>
                                            <p:cond delay="14999"/>
                                          </p:stCondLst>
                                        </p:cTn>
                                        <p:tgtEl>
                                          <p:spTgt spid="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6423130"/>
            <a:ext cx="12192000" cy="41801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s-MY"/>
          </a:p>
        </p:txBody>
      </p:sp>
      <p:sp>
        <p:nvSpPr>
          <p:cNvPr id="5" name="TextBox 4"/>
          <p:cNvSpPr txBox="1"/>
          <p:nvPr/>
        </p:nvSpPr>
        <p:spPr>
          <a:xfrm>
            <a:off x="654448" y="6447469"/>
            <a:ext cx="10755085" cy="369332"/>
          </a:xfrm>
          <a:prstGeom prst="rect">
            <a:avLst/>
          </a:prstGeom>
          <a:noFill/>
        </p:spPr>
        <p:txBody>
          <a:bodyPr wrap="square" rtlCol="0">
            <a:spAutoFit/>
          </a:bodyPr>
          <a:lstStyle/>
          <a:p>
            <a:r>
              <a:rPr lang="en-US" b="1" dirty="0">
                <a:solidFill>
                  <a:schemeClr val="bg1"/>
                </a:solidFill>
              </a:rPr>
              <a:t>PROJECT RELATED TO ARTIFICIAL INTELLIGENCE</a:t>
            </a:r>
            <a:endParaRPr lang="ms-MY" b="1" dirty="0">
              <a:solidFill>
                <a:schemeClr val="bg1"/>
              </a:solidFill>
            </a:endParaRPr>
          </a:p>
        </p:txBody>
      </p:sp>
      <p:sp>
        <p:nvSpPr>
          <p:cNvPr id="6" name="TextBox 5"/>
          <p:cNvSpPr txBox="1"/>
          <p:nvPr/>
        </p:nvSpPr>
        <p:spPr>
          <a:xfrm>
            <a:off x="654448" y="6423130"/>
            <a:ext cx="10755085" cy="369332"/>
          </a:xfrm>
          <a:prstGeom prst="rect">
            <a:avLst/>
          </a:prstGeom>
          <a:noFill/>
        </p:spPr>
        <p:txBody>
          <a:bodyPr wrap="square" rtlCol="0">
            <a:spAutoFit/>
          </a:bodyPr>
          <a:lstStyle/>
          <a:p>
            <a:r>
              <a:rPr lang="en-US" b="1" dirty="0">
                <a:solidFill>
                  <a:schemeClr val="bg1"/>
                </a:solidFill>
              </a:rPr>
              <a:t>PROJECT RELATED TO ARTIFICIAL INTELLIGENCE - TQ</a:t>
            </a:r>
            <a:endParaRPr lang="ms-MY" b="1" dirty="0">
              <a:solidFill>
                <a:schemeClr val="bg1"/>
              </a:solidFill>
            </a:endParaRPr>
          </a:p>
        </p:txBody>
      </p:sp>
      <p:sp>
        <p:nvSpPr>
          <p:cNvPr id="2" name="TextBox 1"/>
          <p:cNvSpPr txBox="1"/>
          <p:nvPr/>
        </p:nvSpPr>
        <p:spPr>
          <a:xfrm>
            <a:off x="128954" y="117231"/>
            <a:ext cx="3341077" cy="523220"/>
          </a:xfrm>
          <a:prstGeom prst="rect">
            <a:avLst/>
          </a:prstGeom>
          <a:noFill/>
        </p:spPr>
        <p:txBody>
          <a:bodyPr wrap="square" rtlCol="0">
            <a:spAutoFit/>
          </a:bodyPr>
          <a:lstStyle/>
          <a:p>
            <a:r>
              <a:rPr lang="en-US" sz="2800" b="1" dirty="0">
                <a:solidFill>
                  <a:srgbClr val="FFFF00"/>
                </a:solidFill>
              </a:rPr>
              <a:t>DESIGN &amp; TRAINING</a:t>
            </a:r>
            <a:endParaRPr lang="ms-MY" sz="2800" b="1" dirty="0">
              <a:solidFill>
                <a:srgbClr val="FFFF00"/>
              </a:solidFill>
            </a:endParaRPr>
          </a:p>
        </p:txBody>
      </p:sp>
      <p:pic>
        <p:nvPicPr>
          <p:cNvPr id="3" name="Picture 2"/>
          <p:cNvPicPr>
            <a:picLocks noChangeAspect="1"/>
          </p:cNvPicPr>
          <p:nvPr/>
        </p:nvPicPr>
        <p:blipFill>
          <a:blip r:embed="rId3"/>
          <a:stretch>
            <a:fillRect/>
          </a:stretch>
        </p:blipFill>
        <p:spPr>
          <a:xfrm>
            <a:off x="231531" y="789109"/>
            <a:ext cx="3742592" cy="4248150"/>
          </a:xfrm>
          <a:prstGeom prst="rect">
            <a:avLst/>
          </a:prstGeom>
        </p:spPr>
      </p:pic>
      <p:pic>
        <p:nvPicPr>
          <p:cNvPr id="7" name="Picture 6"/>
          <p:cNvPicPr>
            <a:picLocks noChangeAspect="1"/>
          </p:cNvPicPr>
          <p:nvPr/>
        </p:nvPicPr>
        <p:blipFill>
          <a:blip r:embed="rId4"/>
          <a:stretch>
            <a:fillRect/>
          </a:stretch>
        </p:blipFill>
        <p:spPr>
          <a:xfrm>
            <a:off x="4208585" y="789109"/>
            <a:ext cx="7983943" cy="5575369"/>
          </a:xfrm>
          <a:prstGeom prst="rect">
            <a:avLst/>
          </a:prstGeom>
        </p:spPr>
      </p:pic>
    </p:spTree>
    <p:extLst>
      <p:ext uri="{BB962C8B-B14F-4D97-AF65-F5344CB8AC3E}">
        <p14:creationId xmlns:p14="http://schemas.microsoft.com/office/powerpoint/2010/main" val="3373096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repeatCount="indefinite"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5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150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xit" presetSubtype="8" repeatCount="indefinite" fill="hold" nodeType="withEffect">
                                  <p:stCondLst>
                                    <p:cond delay="500"/>
                                  </p:stCondLst>
                                  <p:childTnLst>
                                    <p:anim calcmode="lin" valueType="num">
                                      <p:cBhvr additive="base">
                                        <p:cTn id="10" dur="15000"/>
                                        <p:tgtEl>
                                          <p:spTgt spid="5">
                                            <p:txEl>
                                              <p:pRg st="0" end="0"/>
                                            </p:txEl>
                                          </p:spTgt>
                                        </p:tgtEl>
                                        <p:attrNameLst>
                                          <p:attrName>ppt_x</p:attrName>
                                        </p:attrNameLst>
                                      </p:cBhvr>
                                      <p:tavLst>
                                        <p:tav tm="0">
                                          <p:val>
                                            <p:strVal val="ppt_x"/>
                                          </p:val>
                                        </p:tav>
                                        <p:tav tm="100000">
                                          <p:val>
                                            <p:strVal val="0-ppt_w/2"/>
                                          </p:val>
                                        </p:tav>
                                      </p:tavLst>
                                    </p:anim>
                                    <p:anim calcmode="lin" valueType="num">
                                      <p:cBhvr additive="base">
                                        <p:cTn id="11" dur="15000"/>
                                        <p:tgtEl>
                                          <p:spTgt spid="5">
                                            <p:txEl>
                                              <p:pRg st="0" end="0"/>
                                            </p:txEl>
                                          </p:spTgt>
                                        </p:tgtEl>
                                        <p:attrNameLst>
                                          <p:attrName>ppt_y</p:attrName>
                                        </p:attrNameLst>
                                      </p:cBhvr>
                                      <p:tavLst>
                                        <p:tav tm="0">
                                          <p:val>
                                            <p:strVal val="ppt_y"/>
                                          </p:val>
                                        </p:tav>
                                        <p:tav tm="100000">
                                          <p:val>
                                            <p:strVal val="ppt_y"/>
                                          </p:val>
                                        </p:tav>
                                      </p:tavLst>
                                    </p:anim>
                                    <p:set>
                                      <p:cBhvr>
                                        <p:cTn id="12" dur="1" fill="hold">
                                          <p:stCondLst>
                                            <p:cond delay="14999"/>
                                          </p:stCondLst>
                                        </p:cTn>
                                        <p:tgtEl>
                                          <p:spTgt spid="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6423130"/>
            <a:ext cx="12192000" cy="41801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s-MY"/>
          </a:p>
        </p:txBody>
      </p:sp>
      <p:sp>
        <p:nvSpPr>
          <p:cNvPr id="5" name="TextBox 4"/>
          <p:cNvSpPr txBox="1"/>
          <p:nvPr/>
        </p:nvSpPr>
        <p:spPr>
          <a:xfrm>
            <a:off x="654448" y="6447469"/>
            <a:ext cx="10755085" cy="369332"/>
          </a:xfrm>
          <a:prstGeom prst="rect">
            <a:avLst/>
          </a:prstGeom>
          <a:noFill/>
        </p:spPr>
        <p:txBody>
          <a:bodyPr wrap="square" rtlCol="0">
            <a:spAutoFit/>
          </a:bodyPr>
          <a:lstStyle/>
          <a:p>
            <a:r>
              <a:rPr lang="en-US" b="1" dirty="0">
                <a:solidFill>
                  <a:schemeClr val="bg1"/>
                </a:solidFill>
              </a:rPr>
              <a:t>PROJECT RELATED TO ARTIFICIAL INTELLIGENCE</a:t>
            </a:r>
            <a:endParaRPr lang="ms-MY" b="1" dirty="0">
              <a:solidFill>
                <a:schemeClr val="bg1"/>
              </a:solidFill>
            </a:endParaRPr>
          </a:p>
        </p:txBody>
      </p:sp>
      <p:sp>
        <p:nvSpPr>
          <p:cNvPr id="6" name="TextBox 5"/>
          <p:cNvSpPr txBox="1"/>
          <p:nvPr/>
        </p:nvSpPr>
        <p:spPr>
          <a:xfrm>
            <a:off x="654448" y="6423130"/>
            <a:ext cx="10755085" cy="369332"/>
          </a:xfrm>
          <a:prstGeom prst="rect">
            <a:avLst/>
          </a:prstGeom>
          <a:noFill/>
        </p:spPr>
        <p:txBody>
          <a:bodyPr wrap="square" rtlCol="0">
            <a:spAutoFit/>
          </a:bodyPr>
          <a:lstStyle/>
          <a:p>
            <a:r>
              <a:rPr lang="en-US" b="1" dirty="0">
                <a:solidFill>
                  <a:schemeClr val="bg1"/>
                </a:solidFill>
              </a:rPr>
              <a:t>PROJECT RELATED TO ARTIFICIAL INTELLIGENCE - TQ</a:t>
            </a:r>
            <a:endParaRPr lang="ms-MY" b="1" dirty="0">
              <a:solidFill>
                <a:schemeClr val="bg1"/>
              </a:solidFill>
            </a:endParaRPr>
          </a:p>
        </p:txBody>
      </p:sp>
      <p:sp>
        <p:nvSpPr>
          <p:cNvPr id="2" name="TextBox 1"/>
          <p:cNvSpPr txBox="1"/>
          <p:nvPr/>
        </p:nvSpPr>
        <p:spPr>
          <a:xfrm>
            <a:off x="0" y="0"/>
            <a:ext cx="6389077" cy="523220"/>
          </a:xfrm>
          <a:prstGeom prst="rect">
            <a:avLst/>
          </a:prstGeom>
          <a:noFill/>
        </p:spPr>
        <p:txBody>
          <a:bodyPr wrap="square" rtlCol="0">
            <a:spAutoFit/>
          </a:bodyPr>
          <a:lstStyle/>
          <a:p>
            <a:r>
              <a:rPr lang="en-US" sz="2800" b="1" dirty="0">
                <a:solidFill>
                  <a:srgbClr val="FFFF00"/>
                </a:solidFill>
              </a:rPr>
              <a:t>REFINEMENT OR PARAMETER TUNING</a:t>
            </a:r>
            <a:endParaRPr lang="ms-MY" sz="2800" b="1" dirty="0">
              <a:solidFill>
                <a:srgbClr val="FFFF00"/>
              </a:solidFill>
            </a:endParaRPr>
          </a:p>
        </p:txBody>
      </p:sp>
      <p:sp>
        <p:nvSpPr>
          <p:cNvPr id="3" name="Rectangle 2"/>
          <p:cNvSpPr/>
          <p:nvPr/>
        </p:nvSpPr>
        <p:spPr>
          <a:xfrm>
            <a:off x="87923" y="4778386"/>
            <a:ext cx="12016153" cy="1477328"/>
          </a:xfrm>
          <a:prstGeom prst="rect">
            <a:avLst/>
          </a:prstGeom>
        </p:spPr>
        <p:txBody>
          <a:bodyPr wrap="square">
            <a:spAutoFit/>
          </a:bodyPr>
          <a:lstStyle/>
          <a:p>
            <a:r>
              <a:rPr lang="en-US" b="0" i="0" dirty="0">
                <a:solidFill>
                  <a:schemeClr val="bg1"/>
                </a:solidFill>
                <a:effectLst/>
                <a:latin typeface="Merriweather"/>
              </a:rPr>
              <a:t>If during the evaluation you did not obtain good predictions and your precision is not the minimum desired, it is possible that you have </a:t>
            </a:r>
            <a:r>
              <a:rPr lang="en-US" b="0" i="0" dirty="0">
                <a:solidFill>
                  <a:srgbClr val="FF0000"/>
                </a:solidFill>
                <a:effectLst/>
                <a:latin typeface="Merriweather"/>
              </a:rPr>
              <a:t>overfitting -or </a:t>
            </a:r>
            <a:r>
              <a:rPr lang="en-US" b="0" i="0" dirty="0" err="1">
                <a:solidFill>
                  <a:srgbClr val="FF0000"/>
                </a:solidFill>
                <a:effectLst/>
                <a:latin typeface="Merriweather"/>
              </a:rPr>
              <a:t>underfitting</a:t>
            </a:r>
            <a:r>
              <a:rPr lang="en-US" b="0" i="0" dirty="0">
                <a:solidFill>
                  <a:srgbClr val="FF0000"/>
                </a:solidFill>
                <a:effectLst/>
                <a:latin typeface="Merriweather"/>
              </a:rPr>
              <a:t> </a:t>
            </a:r>
            <a:r>
              <a:rPr lang="en-US" b="0" i="0" dirty="0">
                <a:solidFill>
                  <a:schemeClr val="bg1"/>
                </a:solidFill>
                <a:effectLst/>
                <a:latin typeface="Merriweather"/>
              </a:rPr>
              <a:t>problems and you must return to the training step before making a new configuration of parameters in your model. You can increase the number of times you iterate your training data- termed epochs. Another important parameter is the one known as the “learning rate”, which is usually a value that multiplies the gradient to gradually bring it closer to the global -or local- minimum to minimize the cost of the function.</a:t>
            </a:r>
            <a:endParaRPr lang="ms-MY" dirty="0">
              <a:solidFill>
                <a:schemeClr val="bg1"/>
              </a:solidFill>
            </a:endParaRPr>
          </a:p>
        </p:txBody>
      </p:sp>
      <p:pic>
        <p:nvPicPr>
          <p:cNvPr id="7" name="Picture 6"/>
          <p:cNvPicPr>
            <a:picLocks noChangeAspect="1"/>
          </p:cNvPicPr>
          <p:nvPr/>
        </p:nvPicPr>
        <p:blipFill>
          <a:blip r:embed="rId3"/>
          <a:stretch>
            <a:fillRect/>
          </a:stretch>
        </p:blipFill>
        <p:spPr>
          <a:xfrm>
            <a:off x="1" y="1279203"/>
            <a:ext cx="5005754" cy="3234182"/>
          </a:xfrm>
          <a:prstGeom prst="rect">
            <a:avLst/>
          </a:prstGeom>
        </p:spPr>
      </p:pic>
      <p:pic>
        <p:nvPicPr>
          <p:cNvPr id="8" name="Picture 7"/>
          <p:cNvPicPr>
            <a:picLocks noChangeAspect="1"/>
          </p:cNvPicPr>
          <p:nvPr/>
        </p:nvPicPr>
        <p:blipFill>
          <a:blip r:embed="rId4"/>
          <a:stretch>
            <a:fillRect/>
          </a:stretch>
        </p:blipFill>
        <p:spPr>
          <a:xfrm>
            <a:off x="5304692" y="1279203"/>
            <a:ext cx="6887308" cy="3234183"/>
          </a:xfrm>
          <a:prstGeom prst="rect">
            <a:avLst/>
          </a:prstGeom>
        </p:spPr>
      </p:pic>
    </p:spTree>
    <p:extLst>
      <p:ext uri="{BB962C8B-B14F-4D97-AF65-F5344CB8AC3E}">
        <p14:creationId xmlns:p14="http://schemas.microsoft.com/office/powerpoint/2010/main" val="3383558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repeatCount="indefinite"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5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150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xit" presetSubtype="8" repeatCount="indefinite" fill="hold" nodeType="withEffect">
                                  <p:stCondLst>
                                    <p:cond delay="500"/>
                                  </p:stCondLst>
                                  <p:childTnLst>
                                    <p:anim calcmode="lin" valueType="num">
                                      <p:cBhvr additive="base">
                                        <p:cTn id="10" dur="15000"/>
                                        <p:tgtEl>
                                          <p:spTgt spid="5">
                                            <p:txEl>
                                              <p:pRg st="0" end="0"/>
                                            </p:txEl>
                                          </p:spTgt>
                                        </p:tgtEl>
                                        <p:attrNameLst>
                                          <p:attrName>ppt_x</p:attrName>
                                        </p:attrNameLst>
                                      </p:cBhvr>
                                      <p:tavLst>
                                        <p:tav tm="0">
                                          <p:val>
                                            <p:strVal val="ppt_x"/>
                                          </p:val>
                                        </p:tav>
                                        <p:tav tm="100000">
                                          <p:val>
                                            <p:strVal val="0-ppt_w/2"/>
                                          </p:val>
                                        </p:tav>
                                      </p:tavLst>
                                    </p:anim>
                                    <p:anim calcmode="lin" valueType="num">
                                      <p:cBhvr additive="base">
                                        <p:cTn id="11" dur="15000"/>
                                        <p:tgtEl>
                                          <p:spTgt spid="5">
                                            <p:txEl>
                                              <p:pRg st="0" end="0"/>
                                            </p:txEl>
                                          </p:spTgt>
                                        </p:tgtEl>
                                        <p:attrNameLst>
                                          <p:attrName>ppt_y</p:attrName>
                                        </p:attrNameLst>
                                      </p:cBhvr>
                                      <p:tavLst>
                                        <p:tav tm="0">
                                          <p:val>
                                            <p:strVal val="ppt_y"/>
                                          </p:val>
                                        </p:tav>
                                        <p:tav tm="100000">
                                          <p:val>
                                            <p:strVal val="ppt_y"/>
                                          </p:val>
                                        </p:tav>
                                      </p:tavLst>
                                    </p:anim>
                                    <p:set>
                                      <p:cBhvr>
                                        <p:cTn id="12" dur="1" fill="hold">
                                          <p:stCondLst>
                                            <p:cond delay="14999"/>
                                          </p:stCondLst>
                                        </p:cTn>
                                        <p:tgtEl>
                                          <p:spTgt spid="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B29F43B-AD61-41F7-83F2-9BB796FF50F4}"/>
              </a:ext>
            </a:extLst>
          </p:cNvPr>
          <p:cNvSpPr>
            <a:spLocks noGrp="1"/>
          </p:cNvSpPr>
          <p:nvPr>
            <p:ph type="subTitle" idx="1"/>
          </p:nvPr>
        </p:nvSpPr>
        <p:spPr>
          <a:xfrm>
            <a:off x="1626031" y="1557577"/>
            <a:ext cx="8939938" cy="2630837"/>
          </a:xfrm>
        </p:spPr>
        <p:txBody>
          <a:bodyPr>
            <a:normAutofit/>
          </a:bodyPr>
          <a:lstStyle/>
          <a:p>
            <a:pPr algn="l"/>
            <a:r>
              <a:rPr lang="en-US" dirty="0"/>
              <a:t>Overfitting                            Underfitting                Appropriate-fitting</a:t>
            </a:r>
          </a:p>
          <a:p>
            <a:pPr algn="l"/>
            <a:r>
              <a:rPr lang="en-US" sz="1800" dirty="0"/>
              <a:t>Training	  98%                                    Training        60%                   Training             90%</a:t>
            </a:r>
          </a:p>
          <a:p>
            <a:pPr algn="l"/>
            <a:r>
              <a:rPr lang="en-US" sz="1800" dirty="0"/>
              <a:t>Validation  80%                                    Validation    58%                   Validation         88%</a:t>
            </a:r>
          </a:p>
          <a:p>
            <a:pPr algn="l"/>
            <a:r>
              <a:rPr lang="en-US" sz="1800" dirty="0"/>
              <a:t>Testing       78%                                    Testing         59%                    Testing              87%</a:t>
            </a:r>
          </a:p>
          <a:p>
            <a:pPr algn="l"/>
            <a:endParaRPr lang="en-US" sz="1800" dirty="0"/>
          </a:p>
          <a:p>
            <a:pPr algn="l"/>
            <a:r>
              <a:rPr lang="en-US" sz="1800" b="1" i="1" dirty="0"/>
              <a:t>- If the data set is small, just divide it to TWO portion, Training and Testing Only</a:t>
            </a:r>
          </a:p>
        </p:txBody>
      </p:sp>
    </p:spTree>
    <p:extLst>
      <p:ext uri="{BB962C8B-B14F-4D97-AF65-F5344CB8AC3E}">
        <p14:creationId xmlns:p14="http://schemas.microsoft.com/office/powerpoint/2010/main" val="23470487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6423130"/>
            <a:ext cx="12192000" cy="41801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s-MY"/>
          </a:p>
        </p:txBody>
      </p:sp>
      <p:sp>
        <p:nvSpPr>
          <p:cNvPr id="5" name="TextBox 4"/>
          <p:cNvSpPr txBox="1"/>
          <p:nvPr/>
        </p:nvSpPr>
        <p:spPr>
          <a:xfrm>
            <a:off x="654448" y="6447469"/>
            <a:ext cx="10755085" cy="369332"/>
          </a:xfrm>
          <a:prstGeom prst="rect">
            <a:avLst/>
          </a:prstGeom>
          <a:noFill/>
        </p:spPr>
        <p:txBody>
          <a:bodyPr wrap="square" rtlCol="0">
            <a:spAutoFit/>
          </a:bodyPr>
          <a:lstStyle/>
          <a:p>
            <a:r>
              <a:rPr lang="en-US" b="1" dirty="0">
                <a:solidFill>
                  <a:schemeClr val="bg1"/>
                </a:solidFill>
              </a:rPr>
              <a:t>PROJECT RELATED TO ARTIFICIAL INTELLIGENCE</a:t>
            </a:r>
            <a:endParaRPr lang="ms-MY" b="1" dirty="0">
              <a:solidFill>
                <a:schemeClr val="bg1"/>
              </a:solidFill>
            </a:endParaRPr>
          </a:p>
        </p:txBody>
      </p:sp>
      <p:sp>
        <p:nvSpPr>
          <p:cNvPr id="6" name="TextBox 5"/>
          <p:cNvSpPr txBox="1"/>
          <p:nvPr/>
        </p:nvSpPr>
        <p:spPr>
          <a:xfrm>
            <a:off x="654448" y="6423130"/>
            <a:ext cx="10755085" cy="369332"/>
          </a:xfrm>
          <a:prstGeom prst="rect">
            <a:avLst/>
          </a:prstGeom>
          <a:noFill/>
        </p:spPr>
        <p:txBody>
          <a:bodyPr wrap="square" rtlCol="0">
            <a:spAutoFit/>
          </a:bodyPr>
          <a:lstStyle/>
          <a:p>
            <a:r>
              <a:rPr lang="en-US" b="1" dirty="0">
                <a:solidFill>
                  <a:schemeClr val="bg1"/>
                </a:solidFill>
              </a:rPr>
              <a:t>PROJECT RELATED TO ARTIFICIAL INTELLIGENCE - TQ</a:t>
            </a:r>
            <a:endParaRPr lang="ms-MY" b="1" dirty="0">
              <a:solidFill>
                <a:schemeClr val="bg1"/>
              </a:solidFill>
            </a:endParaRPr>
          </a:p>
        </p:txBody>
      </p:sp>
      <p:sp>
        <p:nvSpPr>
          <p:cNvPr id="2" name="TextBox 1"/>
          <p:cNvSpPr txBox="1"/>
          <p:nvPr/>
        </p:nvSpPr>
        <p:spPr>
          <a:xfrm>
            <a:off x="0" y="0"/>
            <a:ext cx="3481754" cy="523220"/>
          </a:xfrm>
          <a:prstGeom prst="rect">
            <a:avLst/>
          </a:prstGeom>
          <a:noFill/>
        </p:spPr>
        <p:txBody>
          <a:bodyPr wrap="square" rtlCol="0">
            <a:spAutoFit/>
          </a:bodyPr>
          <a:lstStyle/>
          <a:p>
            <a:r>
              <a:rPr lang="en-US" sz="2800" b="1" dirty="0">
                <a:solidFill>
                  <a:srgbClr val="FFFF00"/>
                </a:solidFill>
              </a:rPr>
              <a:t>EVALUATION</a:t>
            </a:r>
            <a:endParaRPr lang="ms-MY" sz="2800" b="1" dirty="0">
              <a:solidFill>
                <a:srgbClr val="FFFF00"/>
              </a:solidFill>
            </a:endParaRPr>
          </a:p>
        </p:txBody>
      </p:sp>
      <p:sp>
        <p:nvSpPr>
          <p:cNvPr id="3" name="Rectangle 2"/>
          <p:cNvSpPr/>
          <p:nvPr/>
        </p:nvSpPr>
        <p:spPr>
          <a:xfrm>
            <a:off x="879231" y="547559"/>
            <a:ext cx="9694984" cy="584775"/>
          </a:xfrm>
          <a:prstGeom prst="rect">
            <a:avLst/>
          </a:prstGeom>
        </p:spPr>
        <p:txBody>
          <a:bodyPr wrap="square">
            <a:spAutoFit/>
          </a:bodyPr>
          <a:lstStyle/>
          <a:p>
            <a:r>
              <a:rPr lang="en-US" sz="3200" dirty="0">
                <a:solidFill>
                  <a:srgbClr val="FFFF00"/>
                </a:solidFill>
                <a:ea typeface="+mj-ea"/>
                <a:cs typeface="+mj-cs"/>
              </a:rPr>
              <a:t>Different types of evaluation metrics available</a:t>
            </a:r>
            <a:endParaRPr lang="ms-MY" dirty="0">
              <a:solidFill>
                <a:srgbClr val="FFFF00"/>
              </a:solidFill>
            </a:endParaRPr>
          </a:p>
        </p:txBody>
      </p:sp>
      <p:sp>
        <p:nvSpPr>
          <p:cNvPr id="7" name="Rectangle 6"/>
          <p:cNvSpPr/>
          <p:nvPr/>
        </p:nvSpPr>
        <p:spPr>
          <a:xfrm>
            <a:off x="457001" y="3227183"/>
            <a:ext cx="2278450" cy="2873607"/>
          </a:xfrm>
          <a:prstGeom prst="rect">
            <a:avLst/>
          </a:prstGeom>
        </p:spPr>
        <p:txBody>
          <a:bodyPr wrap="square">
            <a:spAutoFit/>
          </a:bodyPr>
          <a:lstStyle/>
          <a:p>
            <a:pPr lvl="0">
              <a:lnSpc>
                <a:spcPct val="90000"/>
              </a:lnSpc>
              <a:spcBef>
                <a:spcPts val="1000"/>
              </a:spcBef>
            </a:pPr>
            <a:r>
              <a:rPr lang="en-US" sz="2400" dirty="0">
                <a:solidFill>
                  <a:schemeClr val="bg1"/>
                </a:solidFill>
              </a:rPr>
              <a:t>Classification </a:t>
            </a:r>
          </a:p>
          <a:p>
            <a:pPr lvl="0">
              <a:lnSpc>
                <a:spcPct val="90000"/>
              </a:lnSpc>
              <a:spcBef>
                <a:spcPts val="1000"/>
              </a:spcBef>
            </a:pPr>
            <a:endParaRPr lang="en-US" sz="1600" dirty="0">
              <a:solidFill>
                <a:schemeClr val="bg1"/>
              </a:solidFill>
            </a:endParaRPr>
          </a:p>
          <a:p>
            <a:pPr lvl="0">
              <a:lnSpc>
                <a:spcPct val="90000"/>
              </a:lnSpc>
              <a:spcBef>
                <a:spcPts val="1000"/>
              </a:spcBef>
            </a:pPr>
            <a:r>
              <a:rPr lang="en-US" sz="1600" dirty="0">
                <a:solidFill>
                  <a:schemeClr val="bg1"/>
                </a:solidFill>
              </a:rPr>
              <a:t>1) Accuracy</a:t>
            </a:r>
          </a:p>
          <a:p>
            <a:pPr lvl="0">
              <a:lnSpc>
                <a:spcPct val="90000"/>
              </a:lnSpc>
              <a:spcBef>
                <a:spcPts val="1000"/>
              </a:spcBef>
            </a:pPr>
            <a:r>
              <a:rPr lang="en-US" sz="1600" dirty="0">
                <a:solidFill>
                  <a:schemeClr val="bg1"/>
                </a:solidFill>
              </a:rPr>
              <a:t>2) Logarithmic Loss</a:t>
            </a:r>
          </a:p>
          <a:p>
            <a:pPr lvl="0">
              <a:lnSpc>
                <a:spcPct val="90000"/>
              </a:lnSpc>
              <a:spcBef>
                <a:spcPts val="1000"/>
              </a:spcBef>
            </a:pPr>
            <a:r>
              <a:rPr lang="en-US" sz="1600" dirty="0">
                <a:solidFill>
                  <a:schemeClr val="bg1"/>
                </a:solidFill>
              </a:rPr>
              <a:t>3) Confusion Matrix</a:t>
            </a:r>
          </a:p>
          <a:p>
            <a:pPr lvl="0">
              <a:lnSpc>
                <a:spcPct val="90000"/>
              </a:lnSpc>
              <a:spcBef>
                <a:spcPts val="1000"/>
              </a:spcBef>
            </a:pPr>
            <a:r>
              <a:rPr lang="en-US" sz="1600" dirty="0">
                <a:solidFill>
                  <a:schemeClr val="bg1"/>
                </a:solidFill>
              </a:rPr>
              <a:t>4) Area under Curve</a:t>
            </a:r>
          </a:p>
          <a:p>
            <a:pPr lvl="0">
              <a:lnSpc>
                <a:spcPct val="90000"/>
              </a:lnSpc>
              <a:spcBef>
                <a:spcPts val="1000"/>
              </a:spcBef>
            </a:pPr>
            <a:r>
              <a:rPr lang="en-US" sz="1600" dirty="0">
                <a:solidFill>
                  <a:schemeClr val="bg1"/>
                </a:solidFill>
              </a:rPr>
              <a:t>5) F1 Score</a:t>
            </a:r>
          </a:p>
          <a:p>
            <a:pPr lvl="0">
              <a:lnSpc>
                <a:spcPct val="90000"/>
              </a:lnSpc>
              <a:spcBef>
                <a:spcPts val="1000"/>
              </a:spcBef>
            </a:pPr>
            <a:r>
              <a:rPr lang="en-US" sz="1600" dirty="0">
                <a:solidFill>
                  <a:schemeClr val="bg1"/>
                </a:solidFill>
              </a:rPr>
              <a:t>6) Precision and Recall</a:t>
            </a:r>
          </a:p>
        </p:txBody>
      </p:sp>
      <p:sp>
        <p:nvSpPr>
          <p:cNvPr id="8" name="Rectangle 7">
            <a:extLst>
              <a:ext uri="{FF2B5EF4-FFF2-40B4-BE49-F238E27FC236}">
                <a16:creationId xmlns:a16="http://schemas.microsoft.com/office/drawing/2014/main" id="{032B86F2-448D-4ADA-91F9-4AA2A3F1211F}"/>
              </a:ext>
            </a:extLst>
          </p:cNvPr>
          <p:cNvSpPr/>
          <p:nvPr/>
        </p:nvSpPr>
        <p:spPr>
          <a:xfrm>
            <a:off x="8911524" y="3400271"/>
            <a:ext cx="3037611" cy="1585049"/>
          </a:xfrm>
          <a:prstGeom prst="rect">
            <a:avLst/>
          </a:prstGeom>
        </p:spPr>
        <p:txBody>
          <a:bodyPr wrap="square">
            <a:spAutoFit/>
          </a:bodyPr>
          <a:lstStyle/>
          <a:p>
            <a:pPr lvl="0">
              <a:lnSpc>
                <a:spcPct val="90000"/>
              </a:lnSpc>
              <a:spcBef>
                <a:spcPts val="1000"/>
              </a:spcBef>
            </a:pPr>
            <a:r>
              <a:rPr lang="en-US" sz="2400" dirty="0">
                <a:solidFill>
                  <a:schemeClr val="bg1"/>
                </a:solidFill>
              </a:rPr>
              <a:t>Forecasting/Prediction</a:t>
            </a:r>
          </a:p>
          <a:p>
            <a:pPr lvl="0">
              <a:lnSpc>
                <a:spcPct val="90000"/>
              </a:lnSpc>
              <a:spcBef>
                <a:spcPts val="1000"/>
              </a:spcBef>
            </a:pPr>
            <a:endParaRPr lang="en-US" sz="2400" dirty="0">
              <a:solidFill>
                <a:schemeClr val="bg1"/>
              </a:solidFill>
            </a:endParaRPr>
          </a:p>
          <a:p>
            <a:pPr marL="457200" lvl="0" indent="-457200">
              <a:lnSpc>
                <a:spcPct val="90000"/>
              </a:lnSpc>
              <a:spcBef>
                <a:spcPts val="1000"/>
              </a:spcBef>
              <a:buAutoNum type="arabicPeriod"/>
            </a:pPr>
            <a:r>
              <a:rPr lang="en-US" sz="1600" dirty="0">
                <a:solidFill>
                  <a:schemeClr val="bg1"/>
                </a:solidFill>
              </a:rPr>
              <a:t>Mean square error</a:t>
            </a:r>
          </a:p>
          <a:p>
            <a:pPr marL="514350" lvl="0" indent="-514350">
              <a:lnSpc>
                <a:spcPct val="90000"/>
              </a:lnSpc>
              <a:spcBef>
                <a:spcPts val="1000"/>
              </a:spcBef>
              <a:buAutoNum type="arabicPeriod"/>
            </a:pPr>
            <a:r>
              <a:rPr lang="en-US" sz="1600" dirty="0">
                <a:solidFill>
                  <a:schemeClr val="bg1"/>
                </a:solidFill>
              </a:rPr>
              <a:t>Mean absolute error</a:t>
            </a:r>
          </a:p>
        </p:txBody>
      </p:sp>
      <p:sp>
        <p:nvSpPr>
          <p:cNvPr id="9" name="Rectangle 8">
            <a:extLst>
              <a:ext uri="{FF2B5EF4-FFF2-40B4-BE49-F238E27FC236}">
                <a16:creationId xmlns:a16="http://schemas.microsoft.com/office/drawing/2014/main" id="{0D8FF168-9FD7-4B53-8300-82F52C12CB2C}"/>
              </a:ext>
            </a:extLst>
          </p:cNvPr>
          <p:cNvSpPr/>
          <p:nvPr/>
        </p:nvSpPr>
        <p:spPr>
          <a:xfrm>
            <a:off x="2851688" y="3000797"/>
            <a:ext cx="5525146" cy="3631763"/>
          </a:xfrm>
          <a:prstGeom prst="rect">
            <a:avLst/>
          </a:prstGeom>
        </p:spPr>
        <p:txBody>
          <a:bodyPr wrap="square">
            <a:spAutoFit/>
          </a:bodyPr>
          <a:lstStyle/>
          <a:p>
            <a:pPr lvl="0">
              <a:lnSpc>
                <a:spcPct val="90000"/>
              </a:lnSpc>
              <a:spcBef>
                <a:spcPts val="1000"/>
              </a:spcBef>
            </a:pPr>
            <a:r>
              <a:rPr lang="en-US" sz="2400" dirty="0">
                <a:solidFill>
                  <a:schemeClr val="bg1"/>
                </a:solidFill>
              </a:rPr>
              <a:t>Clustering</a:t>
            </a:r>
          </a:p>
          <a:p>
            <a:pPr lvl="0">
              <a:lnSpc>
                <a:spcPct val="90000"/>
              </a:lnSpc>
              <a:spcBef>
                <a:spcPts val="1000"/>
              </a:spcBef>
            </a:pPr>
            <a:r>
              <a:rPr lang="en-US" sz="1600" dirty="0">
                <a:solidFill>
                  <a:schemeClr val="bg1"/>
                </a:solidFill>
              </a:rPr>
              <a:t>Internal evaluation- when true labels are NOT available. These assess how good the clusters are based on the structure of the data itself.</a:t>
            </a:r>
          </a:p>
          <a:p>
            <a:pPr lvl="0">
              <a:lnSpc>
                <a:spcPct val="90000"/>
              </a:lnSpc>
              <a:spcBef>
                <a:spcPts val="1000"/>
              </a:spcBef>
            </a:pPr>
            <a:r>
              <a:rPr lang="en-US" sz="1600" dirty="0">
                <a:solidFill>
                  <a:schemeClr val="bg1"/>
                </a:solidFill>
              </a:rPr>
              <a:t>1) Silhouette score ; 2) Davies-Bouldin Index</a:t>
            </a:r>
          </a:p>
          <a:p>
            <a:pPr lvl="0">
              <a:lnSpc>
                <a:spcPct val="90000"/>
              </a:lnSpc>
              <a:spcBef>
                <a:spcPts val="1000"/>
              </a:spcBef>
            </a:pPr>
            <a:r>
              <a:rPr lang="en-US" sz="1600" dirty="0">
                <a:solidFill>
                  <a:schemeClr val="bg1"/>
                </a:solidFill>
              </a:rPr>
              <a:t>External evaluation- Used when true labels ARE available (e.g., for testing or benchmarking).These compare the clustering result to actual class labels.</a:t>
            </a:r>
          </a:p>
          <a:p>
            <a:pPr lvl="0">
              <a:lnSpc>
                <a:spcPct val="90000"/>
              </a:lnSpc>
              <a:spcBef>
                <a:spcPts val="1000"/>
              </a:spcBef>
            </a:pPr>
            <a:r>
              <a:rPr lang="en-US" sz="1600" dirty="0">
                <a:solidFill>
                  <a:schemeClr val="bg1"/>
                </a:solidFill>
              </a:rPr>
              <a:t>1) Adjusted Rand Index (ARI)</a:t>
            </a:r>
          </a:p>
          <a:p>
            <a:pPr lvl="0">
              <a:lnSpc>
                <a:spcPct val="90000"/>
              </a:lnSpc>
              <a:spcBef>
                <a:spcPts val="1000"/>
              </a:spcBef>
            </a:pPr>
            <a:r>
              <a:rPr lang="en-US" sz="1600" dirty="0">
                <a:solidFill>
                  <a:schemeClr val="bg1"/>
                </a:solidFill>
              </a:rPr>
              <a:t>2) Normalized Mutual Information (NMI)</a:t>
            </a:r>
          </a:p>
          <a:p>
            <a:pPr lvl="0">
              <a:lnSpc>
                <a:spcPct val="90000"/>
              </a:lnSpc>
              <a:spcBef>
                <a:spcPts val="1000"/>
              </a:spcBef>
            </a:pPr>
            <a:r>
              <a:rPr lang="en-US" sz="1600" dirty="0">
                <a:solidFill>
                  <a:schemeClr val="bg1"/>
                </a:solidFill>
              </a:rPr>
              <a:t>3) Confusion Matrix + Accuracy when labels are available, can treat clusters as classes</a:t>
            </a:r>
          </a:p>
        </p:txBody>
      </p:sp>
    </p:spTree>
    <p:extLst>
      <p:ext uri="{BB962C8B-B14F-4D97-AF65-F5344CB8AC3E}">
        <p14:creationId xmlns:p14="http://schemas.microsoft.com/office/powerpoint/2010/main" val="1879483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repeatCount="indefinite"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5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150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xit" presetSubtype="8" repeatCount="indefinite" fill="hold" nodeType="withEffect">
                                  <p:stCondLst>
                                    <p:cond delay="500"/>
                                  </p:stCondLst>
                                  <p:childTnLst>
                                    <p:anim calcmode="lin" valueType="num">
                                      <p:cBhvr additive="base">
                                        <p:cTn id="10" dur="15000"/>
                                        <p:tgtEl>
                                          <p:spTgt spid="5">
                                            <p:txEl>
                                              <p:pRg st="0" end="0"/>
                                            </p:txEl>
                                          </p:spTgt>
                                        </p:tgtEl>
                                        <p:attrNameLst>
                                          <p:attrName>ppt_x</p:attrName>
                                        </p:attrNameLst>
                                      </p:cBhvr>
                                      <p:tavLst>
                                        <p:tav tm="0">
                                          <p:val>
                                            <p:strVal val="ppt_x"/>
                                          </p:val>
                                        </p:tav>
                                        <p:tav tm="100000">
                                          <p:val>
                                            <p:strVal val="0-ppt_w/2"/>
                                          </p:val>
                                        </p:tav>
                                      </p:tavLst>
                                    </p:anim>
                                    <p:anim calcmode="lin" valueType="num">
                                      <p:cBhvr additive="base">
                                        <p:cTn id="11" dur="15000"/>
                                        <p:tgtEl>
                                          <p:spTgt spid="5">
                                            <p:txEl>
                                              <p:pRg st="0" end="0"/>
                                            </p:txEl>
                                          </p:spTgt>
                                        </p:tgtEl>
                                        <p:attrNameLst>
                                          <p:attrName>ppt_y</p:attrName>
                                        </p:attrNameLst>
                                      </p:cBhvr>
                                      <p:tavLst>
                                        <p:tav tm="0">
                                          <p:val>
                                            <p:strVal val="ppt_y"/>
                                          </p:val>
                                        </p:tav>
                                        <p:tav tm="100000">
                                          <p:val>
                                            <p:strVal val="ppt_y"/>
                                          </p:val>
                                        </p:tav>
                                      </p:tavLst>
                                    </p:anim>
                                    <p:set>
                                      <p:cBhvr>
                                        <p:cTn id="12" dur="1" fill="hold">
                                          <p:stCondLst>
                                            <p:cond delay="14999"/>
                                          </p:stCondLst>
                                        </p:cTn>
                                        <p:tgtEl>
                                          <p:spTgt spid="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6423130"/>
            <a:ext cx="12192000" cy="41801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s-MY"/>
          </a:p>
        </p:txBody>
      </p:sp>
      <p:sp>
        <p:nvSpPr>
          <p:cNvPr id="5" name="TextBox 4"/>
          <p:cNvSpPr txBox="1"/>
          <p:nvPr/>
        </p:nvSpPr>
        <p:spPr>
          <a:xfrm>
            <a:off x="654448" y="6447469"/>
            <a:ext cx="10755085" cy="369332"/>
          </a:xfrm>
          <a:prstGeom prst="rect">
            <a:avLst/>
          </a:prstGeom>
          <a:noFill/>
        </p:spPr>
        <p:txBody>
          <a:bodyPr wrap="square" rtlCol="0">
            <a:spAutoFit/>
          </a:bodyPr>
          <a:lstStyle/>
          <a:p>
            <a:r>
              <a:rPr lang="en-US" b="1" dirty="0">
                <a:solidFill>
                  <a:schemeClr val="bg1"/>
                </a:solidFill>
              </a:rPr>
              <a:t>PROJECT RELATED TO ARTIFICIAL INTELLIGENCE</a:t>
            </a:r>
            <a:endParaRPr lang="ms-MY" b="1" dirty="0">
              <a:solidFill>
                <a:schemeClr val="bg1"/>
              </a:solidFill>
            </a:endParaRPr>
          </a:p>
        </p:txBody>
      </p:sp>
      <p:sp>
        <p:nvSpPr>
          <p:cNvPr id="6" name="TextBox 5"/>
          <p:cNvSpPr txBox="1"/>
          <p:nvPr/>
        </p:nvSpPr>
        <p:spPr>
          <a:xfrm>
            <a:off x="654448" y="6423130"/>
            <a:ext cx="10755085" cy="369332"/>
          </a:xfrm>
          <a:prstGeom prst="rect">
            <a:avLst/>
          </a:prstGeom>
          <a:noFill/>
        </p:spPr>
        <p:txBody>
          <a:bodyPr wrap="square" rtlCol="0">
            <a:spAutoFit/>
          </a:bodyPr>
          <a:lstStyle/>
          <a:p>
            <a:r>
              <a:rPr lang="en-US" b="1" dirty="0">
                <a:solidFill>
                  <a:schemeClr val="bg1"/>
                </a:solidFill>
              </a:rPr>
              <a:t>PROJECT RELATED TO ARTIFICIAL INTELLIGENCE - TQ</a:t>
            </a:r>
            <a:endParaRPr lang="ms-MY" b="1" dirty="0">
              <a:solidFill>
                <a:schemeClr val="bg1"/>
              </a:solidFill>
            </a:endParaRPr>
          </a:p>
        </p:txBody>
      </p:sp>
      <p:pic>
        <p:nvPicPr>
          <p:cNvPr id="2" name="Picture 1"/>
          <p:cNvPicPr>
            <a:picLocks noChangeAspect="1"/>
          </p:cNvPicPr>
          <p:nvPr/>
        </p:nvPicPr>
        <p:blipFill>
          <a:blip r:embed="rId3"/>
          <a:stretch>
            <a:fillRect/>
          </a:stretch>
        </p:blipFill>
        <p:spPr>
          <a:xfrm>
            <a:off x="0" y="527538"/>
            <a:ext cx="12192000" cy="5871252"/>
          </a:xfrm>
          <a:prstGeom prst="rect">
            <a:avLst/>
          </a:prstGeom>
        </p:spPr>
      </p:pic>
    </p:spTree>
    <p:extLst>
      <p:ext uri="{BB962C8B-B14F-4D97-AF65-F5344CB8AC3E}">
        <p14:creationId xmlns:p14="http://schemas.microsoft.com/office/powerpoint/2010/main" val="968482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repeatCount="indefinite"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5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150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xit" presetSubtype="8" repeatCount="indefinite" fill="hold" nodeType="withEffect">
                                  <p:stCondLst>
                                    <p:cond delay="500"/>
                                  </p:stCondLst>
                                  <p:childTnLst>
                                    <p:anim calcmode="lin" valueType="num">
                                      <p:cBhvr additive="base">
                                        <p:cTn id="10" dur="15000"/>
                                        <p:tgtEl>
                                          <p:spTgt spid="5">
                                            <p:txEl>
                                              <p:pRg st="0" end="0"/>
                                            </p:txEl>
                                          </p:spTgt>
                                        </p:tgtEl>
                                        <p:attrNameLst>
                                          <p:attrName>ppt_x</p:attrName>
                                        </p:attrNameLst>
                                      </p:cBhvr>
                                      <p:tavLst>
                                        <p:tav tm="0">
                                          <p:val>
                                            <p:strVal val="ppt_x"/>
                                          </p:val>
                                        </p:tav>
                                        <p:tav tm="100000">
                                          <p:val>
                                            <p:strVal val="0-ppt_w/2"/>
                                          </p:val>
                                        </p:tav>
                                      </p:tavLst>
                                    </p:anim>
                                    <p:anim calcmode="lin" valueType="num">
                                      <p:cBhvr additive="base">
                                        <p:cTn id="11" dur="15000"/>
                                        <p:tgtEl>
                                          <p:spTgt spid="5">
                                            <p:txEl>
                                              <p:pRg st="0" end="0"/>
                                            </p:txEl>
                                          </p:spTgt>
                                        </p:tgtEl>
                                        <p:attrNameLst>
                                          <p:attrName>ppt_y</p:attrName>
                                        </p:attrNameLst>
                                      </p:cBhvr>
                                      <p:tavLst>
                                        <p:tav tm="0">
                                          <p:val>
                                            <p:strVal val="ppt_y"/>
                                          </p:val>
                                        </p:tav>
                                        <p:tav tm="100000">
                                          <p:val>
                                            <p:strVal val="ppt_y"/>
                                          </p:val>
                                        </p:tav>
                                      </p:tavLst>
                                    </p:anim>
                                    <p:set>
                                      <p:cBhvr>
                                        <p:cTn id="12" dur="1" fill="hold">
                                          <p:stCondLst>
                                            <p:cond delay="14999"/>
                                          </p:stCondLst>
                                        </p:cTn>
                                        <p:tgtEl>
                                          <p:spTgt spid="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6423130"/>
            <a:ext cx="12192000" cy="41801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s-MY"/>
          </a:p>
        </p:txBody>
      </p:sp>
      <p:sp>
        <p:nvSpPr>
          <p:cNvPr id="5" name="TextBox 4"/>
          <p:cNvSpPr txBox="1"/>
          <p:nvPr/>
        </p:nvSpPr>
        <p:spPr>
          <a:xfrm>
            <a:off x="654448" y="6447469"/>
            <a:ext cx="10755085" cy="369332"/>
          </a:xfrm>
          <a:prstGeom prst="rect">
            <a:avLst/>
          </a:prstGeom>
          <a:noFill/>
        </p:spPr>
        <p:txBody>
          <a:bodyPr wrap="square" rtlCol="0">
            <a:spAutoFit/>
          </a:bodyPr>
          <a:lstStyle/>
          <a:p>
            <a:r>
              <a:rPr lang="en-US" b="1" dirty="0">
                <a:solidFill>
                  <a:schemeClr val="bg1"/>
                </a:solidFill>
              </a:rPr>
              <a:t>PROJECT RELATED TO ARTIFICIAL INTELLIGENCE</a:t>
            </a:r>
            <a:endParaRPr lang="ms-MY" b="1" dirty="0">
              <a:solidFill>
                <a:schemeClr val="bg1"/>
              </a:solidFill>
            </a:endParaRPr>
          </a:p>
        </p:txBody>
      </p:sp>
      <p:sp>
        <p:nvSpPr>
          <p:cNvPr id="6" name="TextBox 5"/>
          <p:cNvSpPr txBox="1"/>
          <p:nvPr/>
        </p:nvSpPr>
        <p:spPr>
          <a:xfrm>
            <a:off x="654448" y="6423130"/>
            <a:ext cx="10755085" cy="369332"/>
          </a:xfrm>
          <a:prstGeom prst="rect">
            <a:avLst/>
          </a:prstGeom>
          <a:noFill/>
        </p:spPr>
        <p:txBody>
          <a:bodyPr wrap="square" rtlCol="0">
            <a:spAutoFit/>
          </a:bodyPr>
          <a:lstStyle/>
          <a:p>
            <a:r>
              <a:rPr lang="en-US" b="1" dirty="0">
                <a:solidFill>
                  <a:schemeClr val="bg1"/>
                </a:solidFill>
              </a:rPr>
              <a:t>PROJECT RELATED TO ARTIFICIAL INTELLIGENCE - TQ</a:t>
            </a:r>
            <a:endParaRPr lang="ms-MY" b="1" dirty="0">
              <a:solidFill>
                <a:schemeClr val="bg1"/>
              </a:solidFill>
            </a:endParaRPr>
          </a:p>
        </p:txBody>
      </p:sp>
      <p:pic>
        <p:nvPicPr>
          <p:cNvPr id="2" name="Picture 1"/>
          <p:cNvPicPr>
            <a:picLocks noChangeAspect="1"/>
          </p:cNvPicPr>
          <p:nvPr/>
        </p:nvPicPr>
        <p:blipFill>
          <a:blip r:embed="rId3"/>
          <a:stretch>
            <a:fillRect/>
          </a:stretch>
        </p:blipFill>
        <p:spPr>
          <a:xfrm>
            <a:off x="0" y="550985"/>
            <a:ext cx="12192000" cy="5847805"/>
          </a:xfrm>
          <a:prstGeom prst="rect">
            <a:avLst/>
          </a:prstGeom>
        </p:spPr>
      </p:pic>
    </p:spTree>
    <p:extLst>
      <p:ext uri="{BB962C8B-B14F-4D97-AF65-F5344CB8AC3E}">
        <p14:creationId xmlns:p14="http://schemas.microsoft.com/office/powerpoint/2010/main" val="2390200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repeatCount="indefinite"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5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150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xit" presetSubtype="8" repeatCount="indefinite" fill="hold" nodeType="withEffect">
                                  <p:stCondLst>
                                    <p:cond delay="500"/>
                                  </p:stCondLst>
                                  <p:childTnLst>
                                    <p:anim calcmode="lin" valueType="num">
                                      <p:cBhvr additive="base">
                                        <p:cTn id="10" dur="15000"/>
                                        <p:tgtEl>
                                          <p:spTgt spid="5">
                                            <p:txEl>
                                              <p:pRg st="0" end="0"/>
                                            </p:txEl>
                                          </p:spTgt>
                                        </p:tgtEl>
                                        <p:attrNameLst>
                                          <p:attrName>ppt_x</p:attrName>
                                        </p:attrNameLst>
                                      </p:cBhvr>
                                      <p:tavLst>
                                        <p:tav tm="0">
                                          <p:val>
                                            <p:strVal val="ppt_x"/>
                                          </p:val>
                                        </p:tav>
                                        <p:tav tm="100000">
                                          <p:val>
                                            <p:strVal val="0-ppt_w/2"/>
                                          </p:val>
                                        </p:tav>
                                      </p:tavLst>
                                    </p:anim>
                                    <p:anim calcmode="lin" valueType="num">
                                      <p:cBhvr additive="base">
                                        <p:cTn id="11" dur="15000"/>
                                        <p:tgtEl>
                                          <p:spTgt spid="5">
                                            <p:txEl>
                                              <p:pRg st="0" end="0"/>
                                            </p:txEl>
                                          </p:spTgt>
                                        </p:tgtEl>
                                        <p:attrNameLst>
                                          <p:attrName>ppt_y</p:attrName>
                                        </p:attrNameLst>
                                      </p:cBhvr>
                                      <p:tavLst>
                                        <p:tav tm="0">
                                          <p:val>
                                            <p:strVal val="ppt_y"/>
                                          </p:val>
                                        </p:tav>
                                        <p:tav tm="100000">
                                          <p:val>
                                            <p:strVal val="ppt_y"/>
                                          </p:val>
                                        </p:tav>
                                      </p:tavLst>
                                    </p:anim>
                                    <p:set>
                                      <p:cBhvr>
                                        <p:cTn id="12" dur="1" fill="hold">
                                          <p:stCondLst>
                                            <p:cond delay="14999"/>
                                          </p:stCondLst>
                                        </p:cTn>
                                        <p:tgtEl>
                                          <p:spTgt spid="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6423130"/>
            <a:ext cx="12192000" cy="41801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s-MY"/>
          </a:p>
        </p:txBody>
      </p:sp>
      <p:sp>
        <p:nvSpPr>
          <p:cNvPr id="5" name="TextBox 4"/>
          <p:cNvSpPr txBox="1"/>
          <p:nvPr/>
        </p:nvSpPr>
        <p:spPr>
          <a:xfrm>
            <a:off x="654448" y="6447469"/>
            <a:ext cx="10755085" cy="369332"/>
          </a:xfrm>
          <a:prstGeom prst="rect">
            <a:avLst/>
          </a:prstGeom>
          <a:noFill/>
        </p:spPr>
        <p:txBody>
          <a:bodyPr wrap="square" rtlCol="0">
            <a:spAutoFit/>
          </a:bodyPr>
          <a:lstStyle/>
          <a:p>
            <a:r>
              <a:rPr lang="en-US" b="1" dirty="0">
                <a:solidFill>
                  <a:schemeClr val="bg1"/>
                </a:solidFill>
              </a:rPr>
              <a:t>PROJECT RELATED TO ARTIFICIAL INTELLIGENCE</a:t>
            </a:r>
            <a:endParaRPr lang="ms-MY" b="1" dirty="0">
              <a:solidFill>
                <a:schemeClr val="bg1"/>
              </a:solidFill>
            </a:endParaRPr>
          </a:p>
        </p:txBody>
      </p:sp>
      <p:sp>
        <p:nvSpPr>
          <p:cNvPr id="6" name="TextBox 5"/>
          <p:cNvSpPr txBox="1"/>
          <p:nvPr/>
        </p:nvSpPr>
        <p:spPr>
          <a:xfrm>
            <a:off x="654448" y="6423130"/>
            <a:ext cx="10755085" cy="369332"/>
          </a:xfrm>
          <a:prstGeom prst="rect">
            <a:avLst/>
          </a:prstGeom>
          <a:noFill/>
        </p:spPr>
        <p:txBody>
          <a:bodyPr wrap="square" rtlCol="0">
            <a:spAutoFit/>
          </a:bodyPr>
          <a:lstStyle/>
          <a:p>
            <a:r>
              <a:rPr lang="en-US" b="1" dirty="0">
                <a:solidFill>
                  <a:schemeClr val="bg1"/>
                </a:solidFill>
              </a:rPr>
              <a:t>PROJECT RELATED TO ARTIFICIAL INTELLIGENCE - TQ</a:t>
            </a:r>
            <a:endParaRPr lang="ms-MY" b="1" dirty="0">
              <a:solidFill>
                <a:schemeClr val="bg1"/>
              </a:solidFill>
            </a:endParaRPr>
          </a:p>
        </p:txBody>
      </p:sp>
      <p:pic>
        <p:nvPicPr>
          <p:cNvPr id="3" name="Picture 2"/>
          <p:cNvPicPr>
            <a:picLocks noChangeAspect="1"/>
          </p:cNvPicPr>
          <p:nvPr/>
        </p:nvPicPr>
        <p:blipFill>
          <a:blip r:embed="rId3"/>
          <a:stretch>
            <a:fillRect/>
          </a:stretch>
        </p:blipFill>
        <p:spPr>
          <a:xfrm>
            <a:off x="0" y="574432"/>
            <a:ext cx="12192000" cy="5824358"/>
          </a:xfrm>
          <a:prstGeom prst="rect">
            <a:avLst/>
          </a:prstGeom>
        </p:spPr>
      </p:pic>
    </p:spTree>
    <p:extLst>
      <p:ext uri="{BB962C8B-B14F-4D97-AF65-F5344CB8AC3E}">
        <p14:creationId xmlns:p14="http://schemas.microsoft.com/office/powerpoint/2010/main" val="862276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repeatCount="indefinite"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5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150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xit" presetSubtype="8" repeatCount="indefinite" fill="hold" nodeType="withEffect">
                                  <p:stCondLst>
                                    <p:cond delay="500"/>
                                  </p:stCondLst>
                                  <p:childTnLst>
                                    <p:anim calcmode="lin" valueType="num">
                                      <p:cBhvr additive="base">
                                        <p:cTn id="10" dur="15000"/>
                                        <p:tgtEl>
                                          <p:spTgt spid="5">
                                            <p:txEl>
                                              <p:pRg st="0" end="0"/>
                                            </p:txEl>
                                          </p:spTgt>
                                        </p:tgtEl>
                                        <p:attrNameLst>
                                          <p:attrName>ppt_x</p:attrName>
                                        </p:attrNameLst>
                                      </p:cBhvr>
                                      <p:tavLst>
                                        <p:tav tm="0">
                                          <p:val>
                                            <p:strVal val="ppt_x"/>
                                          </p:val>
                                        </p:tav>
                                        <p:tav tm="100000">
                                          <p:val>
                                            <p:strVal val="0-ppt_w/2"/>
                                          </p:val>
                                        </p:tav>
                                      </p:tavLst>
                                    </p:anim>
                                    <p:anim calcmode="lin" valueType="num">
                                      <p:cBhvr additive="base">
                                        <p:cTn id="11" dur="15000"/>
                                        <p:tgtEl>
                                          <p:spTgt spid="5">
                                            <p:txEl>
                                              <p:pRg st="0" end="0"/>
                                            </p:txEl>
                                          </p:spTgt>
                                        </p:tgtEl>
                                        <p:attrNameLst>
                                          <p:attrName>ppt_y</p:attrName>
                                        </p:attrNameLst>
                                      </p:cBhvr>
                                      <p:tavLst>
                                        <p:tav tm="0">
                                          <p:val>
                                            <p:strVal val="ppt_y"/>
                                          </p:val>
                                        </p:tav>
                                        <p:tav tm="100000">
                                          <p:val>
                                            <p:strVal val="ppt_y"/>
                                          </p:val>
                                        </p:tav>
                                      </p:tavLst>
                                    </p:anim>
                                    <p:set>
                                      <p:cBhvr>
                                        <p:cTn id="12" dur="1" fill="hold">
                                          <p:stCondLst>
                                            <p:cond delay="14999"/>
                                          </p:stCondLst>
                                        </p:cTn>
                                        <p:tgtEl>
                                          <p:spTgt spid="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6423130"/>
            <a:ext cx="12192000" cy="41801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s-MY"/>
          </a:p>
        </p:txBody>
      </p:sp>
      <p:sp>
        <p:nvSpPr>
          <p:cNvPr id="5" name="TextBox 4"/>
          <p:cNvSpPr txBox="1"/>
          <p:nvPr/>
        </p:nvSpPr>
        <p:spPr>
          <a:xfrm>
            <a:off x="654448" y="6447469"/>
            <a:ext cx="10755085" cy="369332"/>
          </a:xfrm>
          <a:prstGeom prst="rect">
            <a:avLst/>
          </a:prstGeom>
          <a:noFill/>
        </p:spPr>
        <p:txBody>
          <a:bodyPr wrap="square" rtlCol="0">
            <a:spAutoFit/>
          </a:bodyPr>
          <a:lstStyle/>
          <a:p>
            <a:r>
              <a:rPr lang="en-US" b="1" dirty="0">
                <a:solidFill>
                  <a:schemeClr val="bg1"/>
                </a:solidFill>
              </a:rPr>
              <a:t>PROJECT RELATED TO ARTIFICIAL INTELLIGENCE</a:t>
            </a:r>
            <a:endParaRPr lang="ms-MY" b="1" dirty="0">
              <a:solidFill>
                <a:schemeClr val="bg1"/>
              </a:solidFill>
            </a:endParaRPr>
          </a:p>
        </p:txBody>
      </p:sp>
      <p:sp>
        <p:nvSpPr>
          <p:cNvPr id="6" name="TextBox 5"/>
          <p:cNvSpPr txBox="1"/>
          <p:nvPr/>
        </p:nvSpPr>
        <p:spPr>
          <a:xfrm>
            <a:off x="654448" y="6423130"/>
            <a:ext cx="10755085" cy="369332"/>
          </a:xfrm>
          <a:prstGeom prst="rect">
            <a:avLst/>
          </a:prstGeom>
          <a:noFill/>
        </p:spPr>
        <p:txBody>
          <a:bodyPr wrap="square" rtlCol="0">
            <a:spAutoFit/>
          </a:bodyPr>
          <a:lstStyle/>
          <a:p>
            <a:r>
              <a:rPr lang="en-US" b="1" dirty="0">
                <a:solidFill>
                  <a:schemeClr val="bg1"/>
                </a:solidFill>
              </a:rPr>
              <a:t>PROJECT RELATED TO ARTIFICIAL INTELLIGENCE - TQ</a:t>
            </a:r>
            <a:endParaRPr lang="ms-MY" b="1" dirty="0">
              <a:solidFill>
                <a:schemeClr val="bg1"/>
              </a:solidFill>
            </a:endParaRPr>
          </a:p>
        </p:txBody>
      </p:sp>
      <p:pic>
        <p:nvPicPr>
          <p:cNvPr id="3" name="Picture 2"/>
          <p:cNvPicPr>
            <a:picLocks noChangeAspect="1"/>
          </p:cNvPicPr>
          <p:nvPr/>
        </p:nvPicPr>
        <p:blipFill>
          <a:blip r:embed="rId3"/>
          <a:stretch>
            <a:fillRect/>
          </a:stretch>
        </p:blipFill>
        <p:spPr>
          <a:xfrm>
            <a:off x="0" y="550985"/>
            <a:ext cx="12192000" cy="5847805"/>
          </a:xfrm>
          <a:prstGeom prst="rect">
            <a:avLst/>
          </a:prstGeom>
        </p:spPr>
      </p:pic>
    </p:spTree>
    <p:extLst>
      <p:ext uri="{BB962C8B-B14F-4D97-AF65-F5344CB8AC3E}">
        <p14:creationId xmlns:p14="http://schemas.microsoft.com/office/powerpoint/2010/main" val="637484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repeatCount="indefinite"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5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150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xit" presetSubtype="8" repeatCount="indefinite" fill="hold" nodeType="withEffect">
                                  <p:stCondLst>
                                    <p:cond delay="500"/>
                                  </p:stCondLst>
                                  <p:childTnLst>
                                    <p:anim calcmode="lin" valueType="num">
                                      <p:cBhvr additive="base">
                                        <p:cTn id="10" dur="15000"/>
                                        <p:tgtEl>
                                          <p:spTgt spid="5">
                                            <p:txEl>
                                              <p:pRg st="0" end="0"/>
                                            </p:txEl>
                                          </p:spTgt>
                                        </p:tgtEl>
                                        <p:attrNameLst>
                                          <p:attrName>ppt_x</p:attrName>
                                        </p:attrNameLst>
                                      </p:cBhvr>
                                      <p:tavLst>
                                        <p:tav tm="0">
                                          <p:val>
                                            <p:strVal val="ppt_x"/>
                                          </p:val>
                                        </p:tav>
                                        <p:tav tm="100000">
                                          <p:val>
                                            <p:strVal val="0-ppt_w/2"/>
                                          </p:val>
                                        </p:tav>
                                      </p:tavLst>
                                    </p:anim>
                                    <p:anim calcmode="lin" valueType="num">
                                      <p:cBhvr additive="base">
                                        <p:cTn id="11" dur="15000"/>
                                        <p:tgtEl>
                                          <p:spTgt spid="5">
                                            <p:txEl>
                                              <p:pRg st="0" end="0"/>
                                            </p:txEl>
                                          </p:spTgt>
                                        </p:tgtEl>
                                        <p:attrNameLst>
                                          <p:attrName>ppt_y</p:attrName>
                                        </p:attrNameLst>
                                      </p:cBhvr>
                                      <p:tavLst>
                                        <p:tav tm="0">
                                          <p:val>
                                            <p:strVal val="ppt_y"/>
                                          </p:val>
                                        </p:tav>
                                        <p:tav tm="100000">
                                          <p:val>
                                            <p:strVal val="ppt_y"/>
                                          </p:val>
                                        </p:tav>
                                      </p:tavLst>
                                    </p:anim>
                                    <p:set>
                                      <p:cBhvr>
                                        <p:cTn id="12" dur="1" fill="hold">
                                          <p:stCondLst>
                                            <p:cond delay="14999"/>
                                          </p:stCondLst>
                                        </p:cTn>
                                        <p:tgtEl>
                                          <p:spTgt spid="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6423130"/>
            <a:ext cx="12192000" cy="41801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s-MY"/>
          </a:p>
        </p:txBody>
      </p:sp>
      <p:sp>
        <p:nvSpPr>
          <p:cNvPr id="5" name="TextBox 4"/>
          <p:cNvSpPr txBox="1"/>
          <p:nvPr/>
        </p:nvSpPr>
        <p:spPr>
          <a:xfrm>
            <a:off x="654448" y="6447469"/>
            <a:ext cx="10755085" cy="369332"/>
          </a:xfrm>
          <a:prstGeom prst="rect">
            <a:avLst/>
          </a:prstGeom>
          <a:noFill/>
        </p:spPr>
        <p:txBody>
          <a:bodyPr wrap="square" rtlCol="0">
            <a:spAutoFit/>
          </a:bodyPr>
          <a:lstStyle/>
          <a:p>
            <a:r>
              <a:rPr lang="en-US" b="1" dirty="0">
                <a:solidFill>
                  <a:schemeClr val="bg1"/>
                </a:solidFill>
              </a:rPr>
              <a:t>PROJECT RELATED TO ARTIFICIAL INTELLIGENCE</a:t>
            </a:r>
            <a:endParaRPr lang="ms-MY" b="1" dirty="0">
              <a:solidFill>
                <a:schemeClr val="bg1"/>
              </a:solidFill>
            </a:endParaRPr>
          </a:p>
        </p:txBody>
      </p:sp>
      <p:sp>
        <p:nvSpPr>
          <p:cNvPr id="6" name="TextBox 5"/>
          <p:cNvSpPr txBox="1"/>
          <p:nvPr/>
        </p:nvSpPr>
        <p:spPr>
          <a:xfrm>
            <a:off x="654448" y="6423130"/>
            <a:ext cx="10755085" cy="369332"/>
          </a:xfrm>
          <a:prstGeom prst="rect">
            <a:avLst/>
          </a:prstGeom>
          <a:noFill/>
        </p:spPr>
        <p:txBody>
          <a:bodyPr wrap="square" rtlCol="0">
            <a:spAutoFit/>
          </a:bodyPr>
          <a:lstStyle/>
          <a:p>
            <a:r>
              <a:rPr lang="en-US" b="1" dirty="0">
                <a:solidFill>
                  <a:schemeClr val="bg1"/>
                </a:solidFill>
              </a:rPr>
              <a:t>PROJECT RELATED TO ARTIFICIAL INTELLIGENCE - TQ</a:t>
            </a:r>
            <a:endParaRPr lang="ms-MY" b="1" dirty="0">
              <a:solidFill>
                <a:schemeClr val="bg1"/>
              </a:solidFill>
            </a:endParaRPr>
          </a:p>
        </p:txBody>
      </p:sp>
      <p:pic>
        <p:nvPicPr>
          <p:cNvPr id="3" name="Picture 2"/>
          <p:cNvPicPr>
            <a:picLocks noChangeAspect="1"/>
          </p:cNvPicPr>
          <p:nvPr/>
        </p:nvPicPr>
        <p:blipFill>
          <a:blip r:embed="rId3"/>
          <a:stretch>
            <a:fillRect/>
          </a:stretch>
        </p:blipFill>
        <p:spPr>
          <a:xfrm>
            <a:off x="0" y="492370"/>
            <a:ext cx="12192000" cy="5906420"/>
          </a:xfrm>
          <a:prstGeom prst="rect">
            <a:avLst/>
          </a:prstGeom>
        </p:spPr>
      </p:pic>
    </p:spTree>
    <p:extLst>
      <p:ext uri="{BB962C8B-B14F-4D97-AF65-F5344CB8AC3E}">
        <p14:creationId xmlns:p14="http://schemas.microsoft.com/office/powerpoint/2010/main" val="1485685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repeatCount="indefinite"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5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150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xit" presetSubtype="8" repeatCount="indefinite" fill="hold" nodeType="withEffect">
                                  <p:stCondLst>
                                    <p:cond delay="500"/>
                                  </p:stCondLst>
                                  <p:childTnLst>
                                    <p:anim calcmode="lin" valueType="num">
                                      <p:cBhvr additive="base">
                                        <p:cTn id="10" dur="15000"/>
                                        <p:tgtEl>
                                          <p:spTgt spid="5">
                                            <p:txEl>
                                              <p:pRg st="0" end="0"/>
                                            </p:txEl>
                                          </p:spTgt>
                                        </p:tgtEl>
                                        <p:attrNameLst>
                                          <p:attrName>ppt_x</p:attrName>
                                        </p:attrNameLst>
                                      </p:cBhvr>
                                      <p:tavLst>
                                        <p:tav tm="0">
                                          <p:val>
                                            <p:strVal val="ppt_x"/>
                                          </p:val>
                                        </p:tav>
                                        <p:tav tm="100000">
                                          <p:val>
                                            <p:strVal val="0-ppt_w/2"/>
                                          </p:val>
                                        </p:tav>
                                      </p:tavLst>
                                    </p:anim>
                                    <p:anim calcmode="lin" valueType="num">
                                      <p:cBhvr additive="base">
                                        <p:cTn id="11" dur="15000"/>
                                        <p:tgtEl>
                                          <p:spTgt spid="5">
                                            <p:txEl>
                                              <p:pRg st="0" end="0"/>
                                            </p:txEl>
                                          </p:spTgt>
                                        </p:tgtEl>
                                        <p:attrNameLst>
                                          <p:attrName>ppt_y</p:attrName>
                                        </p:attrNameLst>
                                      </p:cBhvr>
                                      <p:tavLst>
                                        <p:tav tm="0">
                                          <p:val>
                                            <p:strVal val="ppt_y"/>
                                          </p:val>
                                        </p:tav>
                                        <p:tav tm="100000">
                                          <p:val>
                                            <p:strVal val="ppt_y"/>
                                          </p:val>
                                        </p:tav>
                                      </p:tavLst>
                                    </p:anim>
                                    <p:set>
                                      <p:cBhvr>
                                        <p:cTn id="12" dur="1" fill="hold">
                                          <p:stCondLst>
                                            <p:cond delay="14999"/>
                                          </p:stCondLst>
                                        </p:cTn>
                                        <p:tgtEl>
                                          <p:spTgt spid="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6423130"/>
            <a:ext cx="12192000" cy="41801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s-MY"/>
          </a:p>
        </p:txBody>
      </p:sp>
      <p:sp>
        <p:nvSpPr>
          <p:cNvPr id="5" name="TextBox 4"/>
          <p:cNvSpPr txBox="1"/>
          <p:nvPr/>
        </p:nvSpPr>
        <p:spPr>
          <a:xfrm>
            <a:off x="654448" y="6447469"/>
            <a:ext cx="10755085" cy="369332"/>
          </a:xfrm>
          <a:prstGeom prst="rect">
            <a:avLst/>
          </a:prstGeom>
          <a:noFill/>
        </p:spPr>
        <p:txBody>
          <a:bodyPr wrap="square" rtlCol="0">
            <a:spAutoFit/>
          </a:bodyPr>
          <a:lstStyle/>
          <a:p>
            <a:r>
              <a:rPr lang="en-US" b="1" dirty="0">
                <a:solidFill>
                  <a:schemeClr val="bg1"/>
                </a:solidFill>
              </a:rPr>
              <a:t>PROJECT RELATED TO ARTIFICIAL INTELLIGENCE</a:t>
            </a:r>
            <a:endParaRPr lang="ms-MY" b="1" dirty="0">
              <a:solidFill>
                <a:schemeClr val="bg1"/>
              </a:solidFill>
            </a:endParaRPr>
          </a:p>
        </p:txBody>
      </p:sp>
      <p:sp>
        <p:nvSpPr>
          <p:cNvPr id="6" name="TextBox 5"/>
          <p:cNvSpPr txBox="1"/>
          <p:nvPr/>
        </p:nvSpPr>
        <p:spPr>
          <a:xfrm>
            <a:off x="654448" y="6423130"/>
            <a:ext cx="10755085" cy="369332"/>
          </a:xfrm>
          <a:prstGeom prst="rect">
            <a:avLst/>
          </a:prstGeom>
          <a:noFill/>
        </p:spPr>
        <p:txBody>
          <a:bodyPr wrap="square" rtlCol="0">
            <a:spAutoFit/>
          </a:bodyPr>
          <a:lstStyle/>
          <a:p>
            <a:r>
              <a:rPr lang="en-US" b="1" dirty="0">
                <a:solidFill>
                  <a:schemeClr val="bg1"/>
                </a:solidFill>
              </a:rPr>
              <a:t>PROJECT RELATED TO ARTIFICIAL INTELLIGENCE - TQ</a:t>
            </a:r>
            <a:endParaRPr lang="ms-MY" b="1" dirty="0">
              <a:solidFill>
                <a:schemeClr val="bg1"/>
              </a:solidFill>
            </a:endParaRPr>
          </a:p>
        </p:txBody>
      </p:sp>
      <p:pic>
        <p:nvPicPr>
          <p:cNvPr id="3" name="Picture 2"/>
          <p:cNvPicPr>
            <a:picLocks noChangeAspect="1"/>
          </p:cNvPicPr>
          <p:nvPr/>
        </p:nvPicPr>
        <p:blipFill>
          <a:blip r:embed="rId3"/>
          <a:stretch>
            <a:fillRect/>
          </a:stretch>
        </p:blipFill>
        <p:spPr>
          <a:xfrm>
            <a:off x="0" y="480646"/>
            <a:ext cx="12192000" cy="5918144"/>
          </a:xfrm>
          <a:prstGeom prst="rect">
            <a:avLst/>
          </a:prstGeom>
        </p:spPr>
      </p:pic>
    </p:spTree>
    <p:extLst>
      <p:ext uri="{BB962C8B-B14F-4D97-AF65-F5344CB8AC3E}">
        <p14:creationId xmlns:p14="http://schemas.microsoft.com/office/powerpoint/2010/main" val="673937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repeatCount="indefinite"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5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150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xit" presetSubtype="8" repeatCount="indefinite" fill="hold" nodeType="withEffect">
                                  <p:stCondLst>
                                    <p:cond delay="500"/>
                                  </p:stCondLst>
                                  <p:childTnLst>
                                    <p:anim calcmode="lin" valueType="num">
                                      <p:cBhvr additive="base">
                                        <p:cTn id="10" dur="15000"/>
                                        <p:tgtEl>
                                          <p:spTgt spid="5">
                                            <p:txEl>
                                              <p:pRg st="0" end="0"/>
                                            </p:txEl>
                                          </p:spTgt>
                                        </p:tgtEl>
                                        <p:attrNameLst>
                                          <p:attrName>ppt_x</p:attrName>
                                        </p:attrNameLst>
                                      </p:cBhvr>
                                      <p:tavLst>
                                        <p:tav tm="0">
                                          <p:val>
                                            <p:strVal val="ppt_x"/>
                                          </p:val>
                                        </p:tav>
                                        <p:tav tm="100000">
                                          <p:val>
                                            <p:strVal val="0-ppt_w/2"/>
                                          </p:val>
                                        </p:tav>
                                      </p:tavLst>
                                    </p:anim>
                                    <p:anim calcmode="lin" valueType="num">
                                      <p:cBhvr additive="base">
                                        <p:cTn id="11" dur="15000"/>
                                        <p:tgtEl>
                                          <p:spTgt spid="5">
                                            <p:txEl>
                                              <p:pRg st="0" end="0"/>
                                            </p:txEl>
                                          </p:spTgt>
                                        </p:tgtEl>
                                        <p:attrNameLst>
                                          <p:attrName>ppt_y</p:attrName>
                                        </p:attrNameLst>
                                      </p:cBhvr>
                                      <p:tavLst>
                                        <p:tav tm="0">
                                          <p:val>
                                            <p:strVal val="ppt_y"/>
                                          </p:val>
                                        </p:tav>
                                        <p:tav tm="100000">
                                          <p:val>
                                            <p:strVal val="ppt_y"/>
                                          </p:val>
                                        </p:tav>
                                      </p:tavLst>
                                    </p:anim>
                                    <p:set>
                                      <p:cBhvr>
                                        <p:cTn id="12" dur="1" fill="hold">
                                          <p:stCondLst>
                                            <p:cond delay="14999"/>
                                          </p:stCondLst>
                                        </p:cTn>
                                        <p:tgtEl>
                                          <p:spTgt spid="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6423130"/>
            <a:ext cx="12192000" cy="41801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s-MY"/>
          </a:p>
        </p:txBody>
      </p:sp>
      <p:sp>
        <p:nvSpPr>
          <p:cNvPr id="5" name="TextBox 4"/>
          <p:cNvSpPr txBox="1"/>
          <p:nvPr/>
        </p:nvSpPr>
        <p:spPr>
          <a:xfrm>
            <a:off x="654448" y="6447469"/>
            <a:ext cx="10755085" cy="369332"/>
          </a:xfrm>
          <a:prstGeom prst="rect">
            <a:avLst/>
          </a:prstGeom>
          <a:noFill/>
        </p:spPr>
        <p:txBody>
          <a:bodyPr wrap="square" rtlCol="0">
            <a:spAutoFit/>
          </a:bodyPr>
          <a:lstStyle/>
          <a:p>
            <a:r>
              <a:rPr lang="en-US" b="1" dirty="0">
                <a:solidFill>
                  <a:schemeClr val="bg1"/>
                </a:solidFill>
              </a:rPr>
              <a:t>PROJECT RELATED TO ARTIFICIAL INTELLIGENCE</a:t>
            </a:r>
            <a:endParaRPr lang="ms-MY" b="1" dirty="0">
              <a:solidFill>
                <a:schemeClr val="bg1"/>
              </a:solidFill>
            </a:endParaRPr>
          </a:p>
        </p:txBody>
      </p:sp>
      <p:sp>
        <p:nvSpPr>
          <p:cNvPr id="6" name="TextBox 5"/>
          <p:cNvSpPr txBox="1"/>
          <p:nvPr/>
        </p:nvSpPr>
        <p:spPr>
          <a:xfrm>
            <a:off x="654448" y="6423130"/>
            <a:ext cx="10755085" cy="369332"/>
          </a:xfrm>
          <a:prstGeom prst="rect">
            <a:avLst/>
          </a:prstGeom>
          <a:noFill/>
        </p:spPr>
        <p:txBody>
          <a:bodyPr wrap="square" rtlCol="0">
            <a:spAutoFit/>
          </a:bodyPr>
          <a:lstStyle/>
          <a:p>
            <a:r>
              <a:rPr lang="en-US" b="1" dirty="0">
                <a:solidFill>
                  <a:schemeClr val="bg1"/>
                </a:solidFill>
              </a:rPr>
              <a:t>PROJECT RELATED TO ARTIFICIAL INTELLIGENCE - TQ</a:t>
            </a:r>
            <a:endParaRPr lang="ms-MY" b="1" dirty="0">
              <a:solidFill>
                <a:schemeClr val="bg1"/>
              </a:solidFill>
            </a:endParaRPr>
          </a:p>
        </p:txBody>
      </p:sp>
      <p:pic>
        <p:nvPicPr>
          <p:cNvPr id="7" name="Picture 6"/>
          <p:cNvPicPr>
            <a:picLocks noChangeAspect="1"/>
          </p:cNvPicPr>
          <p:nvPr/>
        </p:nvPicPr>
        <p:blipFill>
          <a:blip r:embed="rId3"/>
          <a:stretch>
            <a:fillRect/>
          </a:stretch>
        </p:blipFill>
        <p:spPr>
          <a:xfrm>
            <a:off x="0" y="539262"/>
            <a:ext cx="12192000" cy="5859528"/>
          </a:xfrm>
          <a:prstGeom prst="rect">
            <a:avLst/>
          </a:prstGeom>
        </p:spPr>
      </p:pic>
    </p:spTree>
    <p:extLst>
      <p:ext uri="{BB962C8B-B14F-4D97-AF65-F5344CB8AC3E}">
        <p14:creationId xmlns:p14="http://schemas.microsoft.com/office/powerpoint/2010/main" val="1273687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repeatCount="indefinite"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5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150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xit" presetSubtype="8" repeatCount="indefinite" fill="hold" nodeType="withEffect">
                                  <p:stCondLst>
                                    <p:cond delay="500"/>
                                  </p:stCondLst>
                                  <p:childTnLst>
                                    <p:anim calcmode="lin" valueType="num">
                                      <p:cBhvr additive="base">
                                        <p:cTn id="10" dur="15000"/>
                                        <p:tgtEl>
                                          <p:spTgt spid="5">
                                            <p:txEl>
                                              <p:pRg st="0" end="0"/>
                                            </p:txEl>
                                          </p:spTgt>
                                        </p:tgtEl>
                                        <p:attrNameLst>
                                          <p:attrName>ppt_x</p:attrName>
                                        </p:attrNameLst>
                                      </p:cBhvr>
                                      <p:tavLst>
                                        <p:tav tm="0">
                                          <p:val>
                                            <p:strVal val="ppt_x"/>
                                          </p:val>
                                        </p:tav>
                                        <p:tav tm="100000">
                                          <p:val>
                                            <p:strVal val="0-ppt_w/2"/>
                                          </p:val>
                                        </p:tav>
                                      </p:tavLst>
                                    </p:anim>
                                    <p:anim calcmode="lin" valueType="num">
                                      <p:cBhvr additive="base">
                                        <p:cTn id="11" dur="15000"/>
                                        <p:tgtEl>
                                          <p:spTgt spid="5">
                                            <p:txEl>
                                              <p:pRg st="0" end="0"/>
                                            </p:txEl>
                                          </p:spTgt>
                                        </p:tgtEl>
                                        <p:attrNameLst>
                                          <p:attrName>ppt_y</p:attrName>
                                        </p:attrNameLst>
                                      </p:cBhvr>
                                      <p:tavLst>
                                        <p:tav tm="0">
                                          <p:val>
                                            <p:strVal val="ppt_y"/>
                                          </p:val>
                                        </p:tav>
                                        <p:tav tm="100000">
                                          <p:val>
                                            <p:strVal val="ppt_y"/>
                                          </p:val>
                                        </p:tav>
                                      </p:tavLst>
                                    </p:anim>
                                    <p:set>
                                      <p:cBhvr>
                                        <p:cTn id="12" dur="1" fill="hold">
                                          <p:stCondLst>
                                            <p:cond delay="14999"/>
                                          </p:stCondLst>
                                        </p:cTn>
                                        <p:tgtEl>
                                          <p:spTgt spid="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6423130"/>
            <a:ext cx="12192000" cy="41801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s-MY"/>
          </a:p>
        </p:txBody>
      </p:sp>
      <p:sp>
        <p:nvSpPr>
          <p:cNvPr id="5" name="TextBox 4"/>
          <p:cNvSpPr txBox="1"/>
          <p:nvPr/>
        </p:nvSpPr>
        <p:spPr>
          <a:xfrm>
            <a:off x="654448" y="6447469"/>
            <a:ext cx="10755085" cy="369332"/>
          </a:xfrm>
          <a:prstGeom prst="rect">
            <a:avLst/>
          </a:prstGeom>
          <a:noFill/>
        </p:spPr>
        <p:txBody>
          <a:bodyPr wrap="square" rtlCol="0">
            <a:spAutoFit/>
          </a:bodyPr>
          <a:lstStyle/>
          <a:p>
            <a:r>
              <a:rPr lang="en-US" b="1" dirty="0">
                <a:solidFill>
                  <a:schemeClr val="bg1"/>
                </a:solidFill>
              </a:rPr>
              <a:t>PROJECT RELATED TO ARTIFICIAL INTELLIGENCE</a:t>
            </a:r>
            <a:endParaRPr lang="ms-MY" b="1" dirty="0">
              <a:solidFill>
                <a:schemeClr val="bg1"/>
              </a:solidFill>
            </a:endParaRPr>
          </a:p>
        </p:txBody>
      </p:sp>
      <p:sp>
        <p:nvSpPr>
          <p:cNvPr id="6" name="TextBox 5"/>
          <p:cNvSpPr txBox="1"/>
          <p:nvPr/>
        </p:nvSpPr>
        <p:spPr>
          <a:xfrm>
            <a:off x="654448" y="6423130"/>
            <a:ext cx="10755085" cy="369332"/>
          </a:xfrm>
          <a:prstGeom prst="rect">
            <a:avLst/>
          </a:prstGeom>
          <a:noFill/>
        </p:spPr>
        <p:txBody>
          <a:bodyPr wrap="square" rtlCol="0">
            <a:spAutoFit/>
          </a:bodyPr>
          <a:lstStyle/>
          <a:p>
            <a:r>
              <a:rPr lang="en-US" b="1" dirty="0">
                <a:solidFill>
                  <a:schemeClr val="bg1"/>
                </a:solidFill>
              </a:rPr>
              <a:t>PROJECT RELATED TO ARTIFICIAL INTELLIGENCE - TQ</a:t>
            </a:r>
            <a:endParaRPr lang="ms-MY" b="1" dirty="0">
              <a:solidFill>
                <a:schemeClr val="bg1"/>
              </a:solidFill>
            </a:endParaRPr>
          </a:p>
        </p:txBody>
      </p:sp>
      <p:sp>
        <p:nvSpPr>
          <p:cNvPr id="2" name="TextBox 1"/>
          <p:cNvSpPr txBox="1"/>
          <p:nvPr/>
        </p:nvSpPr>
        <p:spPr>
          <a:xfrm>
            <a:off x="3048000" y="3692769"/>
            <a:ext cx="6389077" cy="523220"/>
          </a:xfrm>
          <a:prstGeom prst="rect">
            <a:avLst/>
          </a:prstGeom>
          <a:noFill/>
        </p:spPr>
        <p:txBody>
          <a:bodyPr wrap="square" rtlCol="0">
            <a:spAutoFit/>
          </a:bodyPr>
          <a:lstStyle/>
          <a:p>
            <a:r>
              <a:rPr lang="en-US" sz="2800" dirty="0">
                <a:solidFill>
                  <a:schemeClr val="bg1"/>
                </a:solidFill>
              </a:rPr>
              <a:t>FINISHED WITH DESIGN &amp; TRAINING</a:t>
            </a:r>
            <a:endParaRPr lang="ms-MY" sz="2800" dirty="0">
              <a:solidFill>
                <a:schemeClr val="bg1"/>
              </a:solidFill>
            </a:endParaRPr>
          </a:p>
        </p:txBody>
      </p:sp>
    </p:spTree>
    <p:extLst>
      <p:ext uri="{BB962C8B-B14F-4D97-AF65-F5344CB8AC3E}">
        <p14:creationId xmlns:p14="http://schemas.microsoft.com/office/powerpoint/2010/main" val="2431412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repeatCount="indefinite"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5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150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xit" presetSubtype="8" repeatCount="indefinite" fill="hold" nodeType="withEffect">
                                  <p:stCondLst>
                                    <p:cond delay="500"/>
                                  </p:stCondLst>
                                  <p:childTnLst>
                                    <p:anim calcmode="lin" valueType="num">
                                      <p:cBhvr additive="base">
                                        <p:cTn id="10" dur="15000"/>
                                        <p:tgtEl>
                                          <p:spTgt spid="5">
                                            <p:txEl>
                                              <p:pRg st="0" end="0"/>
                                            </p:txEl>
                                          </p:spTgt>
                                        </p:tgtEl>
                                        <p:attrNameLst>
                                          <p:attrName>ppt_x</p:attrName>
                                        </p:attrNameLst>
                                      </p:cBhvr>
                                      <p:tavLst>
                                        <p:tav tm="0">
                                          <p:val>
                                            <p:strVal val="ppt_x"/>
                                          </p:val>
                                        </p:tav>
                                        <p:tav tm="100000">
                                          <p:val>
                                            <p:strVal val="0-ppt_w/2"/>
                                          </p:val>
                                        </p:tav>
                                      </p:tavLst>
                                    </p:anim>
                                    <p:anim calcmode="lin" valueType="num">
                                      <p:cBhvr additive="base">
                                        <p:cTn id="11" dur="15000"/>
                                        <p:tgtEl>
                                          <p:spTgt spid="5">
                                            <p:txEl>
                                              <p:pRg st="0" end="0"/>
                                            </p:txEl>
                                          </p:spTgt>
                                        </p:tgtEl>
                                        <p:attrNameLst>
                                          <p:attrName>ppt_y</p:attrName>
                                        </p:attrNameLst>
                                      </p:cBhvr>
                                      <p:tavLst>
                                        <p:tav tm="0">
                                          <p:val>
                                            <p:strVal val="ppt_y"/>
                                          </p:val>
                                        </p:tav>
                                        <p:tav tm="100000">
                                          <p:val>
                                            <p:strVal val="ppt_y"/>
                                          </p:val>
                                        </p:tav>
                                      </p:tavLst>
                                    </p:anim>
                                    <p:set>
                                      <p:cBhvr>
                                        <p:cTn id="12" dur="1" fill="hold">
                                          <p:stCondLst>
                                            <p:cond delay="14999"/>
                                          </p:stCondLst>
                                        </p:cTn>
                                        <p:tgtEl>
                                          <p:spTgt spid="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6423130"/>
            <a:ext cx="12192000" cy="41801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s-MY"/>
          </a:p>
        </p:txBody>
      </p:sp>
      <p:sp>
        <p:nvSpPr>
          <p:cNvPr id="5" name="TextBox 4"/>
          <p:cNvSpPr txBox="1"/>
          <p:nvPr/>
        </p:nvSpPr>
        <p:spPr>
          <a:xfrm>
            <a:off x="654448" y="6447469"/>
            <a:ext cx="10755085" cy="369332"/>
          </a:xfrm>
          <a:prstGeom prst="rect">
            <a:avLst/>
          </a:prstGeom>
          <a:noFill/>
        </p:spPr>
        <p:txBody>
          <a:bodyPr wrap="square" rtlCol="0">
            <a:spAutoFit/>
          </a:bodyPr>
          <a:lstStyle/>
          <a:p>
            <a:r>
              <a:rPr lang="en-US" b="1" dirty="0">
                <a:solidFill>
                  <a:schemeClr val="bg1"/>
                </a:solidFill>
              </a:rPr>
              <a:t>PROJECT RELATED TO ARTIFICIAL INTELLIGENCE</a:t>
            </a:r>
            <a:endParaRPr lang="ms-MY" b="1" dirty="0">
              <a:solidFill>
                <a:schemeClr val="bg1"/>
              </a:solidFill>
            </a:endParaRPr>
          </a:p>
        </p:txBody>
      </p:sp>
      <p:sp>
        <p:nvSpPr>
          <p:cNvPr id="6" name="TextBox 5"/>
          <p:cNvSpPr txBox="1"/>
          <p:nvPr/>
        </p:nvSpPr>
        <p:spPr>
          <a:xfrm>
            <a:off x="654448" y="6423130"/>
            <a:ext cx="10755085" cy="369332"/>
          </a:xfrm>
          <a:prstGeom prst="rect">
            <a:avLst/>
          </a:prstGeom>
          <a:noFill/>
        </p:spPr>
        <p:txBody>
          <a:bodyPr wrap="square" rtlCol="0">
            <a:spAutoFit/>
          </a:bodyPr>
          <a:lstStyle/>
          <a:p>
            <a:r>
              <a:rPr lang="en-US" b="1" dirty="0">
                <a:solidFill>
                  <a:schemeClr val="bg1"/>
                </a:solidFill>
              </a:rPr>
              <a:t>PROJECT RELATED TO ARTIFICIAL INTELLIGENCE - TQ</a:t>
            </a:r>
            <a:endParaRPr lang="ms-MY" b="1" dirty="0">
              <a:solidFill>
                <a:schemeClr val="bg1"/>
              </a:solidFill>
            </a:endParaRPr>
          </a:p>
        </p:txBody>
      </p:sp>
      <p:sp>
        <p:nvSpPr>
          <p:cNvPr id="2" name="TextBox 1"/>
          <p:cNvSpPr txBox="1"/>
          <p:nvPr/>
        </p:nvSpPr>
        <p:spPr>
          <a:xfrm>
            <a:off x="0" y="0"/>
            <a:ext cx="6389077" cy="523220"/>
          </a:xfrm>
          <a:prstGeom prst="rect">
            <a:avLst/>
          </a:prstGeom>
          <a:noFill/>
        </p:spPr>
        <p:txBody>
          <a:bodyPr wrap="square" rtlCol="0">
            <a:spAutoFit/>
          </a:bodyPr>
          <a:lstStyle/>
          <a:p>
            <a:r>
              <a:rPr lang="en-US" sz="2800" b="1" dirty="0">
                <a:solidFill>
                  <a:srgbClr val="FFFF00"/>
                </a:solidFill>
              </a:rPr>
              <a:t>DEPLOYMENT</a:t>
            </a:r>
            <a:endParaRPr lang="ms-MY" sz="2800" b="1" dirty="0">
              <a:solidFill>
                <a:srgbClr val="FFFF00"/>
              </a:solidFill>
            </a:endParaRPr>
          </a:p>
        </p:txBody>
      </p:sp>
      <p:pic>
        <p:nvPicPr>
          <p:cNvPr id="3" name="Picture 2"/>
          <p:cNvPicPr>
            <a:picLocks noChangeAspect="1"/>
          </p:cNvPicPr>
          <p:nvPr/>
        </p:nvPicPr>
        <p:blipFill>
          <a:blip r:embed="rId3"/>
          <a:stretch>
            <a:fillRect/>
          </a:stretch>
        </p:blipFill>
        <p:spPr>
          <a:xfrm>
            <a:off x="1" y="639838"/>
            <a:ext cx="12192000" cy="5758952"/>
          </a:xfrm>
          <a:prstGeom prst="rect">
            <a:avLst/>
          </a:prstGeom>
        </p:spPr>
      </p:pic>
    </p:spTree>
    <p:extLst>
      <p:ext uri="{BB962C8B-B14F-4D97-AF65-F5344CB8AC3E}">
        <p14:creationId xmlns:p14="http://schemas.microsoft.com/office/powerpoint/2010/main" val="2750977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repeatCount="indefinite"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5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150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xit" presetSubtype="8" repeatCount="indefinite" fill="hold" nodeType="withEffect">
                                  <p:stCondLst>
                                    <p:cond delay="500"/>
                                  </p:stCondLst>
                                  <p:childTnLst>
                                    <p:anim calcmode="lin" valueType="num">
                                      <p:cBhvr additive="base">
                                        <p:cTn id="10" dur="15000"/>
                                        <p:tgtEl>
                                          <p:spTgt spid="5">
                                            <p:txEl>
                                              <p:pRg st="0" end="0"/>
                                            </p:txEl>
                                          </p:spTgt>
                                        </p:tgtEl>
                                        <p:attrNameLst>
                                          <p:attrName>ppt_x</p:attrName>
                                        </p:attrNameLst>
                                      </p:cBhvr>
                                      <p:tavLst>
                                        <p:tav tm="0">
                                          <p:val>
                                            <p:strVal val="ppt_x"/>
                                          </p:val>
                                        </p:tav>
                                        <p:tav tm="100000">
                                          <p:val>
                                            <p:strVal val="0-ppt_w/2"/>
                                          </p:val>
                                        </p:tav>
                                      </p:tavLst>
                                    </p:anim>
                                    <p:anim calcmode="lin" valueType="num">
                                      <p:cBhvr additive="base">
                                        <p:cTn id="11" dur="15000"/>
                                        <p:tgtEl>
                                          <p:spTgt spid="5">
                                            <p:txEl>
                                              <p:pRg st="0" end="0"/>
                                            </p:txEl>
                                          </p:spTgt>
                                        </p:tgtEl>
                                        <p:attrNameLst>
                                          <p:attrName>ppt_y</p:attrName>
                                        </p:attrNameLst>
                                      </p:cBhvr>
                                      <p:tavLst>
                                        <p:tav tm="0">
                                          <p:val>
                                            <p:strVal val="ppt_y"/>
                                          </p:val>
                                        </p:tav>
                                        <p:tav tm="100000">
                                          <p:val>
                                            <p:strVal val="ppt_y"/>
                                          </p:val>
                                        </p:tav>
                                      </p:tavLst>
                                    </p:anim>
                                    <p:set>
                                      <p:cBhvr>
                                        <p:cTn id="12" dur="1" fill="hold">
                                          <p:stCondLst>
                                            <p:cond delay="14999"/>
                                          </p:stCondLst>
                                        </p:cTn>
                                        <p:tgtEl>
                                          <p:spTgt spid="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4970F-EBF2-4314-8C7C-E3C67E99C68D}"/>
              </a:ext>
            </a:extLst>
          </p:cNvPr>
          <p:cNvSpPr>
            <a:spLocks noGrp="1"/>
          </p:cNvSpPr>
          <p:nvPr>
            <p:ph type="ctrTitle"/>
          </p:nvPr>
        </p:nvSpPr>
        <p:spPr/>
        <p:txBody>
          <a:bodyPr/>
          <a:lstStyle/>
          <a:p>
            <a:br>
              <a:rPr lang="en-US" dirty="0"/>
            </a:br>
            <a:endParaRPr lang="en-US" dirty="0"/>
          </a:p>
        </p:txBody>
      </p:sp>
      <p:sp>
        <p:nvSpPr>
          <p:cNvPr id="4" name="Subtitle 2">
            <a:extLst>
              <a:ext uri="{FF2B5EF4-FFF2-40B4-BE49-F238E27FC236}">
                <a16:creationId xmlns:a16="http://schemas.microsoft.com/office/drawing/2014/main" id="{393ADE99-378A-448F-8066-DF4FBD32E114}"/>
              </a:ext>
            </a:extLst>
          </p:cNvPr>
          <p:cNvSpPr>
            <a:spLocks noGrp="1"/>
          </p:cNvSpPr>
          <p:nvPr>
            <p:ph type="subTitle" idx="1"/>
          </p:nvPr>
        </p:nvSpPr>
        <p:spPr>
          <a:xfrm>
            <a:off x="1626031" y="960892"/>
            <a:ext cx="8939938" cy="4417020"/>
          </a:xfrm>
        </p:spPr>
        <p:txBody>
          <a:bodyPr>
            <a:normAutofit/>
          </a:bodyPr>
          <a:lstStyle/>
          <a:p>
            <a:pPr algn="l"/>
            <a:r>
              <a:rPr lang="en-US" dirty="0">
                <a:solidFill>
                  <a:srgbClr val="FF0000"/>
                </a:solidFill>
              </a:rPr>
              <a:t>Model selection</a:t>
            </a:r>
          </a:p>
          <a:p>
            <a:pPr algn="l"/>
            <a:r>
              <a:rPr lang="en-US" sz="1800" dirty="0"/>
              <a:t>Training for:</a:t>
            </a:r>
          </a:p>
          <a:p>
            <a:pPr algn="l"/>
            <a:r>
              <a:rPr lang="en-US" sz="1800" dirty="0"/>
              <a:t>Model 1 = 100%</a:t>
            </a:r>
          </a:p>
          <a:p>
            <a:pPr algn="l"/>
            <a:r>
              <a:rPr lang="en-US" sz="1800" dirty="0"/>
              <a:t>Model 2 = 100%</a:t>
            </a:r>
          </a:p>
          <a:p>
            <a:pPr algn="l"/>
            <a:r>
              <a:rPr lang="en-US" sz="1800" dirty="0"/>
              <a:t>Model 3 = 100%</a:t>
            </a:r>
          </a:p>
          <a:p>
            <a:pPr algn="l"/>
            <a:r>
              <a:rPr lang="en-US" sz="1800" dirty="0"/>
              <a:t>So, which ONE to choose?</a:t>
            </a:r>
          </a:p>
          <a:p>
            <a:pPr algn="l"/>
            <a:r>
              <a:rPr lang="en-US" sz="1800" dirty="0"/>
              <a:t>You can choose any of the model based on your preference.</a:t>
            </a:r>
          </a:p>
          <a:p>
            <a:pPr algn="l"/>
            <a:r>
              <a:rPr lang="en-US" dirty="0">
                <a:solidFill>
                  <a:srgbClr val="FF0000"/>
                </a:solidFill>
              </a:rPr>
              <a:t>Model Performance Evaluation</a:t>
            </a:r>
          </a:p>
          <a:p>
            <a:pPr algn="l"/>
            <a:r>
              <a:rPr lang="en-US" dirty="0">
                <a:solidFill>
                  <a:srgbClr val="FF0000"/>
                </a:solidFill>
              </a:rPr>
              <a:t>Look at the testing result.</a:t>
            </a:r>
          </a:p>
          <a:p>
            <a:pPr algn="l"/>
            <a:endParaRPr lang="en-US" dirty="0">
              <a:solidFill>
                <a:srgbClr val="FF0000"/>
              </a:solidFill>
            </a:endParaRPr>
          </a:p>
          <a:p>
            <a:pPr algn="l"/>
            <a:endParaRPr lang="en-US" sz="1800" dirty="0"/>
          </a:p>
        </p:txBody>
      </p:sp>
    </p:spTree>
    <p:extLst>
      <p:ext uri="{BB962C8B-B14F-4D97-AF65-F5344CB8AC3E}">
        <p14:creationId xmlns:p14="http://schemas.microsoft.com/office/powerpoint/2010/main" val="7811470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6423130"/>
            <a:ext cx="12192000" cy="41801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s-MY"/>
          </a:p>
        </p:txBody>
      </p:sp>
      <p:sp>
        <p:nvSpPr>
          <p:cNvPr id="5" name="TextBox 4"/>
          <p:cNvSpPr txBox="1"/>
          <p:nvPr/>
        </p:nvSpPr>
        <p:spPr>
          <a:xfrm>
            <a:off x="654448" y="6447469"/>
            <a:ext cx="10755085" cy="369332"/>
          </a:xfrm>
          <a:prstGeom prst="rect">
            <a:avLst/>
          </a:prstGeom>
          <a:noFill/>
        </p:spPr>
        <p:txBody>
          <a:bodyPr wrap="square" rtlCol="0">
            <a:spAutoFit/>
          </a:bodyPr>
          <a:lstStyle/>
          <a:p>
            <a:r>
              <a:rPr lang="en-US" b="1" dirty="0">
                <a:solidFill>
                  <a:schemeClr val="bg1"/>
                </a:solidFill>
              </a:rPr>
              <a:t>PROJECT RELATED TO ARTIFICIAL INTELLIGENCE</a:t>
            </a:r>
            <a:endParaRPr lang="ms-MY" b="1" dirty="0">
              <a:solidFill>
                <a:schemeClr val="bg1"/>
              </a:solidFill>
            </a:endParaRPr>
          </a:p>
        </p:txBody>
      </p:sp>
      <p:sp>
        <p:nvSpPr>
          <p:cNvPr id="6" name="TextBox 5"/>
          <p:cNvSpPr txBox="1"/>
          <p:nvPr/>
        </p:nvSpPr>
        <p:spPr>
          <a:xfrm>
            <a:off x="654448" y="6423130"/>
            <a:ext cx="10755085" cy="369332"/>
          </a:xfrm>
          <a:prstGeom prst="rect">
            <a:avLst/>
          </a:prstGeom>
          <a:noFill/>
        </p:spPr>
        <p:txBody>
          <a:bodyPr wrap="square" rtlCol="0">
            <a:spAutoFit/>
          </a:bodyPr>
          <a:lstStyle/>
          <a:p>
            <a:r>
              <a:rPr lang="en-US" b="1" dirty="0">
                <a:solidFill>
                  <a:schemeClr val="bg1"/>
                </a:solidFill>
              </a:rPr>
              <a:t>PROJECT RELATED TO ARTIFICIAL INTELLIGENCE - TQ</a:t>
            </a:r>
            <a:endParaRPr lang="ms-MY" b="1" dirty="0">
              <a:solidFill>
                <a:schemeClr val="bg1"/>
              </a:solidFill>
            </a:endParaRPr>
          </a:p>
        </p:txBody>
      </p:sp>
      <p:sp>
        <p:nvSpPr>
          <p:cNvPr id="2" name="TextBox 1"/>
          <p:cNvSpPr txBox="1"/>
          <p:nvPr/>
        </p:nvSpPr>
        <p:spPr>
          <a:xfrm>
            <a:off x="0" y="0"/>
            <a:ext cx="6389077" cy="523220"/>
          </a:xfrm>
          <a:prstGeom prst="rect">
            <a:avLst/>
          </a:prstGeom>
          <a:noFill/>
        </p:spPr>
        <p:txBody>
          <a:bodyPr wrap="square" rtlCol="0">
            <a:spAutoFit/>
          </a:bodyPr>
          <a:lstStyle/>
          <a:p>
            <a:r>
              <a:rPr lang="en-US" sz="2800" b="1" dirty="0">
                <a:solidFill>
                  <a:srgbClr val="FFFF00"/>
                </a:solidFill>
              </a:rPr>
              <a:t>SIGNIFICANCE TEST</a:t>
            </a:r>
            <a:endParaRPr lang="ms-MY" sz="2800" b="1" dirty="0">
              <a:solidFill>
                <a:srgbClr val="FFFF00"/>
              </a:solidFill>
            </a:endParaRPr>
          </a:p>
        </p:txBody>
      </p:sp>
      <p:sp>
        <p:nvSpPr>
          <p:cNvPr id="3" name="Rectangle 2"/>
          <p:cNvSpPr/>
          <p:nvPr/>
        </p:nvSpPr>
        <p:spPr>
          <a:xfrm>
            <a:off x="351692" y="547559"/>
            <a:ext cx="11840308" cy="1569660"/>
          </a:xfrm>
          <a:prstGeom prst="rect">
            <a:avLst/>
          </a:prstGeom>
        </p:spPr>
        <p:txBody>
          <a:bodyPr wrap="square">
            <a:spAutoFit/>
          </a:bodyPr>
          <a:lstStyle/>
          <a:p>
            <a:r>
              <a:rPr lang="en-US" sz="2400" dirty="0">
                <a:solidFill>
                  <a:srgbClr val="FFFF00"/>
                </a:solidFill>
              </a:rPr>
              <a:t>Comparing machine learning methods and selecting a final model is a common operation in applied machine learning.</a:t>
            </a:r>
          </a:p>
          <a:p>
            <a:r>
              <a:rPr lang="en-US" sz="2400" dirty="0">
                <a:solidFill>
                  <a:srgbClr val="FFFF00"/>
                </a:solidFill>
              </a:rPr>
              <a:t>Statistical significance tests can aid in comparing machine learning models and choosing a final model.</a:t>
            </a:r>
            <a:endParaRPr lang="ms-MY" sz="2400" dirty="0">
              <a:solidFill>
                <a:srgbClr val="FFFF00"/>
              </a:solidFill>
            </a:endParaRPr>
          </a:p>
        </p:txBody>
      </p:sp>
      <p:sp>
        <p:nvSpPr>
          <p:cNvPr id="7" name="Rectangle 6"/>
          <p:cNvSpPr/>
          <p:nvPr/>
        </p:nvSpPr>
        <p:spPr>
          <a:xfrm>
            <a:off x="351692" y="3120971"/>
            <a:ext cx="11687908" cy="3416320"/>
          </a:xfrm>
          <a:prstGeom prst="rect">
            <a:avLst/>
          </a:prstGeom>
        </p:spPr>
        <p:txBody>
          <a:bodyPr wrap="square">
            <a:spAutoFit/>
          </a:bodyPr>
          <a:lstStyle/>
          <a:p>
            <a:r>
              <a:rPr lang="en-US" sz="2400" dirty="0">
                <a:solidFill>
                  <a:schemeClr val="bg1"/>
                </a:solidFill>
              </a:rPr>
              <a:t>In the case of selecting models based on their estimated skill, we are interested to know whether there is a real or statistically significant difference between the two models.</a:t>
            </a:r>
          </a:p>
          <a:p>
            <a:endParaRPr lang="en-US" sz="2400" dirty="0">
              <a:solidFill>
                <a:schemeClr val="bg1"/>
              </a:solidFill>
            </a:endParaRPr>
          </a:p>
          <a:p>
            <a:r>
              <a:rPr lang="en-US" sz="2400" dirty="0">
                <a:solidFill>
                  <a:schemeClr val="bg1"/>
                </a:solidFill>
              </a:rPr>
              <a:t>(</a:t>
            </a:r>
            <a:r>
              <a:rPr lang="en-US" sz="2400" dirty="0" err="1">
                <a:solidFill>
                  <a:schemeClr val="bg1"/>
                </a:solidFill>
              </a:rPr>
              <a:t>i</a:t>
            </a:r>
            <a:r>
              <a:rPr lang="en-US" sz="2400" dirty="0">
                <a:solidFill>
                  <a:schemeClr val="bg1"/>
                </a:solidFill>
              </a:rPr>
              <a:t>) If the result of the test suggests that there is insufficient evidence to reject the null hypothesis, then any observed difference in model skill is likely due to statistical chance.</a:t>
            </a:r>
          </a:p>
          <a:p>
            <a:endParaRPr lang="en-US" sz="2400" dirty="0">
              <a:solidFill>
                <a:schemeClr val="bg1"/>
              </a:solidFill>
            </a:endParaRPr>
          </a:p>
          <a:p>
            <a:r>
              <a:rPr lang="en-US" sz="2400" dirty="0">
                <a:solidFill>
                  <a:schemeClr val="bg1"/>
                </a:solidFill>
              </a:rPr>
              <a:t>(ii) If the result of the test suggests that there is sufficient evidence to reject the null hypothesis, then any observed difference in model skill is likely due to a difference in the models.</a:t>
            </a:r>
            <a:endParaRPr lang="ms-MY" sz="2400" dirty="0">
              <a:solidFill>
                <a:schemeClr val="bg1"/>
              </a:solidFill>
            </a:endParaRPr>
          </a:p>
        </p:txBody>
      </p:sp>
    </p:spTree>
    <p:extLst>
      <p:ext uri="{BB962C8B-B14F-4D97-AF65-F5344CB8AC3E}">
        <p14:creationId xmlns:p14="http://schemas.microsoft.com/office/powerpoint/2010/main" val="2206532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repeatCount="indefinite"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5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150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xit" presetSubtype="8" repeatCount="indefinite" fill="hold" nodeType="withEffect">
                                  <p:stCondLst>
                                    <p:cond delay="500"/>
                                  </p:stCondLst>
                                  <p:childTnLst>
                                    <p:anim calcmode="lin" valueType="num">
                                      <p:cBhvr additive="base">
                                        <p:cTn id="10" dur="15000"/>
                                        <p:tgtEl>
                                          <p:spTgt spid="5">
                                            <p:txEl>
                                              <p:pRg st="0" end="0"/>
                                            </p:txEl>
                                          </p:spTgt>
                                        </p:tgtEl>
                                        <p:attrNameLst>
                                          <p:attrName>ppt_x</p:attrName>
                                        </p:attrNameLst>
                                      </p:cBhvr>
                                      <p:tavLst>
                                        <p:tav tm="0">
                                          <p:val>
                                            <p:strVal val="ppt_x"/>
                                          </p:val>
                                        </p:tav>
                                        <p:tav tm="100000">
                                          <p:val>
                                            <p:strVal val="0-ppt_w/2"/>
                                          </p:val>
                                        </p:tav>
                                      </p:tavLst>
                                    </p:anim>
                                    <p:anim calcmode="lin" valueType="num">
                                      <p:cBhvr additive="base">
                                        <p:cTn id="11" dur="15000"/>
                                        <p:tgtEl>
                                          <p:spTgt spid="5">
                                            <p:txEl>
                                              <p:pRg st="0" end="0"/>
                                            </p:txEl>
                                          </p:spTgt>
                                        </p:tgtEl>
                                        <p:attrNameLst>
                                          <p:attrName>ppt_y</p:attrName>
                                        </p:attrNameLst>
                                      </p:cBhvr>
                                      <p:tavLst>
                                        <p:tav tm="0">
                                          <p:val>
                                            <p:strVal val="ppt_y"/>
                                          </p:val>
                                        </p:tav>
                                        <p:tav tm="100000">
                                          <p:val>
                                            <p:strVal val="ppt_y"/>
                                          </p:val>
                                        </p:tav>
                                      </p:tavLst>
                                    </p:anim>
                                    <p:set>
                                      <p:cBhvr>
                                        <p:cTn id="12" dur="1" fill="hold">
                                          <p:stCondLst>
                                            <p:cond delay="14999"/>
                                          </p:stCondLst>
                                        </p:cTn>
                                        <p:tgtEl>
                                          <p:spTgt spid="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6423130"/>
            <a:ext cx="12192000" cy="41801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s-MY"/>
          </a:p>
        </p:txBody>
      </p:sp>
      <p:sp>
        <p:nvSpPr>
          <p:cNvPr id="5" name="TextBox 4"/>
          <p:cNvSpPr txBox="1"/>
          <p:nvPr/>
        </p:nvSpPr>
        <p:spPr>
          <a:xfrm>
            <a:off x="654448" y="6447469"/>
            <a:ext cx="10755085" cy="369332"/>
          </a:xfrm>
          <a:prstGeom prst="rect">
            <a:avLst/>
          </a:prstGeom>
          <a:noFill/>
        </p:spPr>
        <p:txBody>
          <a:bodyPr wrap="square" rtlCol="0">
            <a:spAutoFit/>
          </a:bodyPr>
          <a:lstStyle/>
          <a:p>
            <a:r>
              <a:rPr lang="en-US" b="1" dirty="0">
                <a:solidFill>
                  <a:schemeClr val="bg1"/>
                </a:solidFill>
              </a:rPr>
              <a:t>PROJECT RELATED TO ARTIFICIAL INTELLIGENCE</a:t>
            </a:r>
            <a:endParaRPr lang="ms-MY" b="1" dirty="0">
              <a:solidFill>
                <a:schemeClr val="bg1"/>
              </a:solidFill>
            </a:endParaRPr>
          </a:p>
        </p:txBody>
      </p:sp>
      <p:sp>
        <p:nvSpPr>
          <p:cNvPr id="6" name="TextBox 5"/>
          <p:cNvSpPr txBox="1"/>
          <p:nvPr/>
        </p:nvSpPr>
        <p:spPr>
          <a:xfrm>
            <a:off x="654448" y="6423130"/>
            <a:ext cx="10755085" cy="369332"/>
          </a:xfrm>
          <a:prstGeom prst="rect">
            <a:avLst/>
          </a:prstGeom>
          <a:noFill/>
        </p:spPr>
        <p:txBody>
          <a:bodyPr wrap="square" rtlCol="0">
            <a:spAutoFit/>
          </a:bodyPr>
          <a:lstStyle/>
          <a:p>
            <a:r>
              <a:rPr lang="en-US" b="1" dirty="0">
                <a:solidFill>
                  <a:schemeClr val="bg1"/>
                </a:solidFill>
              </a:rPr>
              <a:t>PROJECT RELATED TO ARTIFICIAL INTELLIGENCE - TQ</a:t>
            </a:r>
            <a:endParaRPr lang="ms-MY" b="1" dirty="0">
              <a:solidFill>
                <a:schemeClr val="bg1"/>
              </a:solidFill>
            </a:endParaRPr>
          </a:p>
        </p:txBody>
      </p:sp>
      <p:sp>
        <p:nvSpPr>
          <p:cNvPr id="2" name="TextBox 1"/>
          <p:cNvSpPr txBox="1"/>
          <p:nvPr/>
        </p:nvSpPr>
        <p:spPr>
          <a:xfrm>
            <a:off x="2637692" y="3563815"/>
            <a:ext cx="6389077" cy="584775"/>
          </a:xfrm>
          <a:prstGeom prst="rect">
            <a:avLst/>
          </a:prstGeom>
          <a:noFill/>
        </p:spPr>
        <p:txBody>
          <a:bodyPr wrap="square" rtlCol="0">
            <a:spAutoFit/>
          </a:bodyPr>
          <a:lstStyle/>
          <a:p>
            <a:pPr algn="ctr"/>
            <a:r>
              <a:rPr lang="en-US" sz="3200" dirty="0">
                <a:solidFill>
                  <a:srgbClr val="FFC000"/>
                </a:solidFill>
              </a:rPr>
              <a:t>THE END</a:t>
            </a:r>
            <a:endParaRPr lang="ms-MY" sz="3200" dirty="0">
              <a:solidFill>
                <a:srgbClr val="FFC000"/>
              </a:solidFill>
            </a:endParaRPr>
          </a:p>
        </p:txBody>
      </p:sp>
    </p:spTree>
    <p:extLst>
      <p:ext uri="{BB962C8B-B14F-4D97-AF65-F5344CB8AC3E}">
        <p14:creationId xmlns:p14="http://schemas.microsoft.com/office/powerpoint/2010/main" val="1049717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repeatCount="indefinite"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5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8" dur="150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xit" presetSubtype="8" repeatCount="indefinite" fill="hold" nodeType="withEffect">
                                  <p:stCondLst>
                                    <p:cond delay="500"/>
                                  </p:stCondLst>
                                  <p:childTnLst>
                                    <p:anim calcmode="lin" valueType="num">
                                      <p:cBhvr additive="base">
                                        <p:cTn id="10" dur="15000"/>
                                        <p:tgtEl>
                                          <p:spTgt spid="5">
                                            <p:txEl>
                                              <p:pRg st="0" end="0"/>
                                            </p:txEl>
                                          </p:spTgt>
                                        </p:tgtEl>
                                        <p:attrNameLst>
                                          <p:attrName>ppt_x</p:attrName>
                                        </p:attrNameLst>
                                      </p:cBhvr>
                                      <p:tavLst>
                                        <p:tav tm="0">
                                          <p:val>
                                            <p:strVal val="ppt_x"/>
                                          </p:val>
                                        </p:tav>
                                        <p:tav tm="100000">
                                          <p:val>
                                            <p:strVal val="0-ppt_w/2"/>
                                          </p:val>
                                        </p:tav>
                                      </p:tavLst>
                                    </p:anim>
                                    <p:anim calcmode="lin" valueType="num">
                                      <p:cBhvr additive="base">
                                        <p:cTn id="11" dur="15000"/>
                                        <p:tgtEl>
                                          <p:spTgt spid="5">
                                            <p:txEl>
                                              <p:pRg st="0" end="0"/>
                                            </p:txEl>
                                          </p:spTgt>
                                        </p:tgtEl>
                                        <p:attrNameLst>
                                          <p:attrName>ppt_y</p:attrName>
                                        </p:attrNameLst>
                                      </p:cBhvr>
                                      <p:tavLst>
                                        <p:tav tm="0">
                                          <p:val>
                                            <p:strVal val="ppt_y"/>
                                          </p:val>
                                        </p:tav>
                                        <p:tav tm="100000">
                                          <p:val>
                                            <p:strVal val="ppt_y"/>
                                          </p:val>
                                        </p:tav>
                                      </p:tavLst>
                                    </p:anim>
                                    <p:set>
                                      <p:cBhvr>
                                        <p:cTn id="12" dur="1" fill="hold">
                                          <p:stCondLst>
                                            <p:cond delay="14999"/>
                                          </p:stCondLst>
                                        </p:cTn>
                                        <p:tgtEl>
                                          <p:spTgt spid="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405</TotalTime>
  <Words>1772</Words>
  <Application>Microsoft Office PowerPoint</Application>
  <PresentationFormat>Widescreen</PresentationFormat>
  <Paragraphs>204</Paragraphs>
  <Slides>28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Arial</vt:lpstr>
      <vt:lpstr>Calibri</vt:lpstr>
      <vt:lpstr>Calibri Light</vt:lpstr>
      <vt:lpstr>charter</vt:lpstr>
      <vt:lpstr>IBM Plex Sans</vt:lpstr>
      <vt:lpstr>Lato</vt:lpstr>
      <vt:lpstr>Merriweather</vt:lpstr>
      <vt:lpstr>Times New Roman</vt:lpstr>
      <vt:lpstr>var(--font-din)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dc:creator>
  <cp:lastModifiedBy>SHAHNORBANUN BINTI SAHRAN</cp:lastModifiedBy>
  <cp:revision>45</cp:revision>
  <dcterms:created xsi:type="dcterms:W3CDTF">2021-04-30T01:40:21Z</dcterms:created>
  <dcterms:modified xsi:type="dcterms:W3CDTF">2025-05-21T07:24:22Z</dcterms:modified>
</cp:coreProperties>
</file>